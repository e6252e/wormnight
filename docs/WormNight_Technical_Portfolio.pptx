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12192000"/>
  <p:embeddedFontLst>
    <p:embeddedFont>
      <p:font typeface="Noto Sans"/>
      <p:regular r:id="rId20"/>
      <p:bold r:id="rId21"/>
      <p:italic r:id="rId22"/>
      <p:boldItalic r:id="rId23"/>
    </p:embeddedFont>
    <p:embeddedFont>
      <p:font typeface="Roboto Mon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otoSans-regular.fntdata"/><Relationship Id="rId22" Type="http://schemas.openxmlformats.org/officeDocument/2006/relationships/font" Target="fonts/NotoSans-italic.fntdata"/><Relationship Id="rId21" Type="http://schemas.openxmlformats.org/officeDocument/2006/relationships/font" Target="fonts/NotoSans-bold.fntdata"/><Relationship Id="rId24" Type="http://schemas.openxmlformats.org/officeDocument/2006/relationships/font" Target="fonts/RobotoMono-regular.fntdata"/><Relationship Id="rId23" Type="http://schemas.openxmlformats.org/officeDocument/2006/relationships/font" Target="fonts/Noto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Mono-italic.fntdata"/><Relationship Id="rId25" Type="http://schemas.openxmlformats.org/officeDocument/2006/relationships/font" Target="fonts/RobotoMono-bold.fntdata"/><Relationship Id="rId27" Type="http://schemas.openxmlformats.org/officeDocument/2006/relationships/font" Target="fonts/RobotoMon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633"/>
        </a:solidFill>
      </p:bgPr>
    </p:bg>
    <p:spTree>
      <p:nvGrpSpPr>
        <p:cNvPr id="15" name="Shape 15"/>
        <p:cNvGrpSpPr/>
        <p:nvPr/>
      </p:nvGrpSpPr>
      <p:grpSpPr>
        <a:xfrm>
          <a:off x="0" y="0"/>
          <a:ext cx="0" cy="0"/>
          <a:chOff x="0" y="0"/>
          <a:chExt cx="0" cy="0"/>
        </a:xfrm>
      </p:grpSpPr>
      <p:pic>
        <p:nvPicPr>
          <p:cNvPr descr="/home/claude/assets/p1_bg.png" id="16" name="Google Shape;16;p3"/>
          <p:cNvPicPr preferRelativeResize="0"/>
          <p:nvPr/>
        </p:nvPicPr>
        <p:blipFill rotWithShape="1">
          <a:blip r:embed="rId3">
            <a:alphaModFix/>
          </a:blip>
          <a:srcRect b="0" l="0" r="0" t="0"/>
          <a:stretch/>
        </p:blipFill>
        <p:spPr>
          <a:xfrm>
            <a:off x="0" y="0"/>
            <a:ext cx="12161520" cy="6858000"/>
          </a:xfrm>
          <a:prstGeom prst="rect">
            <a:avLst/>
          </a:prstGeom>
          <a:noFill/>
          <a:ln>
            <a:noFill/>
          </a:ln>
        </p:spPr>
      </p:pic>
      <p:sp>
        <p:nvSpPr>
          <p:cNvPr id="17" name="Google Shape;17;p3"/>
          <p:cNvSpPr/>
          <p:nvPr/>
        </p:nvSpPr>
        <p:spPr>
          <a:xfrm>
            <a:off x="0" y="4558025"/>
            <a:ext cx="12161400" cy="2300100"/>
          </a:xfrm>
          <a:prstGeom prst="rect">
            <a:avLst/>
          </a:prstGeom>
          <a:solidFill>
            <a:srgbClr val="000000">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assets/p1_logo.png" id="18" name="Google Shape;18;p3"/>
          <p:cNvPicPr preferRelativeResize="0"/>
          <p:nvPr/>
        </p:nvPicPr>
        <p:blipFill rotWithShape="1">
          <a:blip r:embed="rId4">
            <a:alphaModFix/>
          </a:blip>
          <a:srcRect b="0" l="0" r="0" t="0"/>
          <a:stretch/>
        </p:blipFill>
        <p:spPr>
          <a:xfrm>
            <a:off x="265974" y="217524"/>
            <a:ext cx="3803099" cy="2585376"/>
          </a:xfrm>
          <a:prstGeom prst="rect">
            <a:avLst/>
          </a:prstGeom>
          <a:noFill/>
          <a:ln>
            <a:noFill/>
          </a:ln>
        </p:spPr>
      </p:pic>
      <p:sp>
        <p:nvSpPr>
          <p:cNvPr id="19" name="Google Shape;19;p3"/>
          <p:cNvSpPr/>
          <p:nvPr/>
        </p:nvSpPr>
        <p:spPr>
          <a:xfrm>
            <a:off x="822960" y="4754880"/>
            <a:ext cx="10515600" cy="914400"/>
          </a:xfrm>
          <a:prstGeom prst="rect">
            <a:avLst/>
          </a:prstGeom>
          <a:noFill/>
          <a:ln>
            <a:noFill/>
          </a:ln>
          <a:effectLst>
            <a:outerShdw blurRad="50800" rotWithShape="0" algn="bl" dir="5400000" dist="25400">
              <a:srgbClr val="000000">
                <a:alpha val="60000"/>
              </a:srgbClr>
            </a:outerShdw>
          </a:effectLst>
        </p:spPr>
        <p:txBody>
          <a:bodyPr anchorCtr="0" anchor="ctr" bIns="45700" lIns="91425" spcFirstLastPara="1" rIns="91425" wrap="square" tIns="45700">
            <a:noAutofit/>
          </a:bodyPr>
          <a:lstStyle/>
          <a:p>
            <a:pPr indent="0" lvl="0" marL="0" marR="0" rtl="0" algn="l">
              <a:lnSpc>
                <a:spcPct val="128000"/>
              </a:lnSpc>
              <a:spcBef>
                <a:spcPts val="0"/>
              </a:spcBef>
              <a:spcAft>
                <a:spcPts val="0"/>
              </a:spcAft>
              <a:buClr>
                <a:srgbClr val="FFFFFF"/>
              </a:buClr>
              <a:buSzPts val="1700"/>
              <a:buFont typeface="Noto Sans"/>
              <a:buNone/>
            </a:pPr>
            <a:r>
              <a:rPr b="1" i="0" lang="en-US" sz="1700" u="none" cap="none" strike="noStrike">
                <a:solidFill>
                  <a:srgbClr val="FFFFFF"/>
                </a:solidFill>
                <a:latin typeface="Noto Sans"/>
                <a:ea typeface="Noto Sans"/>
                <a:cs typeface="Noto Sans"/>
                <a:sym typeface="Noto Sans"/>
              </a:rPr>
              <a:t>중앙 기지(Nexus)를 방어하며 성장하는 웨이브 디펜스 게임</a:t>
            </a:r>
            <a:endParaRPr b="0" i="0" sz="17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FFFFFF"/>
              </a:buClr>
              <a:buSzPts val="1700"/>
              <a:buFont typeface="Noto Sans"/>
              <a:buNone/>
            </a:pPr>
            <a:r>
              <a:rPr b="1" i="0" lang="en-US" sz="1700" u="none" cap="none" strike="noStrike">
                <a:solidFill>
                  <a:srgbClr val="FFFFFF"/>
                </a:solidFill>
                <a:latin typeface="Noto Sans"/>
                <a:ea typeface="Noto Sans"/>
                <a:cs typeface="Noto Sans"/>
                <a:sym typeface="Noto Sans"/>
              </a:rPr>
              <a:t>담당 기능의 설계와 구현 과정을 담은 기술 포트폴리오</a:t>
            </a:r>
            <a:endParaRPr b="0" i="0" sz="1700" u="none" cap="none" strike="noStrike">
              <a:solidFill>
                <a:schemeClr val="dk1"/>
              </a:solidFill>
              <a:latin typeface="Calibri"/>
              <a:ea typeface="Calibri"/>
              <a:cs typeface="Calibri"/>
              <a:sym typeface="Calibri"/>
            </a:endParaRPr>
          </a:p>
        </p:txBody>
      </p:sp>
      <p:cxnSp>
        <p:nvCxnSpPr>
          <p:cNvPr id="20" name="Google Shape;20;p3"/>
          <p:cNvCxnSpPr/>
          <p:nvPr/>
        </p:nvCxnSpPr>
        <p:spPr>
          <a:xfrm>
            <a:off x="841248" y="5989320"/>
            <a:ext cx="2011680" cy="0"/>
          </a:xfrm>
          <a:prstGeom prst="straightConnector1">
            <a:avLst/>
          </a:prstGeom>
          <a:noFill/>
          <a:ln cap="flat" cmpd="sng" w="31750">
            <a:solidFill>
              <a:srgbClr val="F4B740"/>
            </a:solidFill>
            <a:prstDash val="solid"/>
            <a:round/>
            <a:headEnd len="sm" w="sm" type="none"/>
            <a:tailEnd len="sm" w="sm" type="none"/>
          </a:ln>
        </p:spPr>
      </p:cxnSp>
      <p:sp>
        <p:nvSpPr>
          <p:cNvPr id="21" name="Google Shape;21;p3"/>
          <p:cNvSpPr/>
          <p:nvPr/>
        </p:nvSpPr>
        <p:spPr>
          <a:xfrm>
            <a:off x="822960" y="6126480"/>
            <a:ext cx="10972800" cy="457200"/>
          </a:xfrm>
          <a:prstGeom prst="rect">
            <a:avLst/>
          </a:prstGeom>
          <a:noFill/>
          <a:ln>
            <a:noFill/>
          </a:ln>
          <a:effectLst>
            <a:outerShdw blurRad="50800" rotWithShape="0" algn="bl" dir="5400000" dist="25400">
              <a:srgbClr val="000000">
                <a:alpha val="54902"/>
              </a:srgbClr>
            </a:outerShdw>
          </a:effectLst>
        </p:spPr>
        <p:txBody>
          <a:bodyPr anchorCtr="0" anchor="ctr" bIns="45700" lIns="91425" spcFirstLastPara="1" rIns="91425" wrap="square" tIns="45700">
            <a:noAutofit/>
          </a:bodyPr>
          <a:lstStyle/>
          <a:p>
            <a:pPr indent="0" lvl="0" marL="0" marR="0" rtl="0" algn="l">
              <a:spcBef>
                <a:spcPts val="0"/>
              </a:spcBef>
              <a:spcAft>
                <a:spcPts val="0"/>
              </a:spcAft>
              <a:buClr>
                <a:srgbClr val="FFD37A"/>
              </a:buClr>
              <a:buSzPts val="1500"/>
              <a:buFont typeface="Noto Sans"/>
              <a:buNone/>
            </a:pPr>
            <a:r>
              <a:rPr b="1" i="0" lang="en-US" sz="1500" u="none" cap="none" strike="noStrike">
                <a:solidFill>
                  <a:srgbClr val="FFD37A"/>
                </a:solidFill>
                <a:latin typeface="Noto Sans"/>
                <a:ea typeface="Noto Sans"/>
                <a:cs typeface="Noto Sans"/>
                <a:sym typeface="Noto Sans"/>
              </a:rPr>
              <a:t>게임 </a:t>
            </a:r>
            <a:r>
              <a:rPr b="1" lang="en-US" sz="1500">
                <a:solidFill>
                  <a:srgbClr val="FFD37A"/>
                </a:solidFill>
                <a:latin typeface="Noto Sans"/>
                <a:ea typeface="Noto Sans"/>
                <a:cs typeface="Noto Sans"/>
                <a:sym typeface="Noto Sans"/>
              </a:rPr>
              <a:t>명</a:t>
            </a:r>
            <a:r>
              <a:rPr b="0" i="0" lang="en-US" sz="1500" u="none" cap="none" strike="noStrike">
                <a:solidFill>
                  <a:srgbClr val="C7D2F0"/>
                </a:solidFill>
                <a:latin typeface="Noto Sans"/>
                <a:ea typeface="Noto Sans"/>
                <a:cs typeface="Noto Sans"/>
                <a:sym typeface="Noto Sans"/>
              </a:rPr>
              <a:t> : </a:t>
            </a:r>
            <a:r>
              <a:rPr lang="en-US" sz="1300">
                <a:solidFill>
                  <a:srgbClr val="C7D2F0"/>
                </a:solidFill>
                <a:latin typeface="Noto Sans"/>
                <a:ea typeface="Noto Sans"/>
                <a:cs typeface="Noto Sans"/>
                <a:sym typeface="Noto Sans"/>
              </a:rPr>
              <a:t>웜나이트(WormNight)</a:t>
            </a:r>
            <a:r>
              <a:rPr b="1" i="0" lang="en-US" sz="1500" u="none" cap="none" strike="noStrike">
                <a:solidFill>
                  <a:srgbClr val="FFFFFF"/>
                </a:solidFill>
                <a:latin typeface="Noto Sans"/>
                <a:ea typeface="Noto Sans"/>
                <a:cs typeface="Noto Sans"/>
                <a:sym typeface="Noto Sans"/>
              </a:rPr>
              <a:t>      안건준</a:t>
            </a:r>
            <a:r>
              <a:rPr b="0" i="0" lang="en-US" sz="1400" u="none" cap="none" strike="noStrike">
                <a:solidFill>
                  <a:srgbClr val="C7D2F0"/>
                </a:solidFill>
                <a:latin typeface="Noto Sans"/>
                <a:ea typeface="Noto Sans"/>
                <a:cs typeface="Noto Sans"/>
                <a:sym typeface="Noto Sans"/>
              </a:rPr>
              <a:t>   ·   팀 프로젝트  </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26" name="Shape 26"/>
        <p:cNvGrpSpPr/>
        <p:nvPr/>
      </p:nvGrpSpPr>
      <p:grpSpPr>
        <a:xfrm>
          <a:off x="0" y="0"/>
          <a:ext cx="0" cy="0"/>
          <a:chOff x="0" y="0"/>
          <a:chExt cx="0" cy="0"/>
        </a:xfrm>
      </p:grpSpPr>
      <p:sp>
        <p:nvSpPr>
          <p:cNvPr id="27" name="Google Shape;27;p4"/>
          <p:cNvSpPr/>
          <p:nvPr/>
        </p:nvSpPr>
        <p:spPr>
          <a:xfrm>
            <a:off x="640080" y="457200"/>
            <a:ext cx="91440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B740"/>
              </a:buClr>
              <a:buSzPts val="3000"/>
              <a:buFont typeface="Noto Sans"/>
              <a:buNone/>
            </a:pPr>
            <a:r>
              <a:rPr b="1" i="0" lang="en-US" sz="3000" u="none" cap="none" strike="noStrike">
                <a:solidFill>
                  <a:srgbClr val="F4B740"/>
                </a:solidFill>
                <a:latin typeface="Noto Sans"/>
                <a:ea typeface="Noto Sans"/>
                <a:cs typeface="Noto Sans"/>
                <a:sym typeface="Noto Sans"/>
              </a:rPr>
              <a:t>01  </a:t>
            </a:r>
            <a:r>
              <a:rPr b="1" i="0" lang="en-US" sz="3000" u="none" cap="none" strike="noStrike">
                <a:solidFill>
                  <a:srgbClr val="1B2340"/>
                </a:solidFill>
                <a:latin typeface="Noto Sans"/>
                <a:ea typeface="Noto Sans"/>
                <a:cs typeface="Noto Sans"/>
                <a:sym typeface="Noto Sans"/>
              </a:rPr>
              <a:t>게임 소개</a:t>
            </a:r>
            <a:endParaRPr b="0" i="0" sz="3000" u="none" cap="none" strike="noStrike">
              <a:solidFill>
                <a:schemeClr val="dk1"/>
              </a:solidFill>
              <a:latin typeface="Calibri"/>
              <a:ea typeface="Calibri"/>
              <a:cs typeface="Calibri"/>
              <a:sym typeface="Calibri"/>
            </a:endParaRPr>
          </a:p>
        </p:txBody>
      </p:sp>
      <p:grpSp>
        <p:nvGrpSpPr>
          <p:cNvPr id="28" name="Google Shape;28;p4"/>
          <p:cNvGrpSpPr/>
          <p:nvPr/>
        </p:nvGrpSpPr>
        <p:grpSpPr>
          <a:xfrm>
            <a:off x="10149840" y="457200"/>
            <a:ext cx="1371600" cy="822960"/>
            <a:chOff x="10149840" y="457200"/>
            <a:chExt cx="1371600" cy="822960"/>
          </a:xfrm>
        </p:grpSpPr>
        <p:sp>
          <p:nvSpPr>
            <p:cNvPr id="29" name="Google Shape;29;p4"/>
            <p:cNvSpPr/>
            <p:nvPr/>
          </p:nvSpPr>
          <p:spPr>
            <a:xfrm>
              <a:off x="10149840" y="457200"/>
              <a:ext cx="1371600" cy="822960"/>
            </a:xfrm>
            <a:prstGeom prst="roundRect">
              <a:avLst>
                <a:gd fmla="val 8889"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assets/github.png" id="30" name="Google Shape;30;p4"/>
            <p:cNvPicPr preferRelativeResize="0"/>
            <p:nvPr/>
          </p:nvPicPr>
          <p:blipFill rotWithShape="1">
            <a:blip r:embed="rId3">
              <a:alphaModFix/>
            </a:blip>
            <a:srcRect b="0" l="0" r="0" t="0"/>
            <a:stretch/>
          </p:blipFill>
          <p:spPr>
            <a:xfrm>
              <a:off x="10625614" y="576072"/>
              <a:ext cx="420053" cy="384048"/>
            </a:xfrm>
            <a:prstGeom prst="rect">
              <a:avLst/>
            </a:prstGeom>
            <a:noFill/>
            <a:ln>
              <a:noFill/>
            </a:ln>
          </p:spPr>
        </p:pic>
        <p:sp>
          <p:nvSpPr>
            <p:cNvPr id="31" name="Google Shape;31;p4"/>
            <p:cNvSpPr/>
            <p:nvPr/>
          </p:nvSpPr>
          <p:spPr>
            <a:xfrm>
              <a:off x="10149840" y="1024128"/>
              <a:ext cx="1371600"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480"/>
                </a:buClr>
                <a:buSzPts val="900"/>
                <a:buFont typeface="Noto Sans"/>
                <a:buNone/>
              </a:pPr>
              <a:r>
                <a:rPr b="1" lang="en-US" sz="900">
                  <a:solidFill>
                    <a:srgbClr val="5B6480"/>
                  </a:solidFill>
                  <a:latin typeface="Noto Sans"/>
                  <a:ea typeface="Noto Sans"/>
                  <a:cs typeface="Noto Sans"/>
                  <a:sym typeface="Noto Sans"/>
                </a:rPr>
                <a:t>자료 공유 </a:t>
              </a:r>
              <a:r>
                <a:rPr b="1" i="0" lang="en-US" sz="900" u="none" cap="none" strike="noStrike">
                  <a:solidFill>
                    <a:srgbClr val="5B6480"/>
                  </a:solidFill>
                  <a:latin typeface="Noto Sans"/>
                  <a:ea typeface="Noto Sans"/>
                  <a:cs typeface="Noto Sans"/>
                  <a:sym typeface="Noto Sans"/>
                </a:rPr>
                <a:t>링크</a:t>
              </a:r>
              <a:endParaRPr b="1" i="0" sz="900" u="none" cap="none" strike="noStrike">
                <a:solidFill>
                  <a:schemeClr val="dk1"/>
                </a:solidFill>
                <a:latin typeface="Calibri"/>
                <a:ea typeface="Calibri"/>
                <a:cs typeface="Calibri"/>
                <a:sym typeface="Calibri"/>
              </a:endParaRPr>
            </a:p>
          </p:txBody>
        </p:sp>
      </p:grpSp>
      <p:grpSp>
        <p:nvGrpSpPr>
          <p:cNvPr id="32" name="Google Shape;32;p4"/>
          <p:cNvGrpSpPr/>
          <p:nvPr/>
        </p:nvGrpSpPr>
        <p:grpSpPr>
          <a:xfrm>
            <a:off x="7955280" y="457200"/>
            <a:ext cx="1965960" cy="822960"/>
            <a:chOff x="7955280" y="457200"/>
            <a:chExt cx="1965960" cy="822960"/>
          </a:xfrm>
        </p:grpSpPr>
        <p:sp>
          <p:nvSpPr>
            <p:cNvPr id="33" name="Google Shape;33;p4"/>
            <p:cNvSpPr/>
            <p:nvPr/>
          </p:nvSpPr>
          <p:spPr>
            <a:xfrm>
              <a:off x="7955280" y="457200"/>
              <a:ext cx="1965960" cy="822960"/>
            </a:xfrm>
            <a:prstGeom prst="roundRect">
              <a:avLst>
                <a:gd fmla="val 8889"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assets/youtube.png" id="34" name="Google Shape;34;p4"/>
            <p:cNvPicPr preferRelativeResize="0"/>
            <p:nvPr/>
          </p:nvPicPr>
          <p:blipFill rotWithShape="1">
            <a:blip r:embed="rId4">
              <a:alphaModFix/>
            </a:blip>
            <a:srcRect b="0" l="0" r="0" t="0"/>
            <a:stretch/>
          </p:blipFill>
          <p:spPr>
            <a:xfrm>
              <a:off x="8087868" y="576072"/>
              <a:ext cx="1700784" cy="384048"/>
            </a:xfrm>
            <a:prstGeom prst="rect">
              <a:avLst/>
            </a:prstGeom>
            <a:noFill/>
            <a:ln>
              <a:noFill/>
            </a:ln>
          </p:spPr>
        </p:pic>
        <p:sp>
          <p:nvSpPr>
            <p:cNvPr id="35" name="Google Shape;35;p4"/>
            <p:cNvSpPr/>
            <p:nvPr/>
          </p:nvSpPr>
          <p:spPr>
            <a:xfrm>
              <a:off x="7955280" y="1024128"/>
              <a:ext cx="1965960"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480"/>
                </a:buClr>
                <a:buSzPts val="900"/>
                <a:buFont typeface="Noto Sans"/>
                <a:buNone/>
              </a:pPr>
              <a:r>
                <a:rPr b="1" lang="en-US" sz="900">
                  <a:solidFill>
                    <a:srgbClr val="5B6480"/>
                  </a:solidFill>
                  <a:latin typeface="Noto Sans"/>
                  <a:ea typeface="Noto Sans"/>
                  <a:cs typeface="Noto Sans"/>
                  <a:sym typeface="Noto Sans"/>
                </a:rPr>
                <a:t>플레이 영상 </a:t>
              </a:r>
              <a:r>
                <a:rPr b="1" i="0" lang="en-US" sz="900" u="none" cap="none" strike="noStrike">
                  <a:solidFill>
                    <a:srgbClr val="5B6480"/>
                  </a:solidFill>
                  <a:latin typeface="Noto Sans"/>
                  <a:ea typeface="Noto Sans"/>
                  <a:cs typeface="Noto Sans"/>
                  <a:sym typeface="Noto Sans"/>
                </a:rPr>
                <a:t>링크</a:t>
              </a:r>
              <a:endParaRPr b="1" i="0" sz="900" u="none" cap="none" strike="noStrike">
                <a:solidFill>
                  <a:schemeClr val="dk1"/>
                </a:solidFill>
                <a:latin typeface="Calibri"/>
                <a:ea typeface="Calibri"/>
                <a:cs typeface="Calibri"/>
                <a:sym typeface="Calibri"/>
              </a:endParaRPr>
            </a:p>
          </p:txBody>
        </p:sp>
      </p:grpSp>
      <p:sp>
        <p:nvSpPr>
          <p:cNvPr id="36" name="Google Shape;36;p4"/>
          <p:cNvSpPr/>
          <p:nvPr/>
        </p:nvSpPr>
        <p:spPr>
          <a:xfrm>
            <a:off x="640080" y="1627632"/>
            <a:ext cx="10881360" cy="576072"/>
          </a:xfrm>
          <a:prstGeom prst="roundRect">
            <a:avLst>
              <a:gd fmla="val 9524"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640080" y="1627632"/>
            <a:ext cx="91440" cy="576072"/>
          </a:xfrm>
          <a:prstGeom prst="roundRect">
            <a:avLst>
              <a:gd fmla="val 30000" name="adj"/>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914400" y="1627632"/>
            <a:ext cx="2377440" cy="5760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400"/>
              <a:buFont typeface="Noto Sans"/>
              <a:buNone/>
            </a:pPr>
            <a:r>
              <a:rPr b="1" i="0" lang="en-US" sz="1400" u="none" cap="none" strike="noStrike">
                <a:solidFill>
                  <a:srgbClr val="1B2340"/>
                </a:solidFill>
                <a:latin typeface="Noto Sans"/>
                <a:ea typeface="Noto Sans"/>
                <a:cs typeface="Noto Sans"/>
                <a:sym typeface="Noto Sans"/>
              </a:rPr>
              <a:t>플랫폼</a:t>
            </a:r>
            <a:endParaRPr b="0" i="0" sz="1400" u="none" cap="none" strike="noStrike">
              <a:solidFill>
                <a:schemeClr val="dk1"/>
              </a:solidFill>
              <a:latin typeface="Calibri"/>
              <a:ea typeface="Calibri"/>
              <a:cs typeface="Calibri"/>
              <a:sym typeface="Calibri"/>
            </a:endParaRPr>
          </a:p>
        </p:txBody>
      </p:sp>
      <p:sp>
        <p:nvSpPr>
          <p:cNvPr id="39" name="Google Shape;39;p4"/>
          <p:cNvSpPr/>
          <p:nvPr/>
        </p:nvSpPr>
        <p:spPr>
          <a:xfrm>
            <a:off x="3383280" y="1627632"/>
            <a:ext cx="7955280" cy="5760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05C"/>
              </a:buClr>
              <a:buSzPts val="1350"/>
              <a:buFont typeface="Noto Sans"/>
              <a:buNone/>
            </a:pPr>
            <a:r>
              <a:rPr b="0" i="0" lang="en-US" sz="1350" u="none" cap="none" strike="noStrike">
                <a:solidFill>
                  <a:srgbClr val="33405C"/>
                </a:solidFill>
                <a:latin typeface="Noto Sans"/>
                <a:ea typeface="Noto Sans"/>
                <a:cs typeface="Noto Sans"/>
                <a:sym typeface="Noto Sans"/>
              </a:rPr>
              <a:t>PC 게임</a:t>
            </a:r>
            <a:endParaRPr b="0" i="0" sz="1350" u="none" cap="none" strike="noStrike">
              <a:solidFill>
                <a:schemeClr val="dk1"/>
              </a:solidFill>
              <a:latin typeface="Calibri"/>
              <a:ea typeface="Calibri"/>
              <a:cs typeface="Calibri"/>
              <a:sym typeface="Calibri"/>
            </a:endParaRPr>
          </a:p>
        </p:txBody>
      </p:sp>
      <p:sp>
        <p:nvSpPr>
          <p:cNvPr id="40" name="Google Shape;40;p4"/>
          <p:cNvSpPr/>
          <p:nvPr/>
        </p:nvSpPr>
        <p:spPr>
          <a:xfrm>
            <a:off x="640080" y="2322576"/>
            <a:ext cx="10881360" cy="576072"/>
          </a:xfrm>
          <a:prstGeom prst="roundRect">
            <a:avLst>
              <a:gd fmla="val 9524"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640080" y="2322576"/>
            <a:ext cx="91440" cy="576072"/>
          </a:xfrm>
          <a:prstGeom prst="roundRect">
            <a:avLst>
              <a:gd fmla="val 30000" name="adj"/>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914400" y="2322576"/>
            <a:ext cx="2377440" cy="5760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400"/>
              <a:buFont typeface="Noto Sans"/>
              <a:buNone/>
            </a:pPr>
            <a:r>
              <a:rPr b="1" i="0" lang="en-US" sz="1400" u="none" cap="none" strike="noStrike">
                <a:solidFill>
                  <a:srgbClr val="1B2340"/>
                </a:solidFill>
                <a:latin typeface="Noto Sans"/>
                <a:ea typeface="Noto Sans"/>
                <a:cs typeface="Noto Sans"/>
                <a:sym typeface="Noto Sans"/>
              </a:rPr>
              <a:t>개발 엔진</a:t>
            </a:r>
            <a:endParaRPr b="0" i="0" sz="1400" u="none" cap="none" strike="noStrike">
              <a:solidFill>
                <a:schemeClr val="dk1"/>
              </a:solidFill>
              <a:latin typeface="Calibri"/>
              <a:ea typeface="Calibri"/>
              <a:cs typeface="Calibri"/>
              <a:sym typeface="Calibri"/>
            </a:endParaRPr>
          </a:p>
        </p:txBody>
      </p:sp>
      <p:sp>
        <p:nvSpPr>
          <p:cNvPr id="43" name="Google Shape;43;p4"/>
          <p:cNvSpPr/>
          <p:nvPr/>
        </p:nvSpPr>
        <p:spPr>
          <a:xfrm>
            <a:off x="3383280" y="2322576"/>
            <a:ext cx="7955280" cy="5760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05C"/>
              </a:buClr>
              <a:buSzPts val="1350"/>
              <a:buFont typeface="Noto Sans"/>
              <a:buNone/>
            </a:pPr>
            <a:r>
              <a:rPr b="0" i="0" lang="en-US" sz="1350" u="none" cap="none" strike="noStrike">
                <a:solidFill>
                  <a:srgbClr val="33405C"/>
                </a:solidFill>
                <a:latin typeface="Noto Sans"/>
                <a:ea typeface="Noto Sans"/>
                <a:cs typeface="Noto Sans"/>
                <a:sym typeface="Noto Sans"/>
              </a:rPr>
              <a:t>Unity ·</a:t>
            </a:r>
            <a:r>
              <a:rPr lang="en-US" sz="1350">
                <a:solidFill>
                  <a:srgbClr val="33405C"/>
                </a:solidFill>
                <a:latin typeface="Noto Sans"/>
                <a:ea typeface="Noto Sans"/>
                <a:cs typeface="Noto Sans"/>
                <a:sym typeface="Noto Sans"/>
              </a:rPr>
              <a:t> 6000.3.15f1 LTS</a:t>
            </a:r>
            <a:endParaRPr b="0" i="0" sz="1350" u="none" cap="none" strike="noStrike">
              <a:solidFill>
                <a:schemeClr val="dk1"/>
              </a:solidFill>
              <a:latin typeface="Calibri"/>
              <a:ea typeface="Calibri"/>
              <a:cs typeface="Calibri"/>
              <a:sym typeface="Calibri"/>
            </a:endParaRPr>
          </a:p>
        </p:txBody>
      </p:sp>
      <p:sp>
        <p:nvSpPr>
          <p:cNvPr id="44" name="Google Shape;44;p4"/>
          <p:cNvSpPr/>
          <p:nvPr/>
        </p:nvSpPr>
        <p:spPr>
          <a:xfrm>
            <a:off x="640080" y="3017520"/>
            <a:ext cx="10881360" cy="576072"/>
          </a:xfrm>
          <a:prstGeom prst="roundRect">
            <a:avLst>
              <a:gd fmla="val 9524"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640080" y="3017520"/>
            <a:ext cx="91440" cy="576072"/>
          </a:xfrm>
          <a:prstGeom prst="roundRect">
            <a:avLst>
              <a:gd fmla="val 30000" name="adj"/>
            </a:avLst>
          </a:prstGeom>
          <a:solidFill>
            <a:srgbClr val="F270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914400" y="3017520"/>
            <a:ext cx="2377440" cy="5760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400"/>
              <a:buFont typeface="Noto Sans"/>
              <a:buNone/>
            </a:pPr>
            <a:r>
              <a:rPr b="1" i="0" lang="en-US" sz="1400" u="none" cap="none" strike="noStrike">
                <a:solidFill>
                  <a:srgbClr val="1B2340"/>
                </a:solidFill>
                <a:latin typeface="Noto Sans"/>
                <a:ea typeface="Noto Sans"/>
                <a:cs typeface="Noto Sans"/>
                <a:sym typeface="Noto Sans"/>
              </a:rPr>
              <a:t>장르</a:t>
            </a:r>
            <a:endParaRPr b="0" i="0" sz="1400" u="none" cap="none" strike="noStrike">
              <a:solidFill>
                <a:schemeClr val="dk1"/>
              </a:solidFill>
              <a:latin typeface="Calibri"/>
              <a:ea typeface="Calibri"/>
              <a:cs typeface="Calibri"/>
              <a:sym typeface="Calibri"/>
            </a:endParaRPr>
          </a:p>
        </p:txBody>
      </p:sp>
      <p:sp>
        <p:nvSpPr>
          <p:cNvPr id="47" name="Google Shape;47;p4"/>
          <p:cNvSpPr/>
          <p:nvPr/>
        </p:nvSpPr>
        <p:spPr>
          <a:xfrm>
            <a:off x="3383280" y="3017520"/>
            <a:ext cx="7955280" cy="5760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05C"/>
              </a:buClr>
              <a:buSzPts val="1350"/>
              <a:buFont typeface="Noto Sans"/>
              <a:buNone/>
            </a:pPr>
            <a:r>
              <a:rPr b="0" i="0" lang="en-US" sz="1350" u="none" cap="none" strike="noStrike">
                <a:solidFill>
                  <a:srgbClr val="33405C"/>
                </a:solidFill>
                <a:latin typeface="Noto Sans"/>
                <a:ea typeface="Noto Sans"/>
                <a:cs typeface="Noto Sans"/>
                <a:sym typeface="Noto Sans"/>
              </a:rPr>
              <a:t>웨이브 디펜스 · 로그라이크</a:t>
            </a:r>
            <a:endParaRPr b="0" i="0" sz="1350" u="none" cap="none" strike="noStrike">
              <a:solidFill>
                <a:schemeClr val="dk1"/>
              </a:solidFill>
              <a:latin typeface="Calibri"/>
              <a:ea typeface="Calibri"/>
              <a:cs typeface="Calibri"/>
              <a:sym typeface="Calibri"/>
            </a:endParaRPr>
          </a:p>
        </p:txBody>
      </p:sp>
      <p:sp>
        <p:nvSpPr>
          <p:cNvPr id="48" name="Google Shape;48;p4"/>
          <p:cNvSpPr/>
          <p:nvPr/>
        </p:nvSpPr>
        <p:spPr>
          <a:xfrm>
            <a:off x="640080" y="3712464"/>
            <a:ext cx="10881360" cy="576072"/>
          </a:xfrm>
          <a:prstGeom prst="roundRect">
            <a:avLst>
              <a:gd fmla="val 9524"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640080" y="3712464"/>
            <a:ext cx="91440" cy="576072"/>
          </a:xfrm>
          <a:prstGeom prst="roundRect">
            <a:avLst>
              <a:gd fmla="val 30000" name="adj"/>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914400" y="3712464"/>
            <a:ext cx="2377440" cy="5760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400"/>
              <a:buFont typeface="Noto Sans"/>
              <a:buNone/>
            </a:pPr>
            <a:r>
              <a:rPr b="1" i="0" lang="en-US" sz="1400" u="none" cap="none" strike="noStrike">
                <a:solidFill>
                  <a:srgbClr val="1B2340"/>
                </a:solidFill>
                <a:latin typeface="Noto Sans"/>
                <a:ea typeface="Noto Sans"/>
                <a:cs typeface="Noto Sans"/>
                <a:sym typeface="Noto Sans"/>
              </a:rPr>
              <a:t>핵심 플레이</a:t>
            </a:r>
            <a:endParaRPr b="0" i="0" sz="1400" u="none" cap="none" strike="noStrike">
              <a:solidFill>
                <a:schemeClr val="dk1"/>
              </a:solidFill>
              <a:latin typeface="Calibri"/>
              <a:ea typeface="Calibri"/>
              <a:cs typeface="Calibri"/>
              <a:sym typeface="Calibri"/>
            </a:endParaRPr>
          </a:p>
        </p:txBody>
      </p:sp>
      <p:sp>
        <p:nvSpPr>
          <p:cNvPr id="51" name="Google Shape;51;p4"/>
          <p:cNvSpPr/>
          <p:nvPr/>
        </p:nvSpPr>
        <p:spPr>
          <a:xfrm>
            <a:off x="3383280" y="3712464"/>
            <a:ext cx="7955280" cy="5760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05C"/>
              </a:buClr>
              <a:buSzPts val="1350"/>
              <a:buFont typeface="Noto Sans"/>
              <a:buNone/>
            </a:pPr>
            <a:r>
              <a:rPr b="0" i="0" lang="en-US" sz="1350" u="none" cap="none" strike="noStrike">
                <a:solidFill>
                  <a:srgbClr val="33405C"/>
                </a:solidFill>
                <a:latin typeface="Noto Sans"/>
                <a:ea typeface="Noto Sans"/>
                <a:cs typeface="Noto Sans"/>
                <a:sym typeface="Noto Sans"/>
              </a:rPr>
              <a:t>몬스터를 처치하며 성장하고, 중앙 기지(Nexus)를 방어</a:t>
            </a:r>
            <a:endParaRPr b="0" i="0" sz="1350" u="none" cap="none" strike="noStrike">
              <a:solidFill>
                <a:schemeClr val="dk1"/>
              </a:solidFill>
              <a:latin typeface="Calibri"/>
              <a:ea typeface="Calibri"/>
              <a:cs typeface="Calibri"/>
              <a:sym typeface="Calibri"/>
            </a:endParaRPr>
          </a:p>
        </p:txBody>
      </p:sp>
      <p:sp>
        <p:nvSpPr>
          <p:cNvPr id="52" name="Google Shape;52;p4"/>
          <p:cNvSpPr/>
          <p:nvPr/>
        </p:nvSpPr>
        <p:spPr>
          <a:xfrm>
            <a:off x="640080" y="4407408"/>
            <a:ext cx="10881360" cy="576072"/>
          </a:xfrm>
          <a:prstGeom prst="roundRect">
            <a:avLst>
              <a:gd fmla="val 9524"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640080" y="4407408"/>
            <a:ext cx="91440" cy="576072"/>
          </a:xfrm>
          <a:prstGeom prst="roundRect">
            <a:avLst>
              <a:gd fmla="val 30000" name="adj"/>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914400" y="4407408"/>
            <a:ext cx="2377440" cy="5760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400"/>
              <a:buFont typeface="Noto Sans"/>
              <a:buNone/>
            </a:pPr>
            <a:r>
              <a:rPr b="1" i="0" lang="en-US" sz="1400" u="none" cap="none" strike="noStrike">
                <a:solidFill>
                  <a:srgbClr val="1B2340"/>
                </a:solidFill>
                <a:latin typeface="Noto Sans"/>
                <a:ea typeface="Noto Sans"/>
                <a:cs typeface="Noto Sans"/>
                <a:sym typeface="Noto Sans"/>
              </a:rPr>
              <a:t>주요 시스템</a:t>
            </a:r>
            <a:endParaRPr b="0" i="0" sz="1400" u="none" cap="none" strike="noStrike">
              <a:solidFill>
                <a:schemeClr val="dk1"/>
              </a:solidFill>
              <a:latin typeface="Calibri"/>
              <a:ea typeface="Calibri"/>
              <a:cs typeface="Calibri"/>
              <a:sym typeface="Calibri"/>
            </a:endParaRPr>
          </a:p>
        </p:txBody>
      </p:sp>
      <p:sp>
        <p:nvSpPr>
          <p:cNvPr id="55" name="Google Shape;55;p4"/>
          <p:cNvSpPr/>
          <p:nvPr/>
        </p:nvSpPr>
        <p:spPr>
          <a:xfrm>
            <a:off x="3383280" y="4407408"/>
            <a:ext cx="7955280" cy="5760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05C"/>
              </a:buClr>
              <a:buSzPts val="1350"/>
              <a:buFont typeface="Noto Sans"/>
              <a:buNone/>
            </a:pPr>
            <a:r>
              <a:rPr b="0" i="0" lang="en-US" sz="1350" u="none" cap="none" strike="noStrike">
                <a:solidFill>
                  <a:srgbClr val="33405C"/>
                </a:solidFill>
                <a:latin typeface="Noto Sans"/>
                <a:ea typeface="Noto Sans"/>
                <a:cs typeface="Noto Sans"/>
                <a:sym typeface="Noto Sans"/>
              </a:rPr>
              <a:t>카드 선택 성장 · 무기 강화 · 자동 진행 · 데이터 저장</a:t>
            </a:r>
            <a:endParaRPr b="0" i="0" sz="1350" u="none" cap="none" strike="noStrike">
              <a:solidFill>
                <a:schemeClr val="dk1"/>
              </a:solidFill>
              <a:latin typeface="Calibri"/>
              <a:ea typeface="Calibri"/>
              <a:cs typeface="Calibri"/>
              <a:sym typeface="Calibri"/>
            </a:endParaRPr>
          </a:p>
        </p:txBody>
      </p:sp>
      <p:sp>
        <p:nvSpPr>
          <p:cNvPr id="56" name="Google Shape;56;p4"/>
          <p:cNvSpPr/>
          <p:nvPr/>
        </p:nvSpPr>
        <p:spPr>
          <a:xfrm>
            <a:off x="640080" y="5102352"/>
            <a:ext cx="10881360" cy="576072"/>
          </a:xfrm>
          <a:prstGeom prst="roundRect">
            <a:avLst>
              <a:gd fmla="val 9524"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640080" y="5102352"/>
            <a:ext cx="91440" cy="576072"/>
          </a:xfrm>
          <a:prstGeom prst="roundRect">
            <a:avLst>
              <a:gd fmla="val 30000" name="adj"/>
            </a:avLst>
          </a:prstGeom>
          <a:solidFill>
            <a:srgbClr val="F270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914400" y="5102352"/>
            <a:ext cx="2377440" cy="5760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400"/>
              <a:buFont typeface="Noto Sans"/>
              <a:buNone/>
            </a:pPr>
            <a:r>
              <a:rPr b="1" i="0" lang="en-US" sz="1400" u="none" cap="none" strike="noStrike">
                <a:solidFill>
                  <a:srgbClr val="1B2340"/>
                </a:solidFill>
                <a:latin typeface="Noto Sans"/>
                <a:ea typeface="Noto Sans"/>
                <a:cs typeface="Noto Sans"/>
                <a:sym typeface="Noto Sans"/>
              </a:rPr>
              <a:t>담당 업무</a:t>
            </a:r>
            <a:endParaRPr b="0" i="0" sz="1400" u="none" cap="none" strike="noStrike">
              <a:solidFill>
                <a:schemeClr val="dk1"/>
              </a:solidFill>
              <a:latin typeface="Calibri"/>
              <a:ea typeface="Calibri"/>
              <a:cs typeface="Calibri"/>
              <a:sym typeface="Calibri"/>
            </a:endParaRPr>
          </a:p>
        </p:txBody>
      </p:sp>
      <p:sp>
        <p:nvSpPr>
          <p:cNvPr id="59" name="Google Shape;59;p4"/>
          <p:cNvSpPr/>
          <p:nvPr/>
        </p:nvSpPr>
        <p:spPr>
          <a:xfrm>
            <a:off x="3383280" y="5102352"/>
            <a:ext cx="7955280" cy="5760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05C"/>
              </a:buClr>
              <a:buSzPts val="1350"/>
              <a:buFont typeface="Noto Sans"/>
              <a:buNone/>
            </a:pPr>
            <a:r>
              <a:rPr b="0" i="0" lang="en-US" sz="1350" u="none" cap="none" strike="noStrike">
                <a:solidFill>
                  <a:srgbClr val="33405C"/>
                </a:solidFill>
                <a:latin typeface="Noto Sans"/>
                <a:ea typeface="Noto Sans"/>
                <a:cs typeface="Noto Sans"/>
                <a:sym typeface="Noto Sans"/>
              </a:rPr>
              <a:t>UI 시스템, 성장 시스템, 데이터 저장, 패턴 설계 및 기능 구현</a:t>
            </a:r>
            <a:endParaRPr b="0" i="0" sz="1350" u="none" cap="none" strike="noStrike">
              <a:solidFill>
                <a:schemeClr val="dk1"/>
              </a:solidFill>
              <a:latin typeface="Calibri"/>
              <a:ea typeface="Calibri"/>
              <a:cs typeface="Calibri"/>
              <a:sym typeface="Calibri"/>
            </a:endParaRPr>
          </a:p>
        </p:txBody>
      </p:sp>
      <p:sp>
        <p:nvSpPr>
          <p:cNvPr id="60" name="Google Shape;60;p4"/>
          <p:cNvSpPr/>
          <p:nvPr/>
        </p:nvSpPr>
        <p:spPr>
          <a:xfrm>
            <a:off x="640080" y="5797296"/>
            <a:ext cx="10881360" cy="576072"/>
          </a:xfrm>
          <a:prstGeom prst="roundRect">
            <a:avLst>
              <a:gd fmla="val 9524"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640080" y="5797296"/>
            <a:ext cx="91440" cy="576072"/>
          </a:xfrm>
          <a:prstGeom prst="roundRect">
            <a:avLst>
              <a:gd fmla="val 30000" name="adj"/>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914400" y="5797296"/>
            <a:ext cx="2377440" cy="5760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400"/>
              <a:buFont typeface="Noto Sans"/>
              <a:buNone/>
            </a:pPr>
            <a:r>
              <a:rPr b="1" i="0" lang="en-US" sz="1400" u="none" cap="none" strike="noStrike">
                <a:solidFill>
                  <a:srgbClr val="1B2340"/>
                </a:solidFill>
                <a:latin typeface="Noto Sans"/>
                <a:ea typeface="Noto Sans"/>
                <a:cs typeface="Noto Sans"/>
                <a:sym typeface="Noto Sans"/>
              </a:rPr>
              <a:t>개발 방식</a:t>
            </a:r>
            <a:endParaRPr b="0" i="0" sz="1400" u="none" cap="none" strike="noStrike">
              <a:solidFill>
                <a:schemeClr val="dk1"/>
              </a:solidFill>
              <a:latin typeface="Calibri"/>
              <a:ea typeface="Calibri"/>
              <a:cs typeface="Calibri"/>
              <a:sym typeface="Calibri"/>
            </a:endParaRPr>
          </a:p>
        </p:txBody>
      </p:sp>
      <p:sp>
        <p:nvSpPr>
          <p:cNvPr id="63" name="Google Shape;63;p4"/>
          <p:cNvSpPr/>
          <p:nvPr/>
        </p:nvSpPr>
        <p:spPr>
          <a:xfrm>
            <a:off x="3383280" y="5797296"/>
            <a:ext cx="7955280" cy="5760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05C"/>
              </a:buClr>
              <a:buSzPts val="1350"/>
              <a:buFont typeface="Noto Sans"/>
              <a:buNone/>
            </a:pPr>
            <a:r>
              <a:rPr b="0" i="0" lang="en-US" sz="1350" u="none" cap="none" strike="noStrike">
                <a:solidFill>
                  <a:srgbClr val="33405C"/>
                </a:solidFill>
                <a:latin typeface="Noto Sans"/>
                <a:ea typeface="Noto Sans"/>
                <a:cs typeface="Noto Sans"/>
                <a:sym typeface="Noto Sans"/>
              </a:rPr>
              <a:t>팀 프로젝트 (담당 기능 중심 소개)</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633"/>
        </a:solidFill>
      </p:bgPr>
    </p:bg>
    <p:spTree>
      <p:nvGrpSpPr>
        <p:cNvPr id="68" name="Shape 68"/>
        <p:cNvGrpSpPr/>
        <p:nvPr/>
      </p:nvGrpSpPr>
      <p:grpSpPr>
        <a:xfrm>
          <a:off x="0" y="0"/>
          <a:ext cx="0" cy="0"/>
          <a:chOff x="0" y="0"/>
          <a:chExt cx="0" cy="0"/>
        </a:xfrm>
      </p:grpSpPr>
      <p:sp>
        <p:nvSpPr>
          <p:cNvPr id="69" name="Google Shape;69;p5"/>
          <p:cNvSpPr/>
          <p:nvPr/>
        </p:nvSpPr>
        <p:spPr>
          <a:xfrm>
            <a:off x="640080" y="320040"/>
            <a:ext cx="100584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B740"/>
              </a:buClr>
              <a:buSzPts val="2800"/>
              <a:buFont typeface="Noto Sans"/>
              <a:buNone/>
            </a:pPr>
            <a:r>
              <a:rPr b="1" i="0" lang="en-US" sz="2800" u="none" cap="none" strike="noStrike">
                <a:solidFill>
                  <a:srgbClr val="F4B740"/>
                </a:solidFill>
                <a:latin typeface="Noto Sans"/>
                <a:ea typeface="Noto Sans"/>
                <a:cs typeface="Noto Sans"/>
                <a:sym typeface="Noto Sans"/>
              </a:rPr>
              <a:t>02  </a:t>
            </a:r>
            <a:r>
              <a:rPr b="1" i="0" lang="en-US" sz="2800" u="none" cap="none" strike="noStrike">
                <a:solidFill>
                  <a:srgbClr val="FFFFFF"/>
                </a:solidFill>
                <a:latin typeface="Noto Sans"/>
                <a:ea typeface="Noto Sans"/>
                <a:cs typeface="Noto Sans"/>
                <a:sym typeface="Noto Sans"/>
              </a:rPr>
              <a:t>게임 진행 흐름</a:t>
            </a:r>
            <a:endParaRPr b="0" i="0" sz="2800" u="none" cap="none" strike="noStrike">
              <a:solidFill>
                <a:schemeClr val="dk1"/>
              </a:solidFill>
              <a:latin typeface="Calibri"/>
              <a:ea typeface="Calibri"/>
              <a:cs typeface="Calibri"/>
              <a:sym typeface="Calibri"/>
            </a:endParaRPr>
          </a:p>
        </p:txBody>
      </p:sp>
      <p:sp>
        <p:nvSpPr>
          <p:cNvPr id="70" name="Google Shape;70;p5"/>
          <p:cNvSpPr/>
          <p:nvPr/>
        </p:nvSpPr>
        <p:spPr>
          <a:xfrm>
            <a:off x="1417320" y="1554480"/>
            <a:ext cx="2651760" cy="603504"/>
          </a:xfrm>
          <a:prstGeom prst="roundRect">
            <a:avLst>
              <a:gd fmla="val 45455" name="adj"/>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1417320" y="1554480"/>
            <a:ext cx="2651760" cy="60350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1633"/>
              </a:buClr>
              <a:buSzPts val="1300"/>
              <a:buFont typeface="Noto Sans"/>
              <a:buNone/>
            </a:pPr>
            <a:r>
              <a:rPr b="1" i="0" lang="en-US" sz="1300" u="none" cap="none" strike="noStrike">
                <a:solidFill>
                  <a:srgbClr val="0E1633"/>
                </a:solidFill>
                <a:latin typeface="Noto Sans"/>
                <a:ea typeface="Noto Sans"/>
                <a:cs typeface="Noto Sans"/>
                <a:sym typeface="Noto Sans"/>
              </a:rPr>
              <a:t>게임 시작</a:t>
            </a:r>
            <a:endParaRPr b="0" i="0" sz="1300" u="none" cap="none" strike="noStrike">
              <a:solidFill>
                <a:schemeClr val="dk1"/>
              </a:solidFill>
              <a:latin typeface="Calibri"/>
              <a:ea typeface="Calibri"/>
              <a:cs typeface="Calibri"/>
              <a:sym typeface="Calibri"/>
            </a:endParaRPr>
          </a:p>
        </p:txBody>
      </p:sp>
      <p:sp>
        <p:nvSpPr>
          <p:cNvPr id="72" name="Google Shape;72;p5"/>
          <p:cNvSpPr/>
          <p:nvPr/>
        </p:nvSpPr>
        <p:spPr>
          <a:xfrm>
            <a:off x="1417320" y="2660904"/>
            <a:ext cx="2651760" cy="603504"/>
          </a:xfrm>
          <a:prstGeom prst="roundRect">
            <a:avLst>
              <a:gd fmla="val 9091" name="adj"/>
            </a:avLst>
          </a:prstGeom>
          <a:solidFill>
            <a:srgbClr val="182347"/>
          </a:solidFill>
          <a:ln cap="flat" cmpd="sng" w="15875">
            <a:solidFill>
              <a:srgbClr val="F4B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1508760" y="2715768"/>
            <a:ext cx="24688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Noto Sans"/>
              <a:buNone/>
            </a:pPr>
            <a:r>
              <a:rPr b="1" i="0" lang="en-US" sz="1150" u="none" cap="none" strike="noStrike">
                <a:solidFill>
                  <a:srgbClr val="FFFFFF"/>
                </a:solidFill>
                <a:latin typeface="Noto Sans"/>
                <a:ea typeface="Noto Sans"/>
                <a:cs typeface="Noto Sans"/>
                <a:sym typeface="Noto Sans"/>
              </a:rPr>
              <a:t>출전 준비 · 메타 성장</a:t>
            </a:r>
            <a:endParaRPr b="0" i="0" sz="1150" u="none" cap="none" strike="noStrike">
              <a:solidFill>
                <a:schemeClr val="dk1"/>
              </a:solidFill>
              <a:latin typeface="Calibri"/>
              <a:ea typeface="Calibri"/>
              <a:cs typeface="Calibri"/>
              <a:sym typeface="Calibri"/>
            </a:endParaRPr>
          </a:p>
        </p:txBody>
      </p:sp>
      <p:sp>
        <p:nvSpPr>
          <p:cNvPr id="74" name="Google Shape;74;p5"/>
          <p:cNvSpPr/>
          <p:nvPr/>
        </p:nvSpPr>
        <p:spPr>
          <a:xfrm>
            <a:off x="1508760" y="3008376"/>
            <a:ext cx="2468880"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2F0"/>
              </a:buClr>
              <a:buSzPts val="900"/>
              <a:buFont typeface="Noto Sans"/>
              <a:buNone/>
            </a:pPr>
            <a:r>
              <a:rPr b="0" i="0" lang="en-US" sz="900" u="none" cap="none" strike="noStrike">
                <a:solidFill>
                  <a:srgbClr val="C7D2F0"/>
                </a:solidFill>
                <a:latin typeface="Noto Sans"/>
                <a:ea typeface="Noto Sans"/>
                <a:cs typeface="Noto Sans"/>
                <a:sym typeface="Noto Sans"/>
              </a:rPr>
              <a:t>캐릭터 및 능력 선택</a:t>
            </a:r>
            <a:endParaRPr b="0" i="0" sz="900" u="none" cap="none" strike="noStrike">
              <a:solidFill>
                <a:schemeClr val="dk1"/>
              </a:solidFill>
              <a:latin typeface="Calibri"/>
              <a:ea typeface="Calibri"/>
              <a:cs typeface="Calibri"/>
              <a:sym typeface="Calibri"/>
            </a:endParaRPr>
          </a:p>
        </p:txBody>
      </p:sp>
      <p:sp>
        <p:nvSpPr>
          <p:cNvPr id="75" name="Google Shape;75;p5"/>
          <p:cNvSpPr/>
          <p:nvPr/>
        </p:nvSpPr>
        <p:spPr>
          <a:xfrm>
            <a:off x="1417320" y="3767328"/>
            <a:ext cx="2651760" cy="603504"/>
          </a:xfrm>
          <a:prstGeom prst="roundRect">
            <a:avLst>
              <a:gd fmla="val 9091" name="adj"/>
            </a:avLst>
          </a:prstGeom>
          <a:solidFill>
            <a:srgbClr val="182347"/>
          </a:solidFill>
          <a:ln cap="flat" cmpd="sng" w="15875">
            <a:solidFill>
              <a:srgbClr val="4FD1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1508760" y="3767328"/>
            <a:ext cx="2468880" cy="60350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Noto Sans"/>
              <a:buNone/>
            </a:pPr>
            <a:r>
              <a:rPr b="1" i="0" lang="en-US" sz="1150" u="none" cap="none" strike="noStrike">
                <a:solidFill>
                  <a:srgbClr val="FFFFFF"/>
                </a:solidFill>
                <a:latin typeface="Noto Sans"/>
                <a:ea typeface="Noto Sans"/>
                <a:cs typeface="Noto Sans"/>
                <a:sym typeface="Noto Sans"/>
              </a:rPr>
              <a:t>웨이브 전투 (몬스터 처치)</a:t>
            </a:r>
            <a:endParaRPr b="0" i="0" sz="1150" u="none" cap="none" strike="noStrike">
              <a:solidFill>
                <a:schemeClr val="dk1"/>
              </a:solidFill>
              <a:latin typeface="Calibri"/>
              <a:ea typeface="Calibri"/>
              <a:cs typeface="Calibri"/>
              <a:sym typeface="Calibri"/>
            </a:endParaRPr>
          </a:p>
        </p:txBody>
      </p:sp>
      <p:sp>
        <p:nvSpPr>
          <p:cNvPr id="77" name="Google Shape;77;p5"/>
          <p:cNvSpPr/>
          <p:nvPr/>
        </p:nvSpPr>
        <p:spPr>
          <a:xfrm>
            <a:off x="1417320" y="4873752"/>
            <a:ext cx="2651760" cy="603504"/>
          </a:xfrm>
          <a:prstGeom prst="roundRect">
            <a:avLst>
              <a:gd fmla="val 9091" name="adj"/>
            </a:avLst>
          </a:prstGeom>
          <a:solidFill>
            <a:srgbClr val="182347"/>
          </a:solidFill>
          <a:ln cap="flat" cmpd="sng" w="15875">
            <a:solidFill>
              <a:srgbClr val="F4B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1508760" y="4873752"/>
            <a:ext cx="2468880" cy="60350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Noto Sans"/>
              <a:buNone/>
            </a:pPr>
            <a:r>
              <a:rPr b="1" i="0" lang="en-US" sz="1150" u="none" cap="none" strike="noStrike">
                <a:solidFill>
                  <a:srgbClr val="FFFFFF"/>
                </a:solidFill>
                <a:latin typeface="Noto Sans"/>
                <a:ea typeface="Noto Sans"/>
                <a:cs typeface="Noto Sans"/>
                <a:sym typeface="Noto Sans"/>
              </a:rPr>
              <a:t>레벨업 카드 선택 및 성장</a:t>
            </a:r>
            <a:endParaRPr b="0" i="0" sz="1150" u="none" cap="none" strike="noStrike">
              <a:solidFill>
                <a:schemeClr val="dk1"/>
              </a:solidFill>
              <a:latin typeface="Calibri"/>
              <a:ea typeface="Calibri"/>
              <a:cs typeface="Calibri"/>
              <a:sym typeface="Calibri"/>
            </a:endParaRPr>
          </a:p>
        </p:txBody>
      </p:sp>
      <p:sp>
        <p:nvSpPr>
          <p:cNvPr id="79" name="Google Shape;79;p5"/>
          <p:cNvSpPr/>
          <p:nvPr/>
        </p:nvSpPr>
        <p:spPr>
          <a:xfrm>
            <a:off x="7886700" y="1965960"/>
            <a:ext cx="2514600" cy="822960"/>
          </a:xfrm>
          <a:prstGeom prst="diamond">
            <a:avLst/>
          </a:prstGeom>
          <a:solidFill>
            <a:srgbClr val="223066"/>
          </a:solidFill>
          <a:ln cap="flat" cmpd="sng" w="22225">
            <a:solidFill>
              <a:srgbClr val="F270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8161020" y="1965960"/>
            <a:ext cx="19659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Noto Sans"/>
              <a:buNone/>
            </a:pPr>
            <a:r>
              <a:rPr b="1" i="0" lang="en-US" sz="1100" u="none" cap="none" strike="noStrike">
                <a:solidFill>
                  <a:srgbClr val="FFFFFF"/>
                </a:solidFill>
                <a:latin typeface="Noto Sans"/>
                <a:ea typeface="Noto Sans"/>
                <a:cs typeface="Noto Sans"/>
                <a:sym typeface="Noto Sans"/>
              </a:rPr>
              <a:t>넥서스 방어</a:t>
            </a:r>
            <a:endParaRPr b="0" i="0" sz="1100" u="none" cap="none" strike="noStrike">
              <a:solidFill>
                <a:schemeClr val="dk1"/>
              </a:solidFill>
              <a:latin typeface="Calibri"/>
              <a:ea typeface="Calibri"/>
              <a:cs typeface="Calibri"/>
              <a:sym typeface="Calibri"/>
            </a:endParaRPr>
          </a:p>
        </p:txBody>
      </p:sp>
      <p:sp>
        <p:nvSpPr>
          <p:cNvPr id="81" name="Google Shape;81;p5"/>
          <p:cNvSpPr/>
          <p:nvPr/>
        </p:nvSpPr>
        <p:spPr>
          <a:xfrm>
            <a:off x="7818120" y="3493008"/>
            <a:ext cx="2651760" cy="603504"/>
          </a:xfrm>
          <a:prstGeom prst="roundRect">
            <a:avLst>
              <a:gd fmla="val 9091" name="adj"/>
            </a:avLst>
          </a:prstGeom>
          <a:solidFill>
            <a:srgbClr val="182347"/>
          </a:solidFill>
          <a:ln cap="flat" cmpd="sng" w="15875">
            <a:solidFill>
              <a:srgbClr val="FFD3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7909560" y="3493008"/>
            <a:ext cx="2468880" cy="60350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Noto Sans"/>
              <a:buNone/>
            </a:pPr>
            <a:r>
              <a:rPr b="1" i="0" lang="en-US" sz="1150" u="none" cap="none" strike="noStrike">
                <a:solidFill>
                  <a:srgbClr val="FFFFFF"/>
                </a:solidFill>
                <a:latin typeface="Noto Sans"/>
                <a:ea typeface="Noto Sans"/>
                <a:cs typeface="Noto Sans"/>
                <a:sym typeface="Noto Sans"/>
              </a:rPr>
              <a:t>결과 정산 · 보상 획득</a:t>
            </a:r>
            <a:endParaRPr b="0" i="0" sz="1150" u="none" cap="none" strike="noStrike">
              <a:solidFill>
                <a:schemeClr val="dk1"/>
              </a:solidFill>
              <a:latin typeface="Calibri"/>
              <a:ea typeface="Calibri"/>
              <a:cs typeface="Calibri"/>
              <a:sym typeface="Calibri"/>
            </a:endParaRPr>
          </a:p>
        </p:txBody>
      </p:sp>
      <p:sp>
        <p:nvSpPr>
          <p:cNvPr id="83" name="Google Shape;83;p5"/>
          <p:cNvSpPr/>
          <p:nvPr/>
        </p:nvSpPr>
        <p:spPr>
          <a:xfrm>
            <a:off x="7818120" y="4773168"/>
            <a:ext cx="2651760" cy="603504"/>
          </a:xfrm>
          <a:prstGeom prst="roundRect">
            <a:avLst>
              <a:gd fmla="val 9091" name="adj"/>
            </a:avLst>
          </a:prstGeom>
          <a:solidFill>
            <a:srgbClr val="182347"/>
          </a:solidFill>
          <a:ln cap="flat" cmpd="sng" w="15875">
            <a:solidFill>
              <a:srgbClr val="6BE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7909560" y="4773168"/>
            <a:ext cx="2468880" cy="60350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Noto Sans"/>
              <a:buNone/>
            </a:pPr>
            <a:r>
              <a:rPr b="1" i="0" lang="en-US" sz="1150" u="none" cap="none" strike="noStrike">
                <a:solidFill>
                  <a:srgbClr val="FFFFFF"/>
                </a:solidFill>
                <a:latin typeface="Noto Sans"/>
                <a:ea typeface="Noto Sans"/>
                <a:cs typeface="Noto Sans"/>
                <a:sym typeface="Noto Sans"/>
              </a:rPr>
              <a:t>메타 성장 (영구 강화 적용)</a:t>
            </a:r>
            <a:endParaRPr b="0" i="0" sz="1150" u="none" cap="none" strike="noStrike">
              <a:solidFill>
                <a:schemeClr val="dk1"/>
              </a:solidFill>
              <a:latin typeface="Calibri"/>
              <a:ea typeface="Calibri"/>
              <a:cs typeface="Calibri"/>
              <a:sym typeface="Calibri"/>
            </a:endParaRPr>
          </a:p>
        </p:txBody>
      </p:sp>
      <p:cxnSp>
        <p:nvCxnSpPr>
          <p:cNvPr id="85" name="Google Shape;85;p5"/>
          <p:cNvCxnSpPr/>
          <p:nvPr/>
        </p:nvCxnSpPr>
        <p:spPr>
          <a:xfrm>
            <a:off x="2743200" y="2157984"/>
            <a:ext cx="0" cy="502920"/>
          </a:xfrm>
          <a:prstGeom prst="straightConnector1">
            <a:avLst/>
          </a:prstGeom>
          <a:noFill/>
          <a:ln cap="flat" cmpd="sng" w="38100">
            <a:solidFill>
              <a:srgbClr val="F4B740"/>
            </a:solidFill>
            <a:prstDash val="solid"/>
            <a:round/>
            <a:headEnd len="sm" w="sm" type="none"/>
            <a:tailEnd len="med" w="med" type="triangle"/>
          </a:ln>
        </p:spPr>
      </p:cxnSp>
      <p:cxnSp>
        <p:nvCxnSpPr>
          <p:cNvPr id="86" name="Google Shape;86;p5"/>
          <p:cNvCxnSpPr/>
          <p:nvPr/>
        </p:nvCxnSpPr>
        <p:spPr>
          <a:xfrm>
            <a:off x="2743200" y="3264408"/>
            <a:ext cx="0" cy="502920"/>
          </a:xfrm>
          <a:prstGeom prst="straightConnector1">
            <a:avLst/>
          </a:prstGeom>
          <a:noFill/>
          <a:ln cap="flat" cmpd="sng" w="38100">
            <a:solidFill>
              <a:srgbClr val="F4B740"/>
            </a:solidFill>
            <a:prstDash val="solid"/>
            <a:round/>
            <a:headEnd len="sm" w="sm" type="none"/>
            <a:tailEnd len="med" w="med" type="triangle"/>
          </a:ln>
        </p:spPr>
      </p:cxnSp>
      <p:cxnSp>
        <p:nvCxnSpPr>
          <p:cNvPr id="87" name="Google Shape;87;p5"/>
          <p:cNvCxnSpPr/>
          <p:nvPr/>
        </p:nvCxnSpPr>
        <p:spPr>
          <a:xfrm>
            <a:off x="2743200" y="4370832"/>
            <a:ext cx="0" cy="502920"/>
          </a:xfrm>
          <a:prstGeom prst="straightConnector1">
            <a:avLst/>
          </a:prstGeom>
          <a:noFill/>
          <a:ln cap="flat" cmpd="sng" w="38100">
            <a:solidFill>
              <a:srgbClr val="F4B740"/>
            </a:solidFill>
            <a:prstDash val="solid"/>
            <a:round/>
            <a:headEnd len="sm" w="sm" type="none"/>
            <a:tailEnd len="med" w="med" type="triangle"/>
          </a:ln>
        </p:spPr>
      </p:cxnSp>
      <p:cxnSp>
        <p:nvCxnSpPr>
          <p:cNvPr id="88" name="Google Shape;88;p5"/>
          <p:cNvCxnSpPr/>
          <p:nvPr/>
        </p:nvCxnSpPr>
        <p:spPr>
          <a:xfrm>
            <a:off x="4069080" y="4069080"/>
            <a:ext cx="2057400" cy="0"/>
          </a:xfrm>
          <a:prstGeom prst="straightConnector1">
            <a:avLst/>
          </a:prstGeom>
          <a:noFill/>
          <a:ln cap="flat" cmpd="sng" w="38100">
            <a:solidFill>
              <a:srgbClr val="F4B740"/>
            </a:solidFill>
            <a:prstDash val="solid"/>
            <a:round/>
            <a:headEnd len="sm" w="sm" type="none"/>
            <a:tailEnd len="sm" w="sm" type="none"/>
          </a:ln>
        </p:spPr>
      </p:cxnSp>
      <p:cxnSp>
        <p:nvCxnSpPr>
          <p:cNvPr id="89" name="Google Shape;89;p5"/>
          <p:cNvCxnSpPr/>
          <p:nvPr/>
        </p:nvCxnSpPr>
        <p:spPr>
          <a:xfrm rot="10800000">
            <a:off x="6126480" y="2377440"/>
            <a:ext cx="0" cy="1691640"/>
          </a:xfrm>
          <a:prstGeom prst="straightConnector1">
            <a:avLst/>
          </a:prstGeom>
          <a:noFill/>
          <a:ln cap="flat" cmpd="sng" w="38100">
            <a:solidFill>
              <a:srgbClr val="F4B740"/>
            </a:solidFill>
            <a:prstDash val="solid"/>
            <a:round/>
            <a:headEnd len="sm" w="sm" type="none"/>
            <a:tailEnd len="sm" w="sm" type="none"/>
          </a:ln>
        </p:spPr>
      </p:cxnSp>
      <p:cxnSp>
        <p:nvCxnSpPr>
          <p:cNvPr id="90" name="Google Shape;90;p5"/>
          <p:cNvCxnSpPr/>
          <p:nvPr/>
        </p:nvCxnSpPr>
        <p:spPr>
          <a:xfrm>
            <a:off x="6126480" y="2377440"/>
            <a:ext cx="1760220" cy="0"/>
          </a:xfrm>
          <a:prstGeom prst="straightConnector1">
            <a:avLst/>
          </a:prstGeom>
          <a:noFill/>
          <a:ln cap="flat" cmpd="sng" w="38100">
            <a:solidFill>
              <a:srgbClr val="F4B740"/>
            </a:solidFill>
            <a:prstDash val="solid"/>
            <a:round/>
            <a:headEnd len="sm" w="sm" type="none"/>
            <a:tailEnd len="med" w="med" type="triangle"/>
          </a:ln>
        </p:spPr>
      </p:cxnSp>
      <p:cxnSp>
        <p:nvCxnSpPr>
          <p:cNvPr id="91" name="Google Shape;91;p5"/>
          <p:cNvCxnSpPr/>
          <p:nvPr/>
        </p:nvCxnSpPr>
        <p:spPr>
          <a:xfrm rot="10800000">
            <a:off x="1051560" y="5175504"/>
            <a:ext cx="365760" cy="0"/>
          </a:xfrm>
          <a:prstGeom prst="straightConnector1">
            <a:avLst/>
          </a:prstGeom>
          <a:noFill/>
          <a:ln cap="flat" cmpd="sng" w="38100">
            <a:solidFill>
              <a:srgbClr val="F4B740"/>
            </a:solidFill>
            <a:prstDash val="solid"/>
            <a:round/>
            <a:headEnd len="sm" w="sm" type="none"/>
            <a:tailEnd len="sm" w="sm" type="none"/>
          </a:ln>
        </p:spPr>
      </p:cxnSp>
      <p:cxnSp>
        <p:nvCxnSpPr>
          <p:cNvPr id="92" name="Google Shape;92;p5"/>
          <p:cNvCxnSpPr/>
          <p:nvPr/>
        </p:nvCxnSpPr>
        <p:spPr>
          <a:xfrm rot="10800000">
            <a:off x="1051560" y="4069080"/>
            <a:ext cx="0" cy="1106424"/>
          </a:xfrm>
          <a:prstGeom prst="straightConnector1">
            <a:avLst/>
          </a:prstGeom>
          <a:noFill/>
          <a:ln cap="flat" cmpd="sng" w="38100">
            <a:solidFill>
              <a:srgbClr val="F4B740"/>
            </a:solidFill>
            <a:prstDash val="solid"/>
            <a:round/>
            <a:headEnd len="sm" w="sm" type="none"/>
            <a:tailEnd len="sm" w="sm" type="none"/>
          </a:ln>
        </p:spPr>
      </p:cxnSp>
      <p:cxnSp>
        <p:nvCxnSpPr>
          <p:cNvPr id="93" name="Google Shape;93;p5"/>
          <p:cNvCxnSpPr/>
          <p:nvPr/>
        </p:nvCxnSpPr>
        <p:spPr>
          <a:xfrm>
            <a:off x="1051560" y="4069080"/>
            <a:ext cx="365760" cy="0"/>
          </a:xfrm>
          <a:prstGeom prst="straightConnector1">
            <a:avLst/>
          </a:prstGeom>
          <a:noFill/>
          <a:ln cap="flat" cmpd="sng" w="38100">
            <a:solidFill>
              <a:srgbClr val="F4B740"/>
            </a:solidFill>
            <a:prstDash val="solid"/>
            <a:round/>
            <a:headEnd len="sm" w="sm" type="none"/>
            <a:tailEnd len="med" w="med" type="triangle"/>
          </a:ln>
        </p:spPr>
      </p:cxnSp>
      <p:cxnSp>
        <p:nvCxnSpPr>
          <p:cNvPr id="94" name="Google Shape;94;p5"/>
          <p:cNvCxnSpPr/>
          <p:nvPr/>
        </p:nvCxnSpPr>
        <p:spPr>
          <a:xfrm>
            <a:off x="9144000" y="2788920"/>
            <a:ext cx="0" cy="704088"/>
          </a:xfrm>
          <a:prstGeom prst="straightConnector1">
            <a:avLst/>
          </a:prstGeom>
          <a:noFill/>
          <a:ln cap="flat" cmpd="sng" w="38100">
            <a:solidFill>
              <a:srgbClr val="F4B740"/>
            </a:solidFill>
            <a:prstDash val="solid"/>
            <a:round/>
            <a:headEnd len="sm" w="sm" type="none"/>
            <a:tailEnd len="med" w="med" type="triangle"/>
          </a:ln>
        </p:spPr>
      </p:cxnSp>
      <p:sp>
        <p:nvSpPr>
          <p:cNvPr id="95" name="Google Shape;95;p5"/>
          <p:cNvSpPr/>
          <p:nvPr/>
        </p:nvSpPr>
        <p:spPr>
          <a:xfrm>
            <a:off x="9189720" y="2985516"/>
            <a:ext cx="9144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7059"/>
              </a:buClr>
              <a:buSzPts val="1400"/>
              <a:buFont typeface="Noto Sans"/>
              <a:buNone/>
            </a:pPr>
            <a:r>
              <a:rPr b="1" i="0" lang="en-US" sz="1400" u="none" cap="none" strike="noStrike">
                <a:solidFill>
                  <a:srgbClr val="F27059"/>
                </a:solidFill>
                <a:latin typeface="Noto Sans"/>
                <a:ea typeface="Noto Sans"/>
                <a:cs typeface="Noto Sans"/>
                <a:sym typeface="Noto Sans"/>
              </a:rPr>
              <a:t>실패</a:t>
            </a:r>
            <a:endParaRPr b="0" i="0" sz="1400" u="none" cap="none" strike="noStrike">
              <a:solidFill>
                <a:schemeClr val="dk1"/>
              </a:solidFill>
              <a:latin typeface="Calibri"/>
              <a:ea typeface="Calibri"/>
              <a:cs typeface="Calibri"/>
              <a:sym typeface="Calibri"/>
            </a:endParaRPr>
          </a:p>
        </p:txBody>
      </p:sp>
      <p:cxnSp>
        <p:nvCxnSpPr>
          <p:cNvPr id="96" name="Google Shape;96;p5"/>
          <p:cNvCxnSpPr/>
          <p:nvPr/>
        </p:nvCxnSpPr>
        <p:spPr>
          <a:xfrm>
            <a:off x="9144000" y="4096512"/>
            <a:ext cx="0" cy="676656"/>
          </a:xfrm>
          <a:prstGeom prst="straightConnector1">
            <a:avLst/>
          </a:prstGeom>
          <a:noFill/>
          <a:ln cap="flat" cmpd="sng" w="38100">
            <a:solidFill>
              <a:srgbClr val="F4B740"/>
            </a:solidFill>
            <a:prstDash val="solid"/>
            <a:round/>
            <a:headEnd len="sm" w="sm" type="none"/>
            <a:tailEnd len="med" w="med" type="triangle"/>
          </a:ln>
        </p:spPr>
      </p:cxnSp>
      <p:cxnSp>
        <p:nvCxnSpPr>
          <p:cNvPr id="97" name="Google Shape;97;p5"/>
          <p:cNvCxnSpPr/>
          <p:nvPr/>
        </p:nvCxnSpPr>
        <p:spPr>
          <a:xfrm rot="10800000">
            <a:off x="9144000" y="1481328"/>
            <a:ext cx="0" cy="484632"/>
          </a:xfrm>
          <a:prstGeom prst="straightConnector1">
            <a:avLst/>
          </a:prstGeom>
          <a:noFill/>
          <a:ln cap="flat" cmpd="sng" w="38100">
            <a:solidFill>
              <a:srgbClr val="4FD1C5"/>
            </a:solidFill>
            <a:prstDash val="dash"/>
            <a:round/>
            <a:headEnd len="sm" w="sm" type="none"/>
            <a:tailEnd len="sm" w="sm" type="none"/>
          </a:ln>
        </p:spPr>
      </p:cxnSp>
      <p:cxnSp>
        <p:nvCxnSpPr>
          <p:cNvPr id="98" name="Google Shape;98;p5"/>
          <p:cNvCxnSpPr/>
          <p:nvPr/>
        </p:nvCxnSpPr>
        <p:spPr>
          <a:xfrm rot="10800000">
            <a:off x="5394960" y="1481328"/>
            <a:ext cx="3749040" cy="0"/>
          </a:xfrm>
          <a:prstGeom prst="straightConnector1">
            <a:avLst/>
          </a:prstGeom>
          <a:noFill/>
          <a:ln cap="flat" cmpd="sng" w="38100">
            <a:solidFill>
              <a:srgbClr val="4FD1C5"/>
            </a:solidFill>
            <a:prstDash val="dash"/>
            <a:round/>
            <a:headEnd len="sm" w="sm" type="none"/>
            <a:tailEnd len="sm" w="sm" type="none"/>
          </a:ln>
        </p:spPr>
      </p:cxnSp>
      <p:cxnSp>
        <p:nvCxnSpPr>
          <p:cNvPr id="99" name="Google Shape;99;p5"/>
          <p:cNvCxnSpPr/>
          <p:nvPr/>
        </p:nvCxnSpPr>
        <p:spPr>
          <a:xfrm>
            <a:off x="5394960" y="1481328"/>
            <a:ext cx="0" cy="2441448"/>
          </a:xfrm>
          <a:prstGeom prst="straightConnector1">
            <a:avLst/>
          </a:prstGeom>
          <a:noFill/>
          <a:ln cap="flat" cmpd="sng" w="38100">
            <a:solidFill>
              <a:srgbClr val="4FD1C5"/>
            </a:solidFill>
            <a:prstDash val="dash"/>
            <a:round/>
            <a:headEnd len="sm" w="sm" type="none"/>
            <a:tailEnd len="sm" w="sm" type="none"/>
          </a:ln>
        </p:spPr>
      </p:cxnSp>
      <p:cxnSp>
        <p:nvCxnSpPr>
          <p:cNvPr id="100" name="Google Shape;100;p5"/>
          <p:cNvCxnSpPr/>
          <p:nvPr/>
        </p:nvCxnSpPr>
        <p:spPr>
          <a:xfrm rot="10800000">
            <a:off x="4069080" y="3922776"/>
            <a:ext cx="1325880" cy="0"/>
          </a:xfrm>
          <a:prstGeom prst="straightConnector1">
            <a:avLst/>
          </a:prstGeom>
          <a:noFill/>
          <a:ln cap="flat" cmpd="sng" w="38100">
            <a:solidFill>
              <a:srgbClr val="4FD1C5"/>
            </a:solidFill>
            <a:prstDash val="dash"/>
            <a:round/>
            <a:headEnd len="sm" w="sm" type="none"/>
            <a:tailEnd len="med" w="med" type="triangle"/>
          </a:ln>
        </p:spPr>
      </p:cxnSp>
      <p:sp>
        <p:nvSpPr>
          <p:cNvPr id="101" name="Google Shape;101;p5"/>
          <p:cNvSpPr/>
          <p:nvPr/>
        </p:nvSpPr>
        <p:spPr>
          <a:xfrm>
            <a:off x="9290304" y="1563624"/>
            <a:ext cx="822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E39A"/>
              </a:buClr>
              <a:buSzPts val="1400"/>
              <a:buFont typeface="Noto Sans"/>
              <a:buNone/>
            </a:pPr>
            <a:r>
              <a:rPr b="1" i="0" lang="en-US" sz="1400" u="none" cap="none" strike="noStrike">
                <a:solidFill>
                  <a:srgbClr val="6BE39A"/>
                </a:solidFill>
                <a:latin typeface="Noto Sans"/>
                <a:ea typeface="Noto Sans"/>
                <a:cs typeface="Noto Sans"/>
                <a:sym typeface="Noto Sans"/>
              </a:rPr>
              <a:t>성공</a:t>
            </a:r>
            <a:endParaRPr b="0" i="0" sz="1400" u="none" cap="none" strike="noStrike">
              <a:solidFill>
                <a:schemeClr val="dk1"/>
              </a:solidFill>
              <a:latin typeface="Calibri"/>
              <a:ea typeface="Calibri"/>
              <a:cs typeface="Calibri"/>
              <a:sym typeface="Calibri"/>
            </a:endParaRPr>
          </a:p>
        </p:txBody>
      </p:sp>
      <p:sp>
        <p:nvSpPr>
          <p:cNvPr id="102" name="Google Shape;102;p5"/>
          <p:cNvSpPr/>
          <p:nvPr/>
        </p:nvSpPr>
        <p:spPr>
          <a:xfrm>
            <a:off x="6263640" y="1152144"/>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FD1C5"/>
              </a:buClr>
              <a:buSzPts val="1100"/>
              <a:buFont typeface="Noto Sans"/>
              <a:buNone/>
            </a:pPr>
            <a:r>
              <a:rPr b="0" i="1" lang="en-US" sz="1100" u="none" cap="none" strike="noStrike">
                <a:solidFill>
                  <a:srgbClr val="4FD1C5"/>
                </a:solidFill>
                <a:latin typeface="Noto Sans"/>
                <a:ea typeface="Noto Sans"/>
                <a:cs typeface="Noto Sans"/>
                <a:sym typeface="Noto Sans"/>
              </a:rPr>
              <a:t>다음 웨이브 진행</a:t>
            </a:r>
            <a:endParaRPr b="0" i="0" sz="1100" u="none" cap="none" strike="noStrike">
              <a:solidFill>
                <a:schemeClr val="dk1"/>
              </a:solidFill>
              <a:latin typeface="Calibri"/>
              <a:ea typeface="Calibri"/>
              <a:cs typeface="Calibri"/>
              <a:sym typeface="Calibri"/>
            </a:endParaRPr>
          </a:p>
        </p:txBody>
      </p:sp>
      <p:cxnSp>
        <p:nvCxnSpPr>
          <p:cNvPr id="103" name="Google Shape;103;p5"/>
          <p:cNvCxnSpPr/>
          <p:nvPr/>
        </p:nvCxnSpPr>
        <p:spPr>
          <a:xfrm>
            <a:off x="9144000" y="5376672"/>
            <a:ext cx="0" cy="932688"/>
          </a:xfrm>
          <a:prstGeom prst="straightConnector1">
            <a:avLst/>
          </a:prstGeom>
          <a:noFill/>
          <a:ln cap="flat" cmpd="sng" w="38100">
            <a:solidFill>
              <a:srgbClr val="F4B740"/>
            </a:solidFill>
            <a:prstDash val="dash"/>
            <a:round/>
            <a:headEnd len="sm" w="sm" type="none"/>
            <a:tailEnd len="sm" w="sm" type="none"/>
          </a:ln>
        </p:spPr>
      </p:cxnSp>
      <p:cxnSp>
        <p:nvCxnSpPr>
          <p:cNvPr id="104" name="Google Shape;104;p5"/>
          <p:cNvCxnSpPr/>
          <p:nvPr/>
        </p:nvCxnSpPr>
        <p:spPr>
          <a:xfrm rot="10800000">
            <a:off x="548640" y="6309360"/>
            <a:ext cx="8595360" cy="0"/>
          </a:xfrm>
          <a:prstGeom prst="straightConnector1">
            <a:avLst/>
          </a:prstGeom>
          <a:noFill/>
          <a:ln cap="flat" cmpd="sng" w="38100">
            <a:solidFill>
              <a:srgbClr val="F4B740"/>
            </a:solidFill>
            <a:prstDash val="dash"/>
            <a:round/>
            <a:headEnd len="sm" w="sm" type="none"/>
            <a:tailEnd len="sm" w="sm" type="none"/>
          </a:ln>
        </p:spPr>
      </p:cxnSp>
      <p:cxnSp>
        <p:nvCxnSpPr>
          <p:cNvPr id="105" name="Google Shape;105;p5"/>
          <p:cNvCxnSpPr/>
          <p:nvPr/>
        </p:nvCxnSpPr>
        <p:spPr>
          <a:xfrm rot="10800000">
            <a:off x="548640" y="2962656"/>
            <a:ext cx="0" cy="3346704"/>
          </a:xfrm>
          <a:prstGeom prst="straightConnector1">
            <a:avLst/>
          </a:prstGeom>
          <a:noFill/>
          <a:ln cap="flat" cmpd="sng" w="38100">
            <a:solidFill>
              <a:srgbClr val="F4B740"/>
            </a:solidFill>
            <a:prstDash val="dash"/>
            <a:round/>
            <a:headEnd len="sm" w="sm" type="none"/>
            <a:tailEnd len="sm" w="sm" type="none"/>
          </a:ln>
        </p:spPr>
      </p:cxnSp>
      <p:cxnSp>
        <p:nvCxnSpPr>
          <p:cNvPr id="106" name="Google Shape;106;p5"/>
          <p:cNvCxnSpPr/>
          <p:nvPr/>
        </p:nvCxnSpPr>
        <p:spPr>
          <a:xfrm>
            <a:off x="548640" y="2962656"/>
            <a:ext cx="868680" cy="0"/>
          </a:xfrm>
          <a:prstGeom prst="straightConnector1">
            <a:avLst/>
          </a:prstGeom>
          <a:noFill/>
          <a:ln cap="flat" cmpd="sng" w="38100">
            <a:solidFill>
              <a:srgbClr val="F4B740"/>
            </a:solidFill>
            <a:prstDash val="dash"/>
            <a:round/>
            <a:headEnd len="sm" w="sm" type="none"/>
            <a:tailEnd len="med" w="med" type="triangle"/>
          </a:ln>
        </p:spPr>
      </p:cxnSp>
      <p:sp>
        <p:nvSpPr>
          <p:cNvPr id="107" name="Google Shape;107;p5"/>
          <p:cNvSpPr/>
          <p:nvPr/>
        </p:nvSpPr>
        <p:spPr>
          <a:xfrm>
            <a:off x="2560320" y="638251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37A"/>
              </a:buClr>
              <a:buSzPts val="1100"/>
              <a:buFont typeface="Noto Sans"/>
              <a:buNone/>
            </a:pPr>
            <a:r>
              <a:rPr b="0" i="1" lang="en-US" sz="1100" u="none" cap="none" strike="noStrike">
                <a:solidFill>
                  <a:srgbClr val="FFD37A"/>
                </a:solidFill>
                <a:latin typeface="Noto Sans"/>
                <a:ea typeface="Noto Sans"/>
                <a:cs typeface="Noto Sans"/>
                <a:sym typeface="Noto Sans"/>
              </a:rPr>
              <a:t>다음 플레이 (영구 강화 적용)</a:t>
            </a:r>
            <a:endParaRPr b="0" i="0" sz="1100" u="none" cap="none" strike="noStrike">
              <a:solidFill>
                <a:schemeClr val="dk1"/>
              </a:solidFill>
              <a:latin typeface="Calibri"/>
              <a:ea typeface="Calibri"/>
              <a:cs typeface="Calibri"/>
              <a:sym typeface="Calibri"/>
            </a:endParaRPr>
          </a:p>
        </p:txBody>
      </p:sp>
      <p:sp>
        <p:nvSpPr>
          <p:cNvPr id="108" name="Google Shape;108;p5"/>
          <p:cNvSpPr/>
          <p:nvPr/>
        </p:nvSpPr>
        <p:spPr>
          <a:xfrm>
            <a:off x="7863840" y="365760"/>
            <a:ext cx="420624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4B740"/>
              </a:buClr>
              <a:buSzPts val="1100"/>
              <a:buFont typeface="Noto Sans"/>
              <a:buNone/>
            </a:pPr>
            <a:r>
              <a:rPr b="0" i="0" lang="en-US" sz="1800" u="none" cap="none" strike="noStrike">
                <a:solidFill>
                  <a:srgbClr val="F4B740"/>
                </a:solidFill>
                <a:latin typeface="Noto Sans"/>
                <a:ea typeface="Noto Sans"/>
                <a:cs typeface="Noto Sans"/>
                <a:sym typeface="Noto Sans"/>
              </a:rPr>
              <a:t>▭ </a:t>
            </a:r>
            <a:r>
              <a:rPr b="0" i="0" lang="en-US" sz="1800" u="none" cap="none" strike="noStrike">
                <a:solidFill>
                  <a:srgbClr val="C7D2F0"/>
                </a:solidFill>
                <a:latin typeface="Noto Sans"/>
                <a:ea typeface="Noto Sans"/>
                <a:cs typeface="Noto Sans"/>
                <a:sym typeface="Noto Sans"/>
              </a:rPr>
              <a:t>처리 과정   </a:t>
            </a:r>
            <a:r>
              <a:rPr b="0" i="0" lang="en-US" sz="1800" u="none" cap="none" strike="noStrike">
                <a:solidFill>
                  <a:srgbClr val="F27059"/>
                </a:solidFill>
                <a:latin typeface="Noto Sans"/>
                <a:ea typeface="Noto Sans"/>
                <a:cs typeface="Noto Sans"/>
                <a:sym typeface="Noto Sans"/>
              </a:rPr>
              <a:t>◇ </a:t>
            </a:r>
            <a:r>
              <a:rPr b="0" i="0" lang="en-US" sz="1800" u="none" cap="none" strike="noStrike">
                <a:solidFill>
                  <a:srgbClr val="C7D2F0"/>
                </a:solidFill>
                <a:latin typeface="Noto Sans"/>
                <a:ea typeface="Noto Sans"/>
                <a:cs typeface="Noto Sans"/>
                <a:sym typeface="Noto Sans"/>
              </a:rPr>
              <a:t>조건 분기   </a:t>
            </a:r>
            <a:r>
              <a:rPr b="0" i="0" lang="en-US" sz="1800" u="none" cap="none" strike="noStrike">
                <a:solidFill>
                  <a:srgbClr val="4FD1C5"/>
                </a:solidFill>
                <a:latin typeface="Noto Sans"/>
                <a:ea typeface="Noto Sans"/>
                <a:cs typeface="Noto Sans"/>
                <a:sym typeface="Noto Sans"/>
              </a:rPr>
              <a:t>⇠ </a:t>
            </a:r>
            <a:r>
              <a:rPr b="0" i="0" lang="en-US" sz="1800" u="none" cap="none" strike="noStrike">
                <a:solidFill>
                  <a:srgbClr val="C7D2F0"/>
                </a:solidFill>
                <a:latin typeface="Noto Sans"/>
                <a:ea typeface="Noto Sans"/>
                <a:cs typeface="Noto Sans"/>
                <a:sym typeface="Noto Sans"/>
              </a:rPr>
              <a:t>반복 흐</a:t>
            </a:r>
            <a:r>
              <a:rPr lang="en-US" sz="1800">
                <a:solidFill>
                  <a:srgbClr val="C7D2F0"/>
                </a:solidFill>
                <a:latin typeface="Noto Sans"/>
                <a:ea typeface="Noto Sans"/>
                <a:cs typeface="Noto Sans"/>
                <a:sym typeface="Noto Sans"/>
              </a:rPr>
              <a:t>름</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113" name="Shape 113"/>
        <p:cNvGrpSpPr/>
        <p:nvPr/>
      </p:nvGrpSpPr>
      <p:grpSpPr>
        <a:xfrm>
          <a:off x="0" y="0"/>
          <a:ext cx="0" cy="0"/>
          <a:chOff x="0" y="0"/>
          <a:chExt cx="0" cy="0"/>
        </a:xfrm>
      </p:grpSpPr>
      <p:sp>
        <p:nvSpPr>
          <p:cNvPr id="114" name="Google Shape;114;p6"/>
          <p:cNvSpPr/>
          <p:nvPr/>
        </p:nvSpPr>
        <p:spPr>
          <a:xfrm>
            <a:off x="640080" y="411480"/>
            <a:ext cx="100584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B740"/>
              </a:buClr>
              <a:buSzPts val="3000"/>
              <a:buFont typeface="Noto Sans"/>
              <a:buNone/>
            </a:pPr>
            <a:r>
              <a:rPr b="1" i="0" lang="en-US" sz="3000" u="none" cap="none" strike="noStrike">
                <a:solidFill>
                  <a:srgbClr val="F4B740"/>
                </a:solidFill>
                <a:latin typeface="Noto Sans"/>
                <a:ea typeface="Noto Sans"/>
                <a:cs typeface="Noto Sans"/>
                <a:sym typeface="Noto Sans"/>
              </a:rPr>
              <a:t>03  </a:t>
            </a:r>
            <a:r>
              <a:rPr b="1" i="0" lang="en-US" sz="3000" u="none" cap="none" strike="noStrike">
                <a:solidFill>
                  <a:srgbClr val="1B2340"/>
                </a:solidFill>
                <a:latin typeface="Noto Sans"/>
                <a:ea typeface="Noto Sans"/>
                <a:cs typeface="Noto Sans"/>
                <a:sym typeface="Noto Sans"/>
              </a:rPr>
              <a:t>담당 구현 기능</a:t>
            </a:r>
            <a:endParaRPr b="0" i="0" sz="3000" u="none" cap="none" strike="noStrike">
              <a:solidFill>
                <a:schemeClr val="dk1"/>
              </a:solidFill>
              <a:latin typeface="Calibri"/>
              <a:ea typeface="Calibri"/>
              <a:cs typeface="Calibri"/>
              <a:sym typeface="Calibri"/>
            </a:endParaRPr>
          </a:p>
        </p:txBody>
      </p:sp>
      <p:sp>
        <p:nvSpPr>
          <p:cNvPr id="115" name="Google Shape;115;p6"/>
          <p:cNvSpPr/>
          <p:nvPr/>
        </p:nvSpPr>
        <p:spPr>
          <a:xfrm>
            <a:off x="658368" y="1051560"/>
            <a:ext cx="10972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80"/>
              </a:buClr>
              <a:buSzPts val="1400"/>
              <a:buFont typeface="Noto Sans"/>
              <a:buNone/>
            </a:pPr>
            <a:r>
              <a:rPr b="0" i="0" lang="en-US" sz="1400" u="none" cap="none" strike="noStrike">
                <a:solidFill>
                  <a:srgbClr val="5B6480"/>
                </a:solidFill>
                <a:latin typeface="Noto Sans"/>
                <a:ea typeface="Noto Sans"/>
                <a:cs typeface="Noto Sans"/>
                <a:sym typeface="Noto Sans"/>
              </a:rPr>
              <a:t>프로젝트에서 담당한 주요 시스템과 구현 기능입니다.</a:t>
            </a:r>
            <a:endParaRPr b="0" i="0" sz="1400" u="none" cap="none" strike="noStrike">
              <a:solidFill>
                <a:schemeClr val="dk1"/>
              </a:solidFill>
              <a:latin typeface="Calibri"/>
              <a:ea typeface="Calibri"/>
              <a:cs typeface="Calibri"/>
              <a:sym typeface="Calibri"/>
            </a:endParaRPr>
          </a:p>
        </p:txBody>
      </p:sp>
      <p:sp>
        <p:nvSpPr>
          <p:cNvPr id="116" name="Google Shape;116;p6"/>
          <p:cNvSpPr/>
          <p:nvPr/>
        </p:nvSpPr>
        <p:spPr>
          <a:xfrm>
            <a:off x="640080" y="1600200"/>
            <a:ext cx="5486400" cy="960120"/>
          </a:xfrm>
          <a:prstGeom prst="roundRect">
            <a:avLst>
              <a:gd fmla="val 6667"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859536" y="1897380"/>
            <a:ext cx="365760" cy="365760"/>
          </a:xfrm>
          <a:prstGeom prst="ellipse">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859536" y="189738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Noto Sans"/>
              <a:buNone/>
            </a:pPr>
            <a:r>
              <a:rPr b="1" i="0" lang="en-US" sz="1400" u="none" cap="none" strike="noStrike">
                <a:solidFill>
                  <a:srgbClr val="FFFFFF"/>
                </a:solidFill>
                <a:latin typeface="Noto Sans"/>
                <a:ea typeface="Noto Sans"/>
                <a:cs typeface="Noto Sans"/>
                <a:sym typeface="Noto Sans"/>
              </a:rPr>
              <a:t>1</a:t>
            </a:r>
            <a:endParaRPr b="0" i="0" sz="1400" u="none" cap="none" strike="noStrike">
              <a:solidFill>
                <a:schemeClr val="dk1"/>
              </a:solidFill>
              <a:latin typeface="Calibri"/>
              <a:ea typeface="Calibri"/>
              <a:cs typeface="Calibri"/>
              <a:sym typeface="Calibri"/>
            </a:endParaRPr>
          </a:p>
        </p:txBody>
      </p:sp>
      <p:sp>
        <p:nvSpPr>
          <p:cNvPr id="119" name="Google Shape;119;p6"/>
          <p:cNvSpPr/>
          <p:nvPr/>
        </p:nvSpPr>
        <p:spPr>
          <a:xfrm>
            <a:off x="1371600" y="1728216"/>
            <a:ext cx="4572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500"/>
              <a:buFont typeface="Noto Sans"/>
              <a:buNone/>
            </a:pPr>
            <a:r>
              <a:rPr b="1" i="0" lang="en-US" sz="1500" u="none" cap="none" strike="noStrike">
                <a:solidFill>
                  <a:srgbClr val="1B2340"/>
                </a:solidFill>
                <a:latin typeface="Noto Sans"/>
                <a:ea typeface="Noto Sans"/>
                <a:cs typeface="Noto Sans"/>
                <a:sym typeface="Noto Sans"/>
              </a:rPr>
              <a:t>레벨업 카드 선택</a:t>
            </a:r>
            <a:endParaRPr b="0" i="0" sz="1500" u="none" cap="none" strike="noStrike">
              <a:solidFill>
                <a:schemeClr val="dk1"/>
              </a:solidFill>
              <a:latin typeface="Calibri"/>
              <a:ea typeface="Calibri"/>
              <a:cs typeface="Calibri"/>
              <a:sym typeface="Calibri"/>
            </a:endParaRPr>
          </a:p>
        </p:txBody>
      </p:sp>
      <p:sp>
        <p:nvSpPr>
          <p:cNvPr id="120" name="Google Shape;120;p6"/>
          <p:cNvSpPr/>
          <p:nvPr/>
        </p:nvSpPr>
        <p:spPr>
          <a:xfrm>
            <a:off x="1371600" y="2075688"/>
            <a:ext cx="448056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5607D"/>
              </a:buClr>
              <a:buSzPts val="1150"/>
              <a:buFont typeface="Noto Sans"/>
              <a:buNone/>
            </a:pPr>
            <a:r>
              <a:rPr b="0" i="0" lang="en-US" sz="1150" u="none" cap="none" strike="noStrike">
                <a:solidFill>
                  <a:srgbClr val="55607D"/>
                </a:solidFill>
                <a:latin typeface="Noto Sans"/>
                <a:ea typeface="Noto Sans"/>
                <a:cs typeface="Noto Sans"/>
                <a:sym typeface="Noto Sans"/>
              </a:rPr>
              <a:t>레벨업 시 카드를 선택하여 성장하는 시스템</a:t>
            </a:r>
            <a:endParaRPr b="0" i="0" sz="1150" u="none" cap="none" strike="noStrike">
              <a:solidFill>
                <a:schemeClr val="dk1"/>
              </a:solidFill>
              <a:latin typeface="Calibri"/>
              <a:ea typeface="Calibri"/>
              <a:cs typeface="Calibri"/>
              <a:sym typeface="Calibri"/>
            </a:endParaRPr>
          </a:p>
        </p:txBody>
      </p:sp>
      <p:sp>
        <p:nvSpPr>
          <p:cNvPr id="121" name="Google Shape;121;p6"/>
          <p:cNvSpPr/>
          <p:nvPr/>
        </p:nvSpPr>
        <p:spPr>
          <a:xfrm>
            <a:off x="6400800" y="1600200"/>
            <a:ext cx="5486400" cy="960120"/>
          </a:xfrm>
          <a:prstGeom prst="roundRect">
            <a:avLst>
              <a:gd fmla="val 6667"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6620256" y="1897380"/>
            <a:ext cx="365760" cy="365760"/>
          </a:xfrm>
          <a:prstGeom prst="ellipse">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6620256" y="189738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Noto Sans"/>
              <a:buNone/>
            </a:pPr>
            <a:r>
              <a:rPr b="1" i="0" lang="en-US" sz="1400" u="none" cap="none" strike="noStrike">
                <a:solidFill>
                  <a:srgbClr val="FFFFFF"/>
                </a:solidFill>
                <a:latin typeface="Noto Sans"/>
                <a:ea typeface="Noto Sans"/>
                <a:cs typeface="Noto Sans"/>
                <a:sym typeface="Noto Sans"/>
              </a:rPr>
              <a:t>2</a:t>
            </a:r>
            <a:endParaRPr b="0" i="0" sz="1400" u="none" cap="none" strike="noStrike">
              <a:solidFill>
                <a:schemeClr val="dk1"/>
              </a:solidFill>
              <a:latin typeface="Calibri"/>
              <a:ea typeface="Calibri"/>
              <a:cs typeface="Calibri"/>
              <a:sym typeface="Calibri"/>
            </a:endParaRPr>
          </a:p>
        </p:txBody>
      </p:sp>
      <p:sp>
        <p:nvSpPr>
          <p:cNvPr id="124" name="Google Shape;124;p6"/>
          <p:cNvSpPr/>
          <p:nvPr/>
        </p:nvSpPr>
        <p:spPr>
          <a:xfrm>
            <a:off x="7132320" y="1728216"/>
            <a:ext cx="4572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500"/>
              <a:buFont typeface="Noto Sans"/>
              <a:buNone/>
            </a:pPr>
            <a:r>
              <a:rPr b="1" lang="en-US" sz="1500">
                <a:solidFill>
                  <a:srgbClr val="1B2340"/>
                </a:solidFill>
                <a:latin typeface="Noto Sans"/>
                <a:ea typeface="Noto Sans"/>
                <a:cs typeface="Noto Sans"/>
                <a:sym typeface="Noto Sans"/>
              </a:rPr>
              <a:t>스킬 버튼 SFX · VFX </a:t>
            </a:r>
            <a:endParaRPr b="0" i="0" sz="1500" u="none" cap="none" strike="noStrike">
              <a:solidFill>
                <a:schemeClr val="dk1"/>
              </a:solidFill>
              <a:latin typeface="Calibri"/>
              <a:ea typeface="Calibri"/>
              <a:cs typeface="Calibri"/>
              <a:sym typeface="Calibri"/>
            </a:endParaRPr>
          </a:p>
        </p:txBody>
      </p:sp>
      <p:sp>
        <p:nvSpPr>
          <p:cNvPr id="125" name="Google Shape;125;p6"/>
          <p:cNvSpPr/>
          <p:nvPr/>
        </p:nvSpPr>
        <p:spPr>
          <a:xfrm>
            <a:off x="7132320" y="2075688"/>
            <a:ext cx="448056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5607D"/>
              </a:buClr>
              <a:buSzPts val="1150"/>
              <a:buFont typeface="Noto Sans"/>
              <a:buNone/>
            </a:pPr>
            <a:r>
              <a:rPr b="0" i="0" lang="en-US" sz="1150" u="none" cap="none" strike="noStrike">
                <a:solidFill>
                  <a:srgbClr val="55607D"/>
                </a:solidFill>
                <a:latin typeface="Noto Sans"/>
                <a:ea typeface="Noto Sans"/>
                <a:cs typeface="Noto Sans"/>
                <a:sym typeface="Noto Sans"/>
              </a:rPr>
              <a:t>사용 가능 여부와 강화 상태를 시각·청각 효과로 안내</a:t>
            </a:r>
            <a:endParaRPr b="0" i="0" sz="1150" u="none" cap="none" strike="noStrike">
              <a:solidFill>
                <a:schemeClr val="dk1"/>
              </a:solidFill>
              <a:latin typeface="Calibri"/>
              <a:ea typeface="Calibri"/>
              <a:cs typeface="Calibri"/>
              <a:sym typeface="Calibri"/>
            </a:endParaRPr>
          </a:p>
        </p:txBody>
      </p:sp>
      <p:sp>
        <p:nvSpPr>
          <p:cNvPr id="126" name="Google Shape;126;p6"/>
          <p:cNvSpPr/>
          <p:nvPr/>
        </p:nvSpPr>
        <p:spPr>
          <a:xfrm>
            <a:off x="640080" y="2761488"/>
            <a:ext cx="5486400" cy="960120"/>
          </a:xfrm>
          <a:prstGeom prst="roundRect">
            <a:avLst>
              <a:gd fmla="val 6667"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859536" y="3058668"/>
            <a:ext cx="365760" cy="365760"/>
          </a:xfrm>
          <a:prstGeom prst="ellipse">
            <a:avLst/>
          </a:prstGeom>
          <a:solidFill>
            <a:srgbClr val="F270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a:off x="859536" y="305866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Noto Sans"/>
              <a:buNone/>
            </a:pPr>
            <a:r>
              <a:rPr b="1" i="0" lang="en-US" sz="1400" u="none" cap="none" strike="noStrike">
                <a:solidFill>
                  <a:srgbClr val="FFFFFF"/>
                </a:solidFill>
                <a:latin typeface="Noto Sans"/>
                <a:ea typeface="Noto Sans"/>
                <a:cs typeface="Noto Sans"/>
                <a:sym typeface="Noto Sans"/>
              </a:rPr>
              <a:t>3</a:t>
            </a:r>
            <a:endParaRPr b="0" i="0" sz="1400" u="none" cap="none" strike="noStrike">
              <a:solidFill>
                <a:schemeClr val="dk1"/>
              </a:solidFill>
              <a:latin typeface="Calibri"/>
              <a:ea typeface="Calibri"/>
              <a:cs typeface="Calibri"/>
              <a:sym typeface="Calibri"/>
            </a:endParaRPr>
          </a:p>
        </p:txBody>
      </p:sp>
      <p:sp>
        <p:nvSpPr>
          <p:cNvPr id="129" name="Google Shape;129;p6"/>
          <p:cNvSpPr/>
          <p:nvPr/>
        </p:nvSpPr>
        <p:spPr>
          <a:xfrm>
            <a:off x="1371600" y="2889504"/>
            <a:ext cx="4572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500"/>
              <a:buFont typeface="Noto Sans"/>
              <a:buNone/>
            </a:pPr>
            <a:r>
              <a:rPr b="1" lang="en-US" sz="1500">
                <a:solidFill>
                  <a:srgbClr val="1B2340"/>
                </a:solidFill>
                <a:latin typeface="Noto Sans"/>
                <a:ea typeface="Noto Sans"/>
                <a:cs typeface="Noto Sans"/>
                <a:sym typeface="Noto Sans"/>
              </a:rPr>
              <a:t>UI 애니메이션 연출 </a:t>
            </a:r>
            <a:endParaRPr b="0" i="0" sz="1500" u="none" cap="none" strike="noStrike">
              <a:solidFill>
                <a:schemeClr val="dk1"/>
              </a:solidFill>
              <a:latin typeface="Calibri"/>
              <a:ea typeface="Calibri"/>
              <a:cs typeface="Calibri"/>
              <a:sym typeface="Calibri"/>
            </a:endParaRPr>
          </a:p>
        </p:txBody>
      </p:sp>
      <p:sp>
        <p:nvSpPr>
          <p:cNvPr id="130" name="Google Shape;130;p6"/>
          <p:cNvSpPr/>
          <p:nvPr/>
        </p:nvSpPr>
        <p:spPr>
          <a:xfrm>
            <a:off x="1371600" y="3236976"/>
            <a:ext cx="448056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5607D"/>
              </a:buClr>
              <a:buSzPts val="1150"/>
              <a:buFont typeface="Noto Sans"/>
              <a:buNone/>
            </a:pPr>
            <a:r>
              <a:rPr b="0" i="0" lang="en-US" sz="1150" u="none" cap="none" strike="noStrike">
                <a:solidFill>
                  <a:srgbClr val="55607D"/>
                </a:solidFill>
                <a:latin typeface="Noto Sans"/>
                <a:ea typeface="Noto Sans"/>
                <a:cs typeface="Noto Sans"/>
                <a:sym typeface="Noto Sans"/>
              </a:rPr>
              <a:t>DOTween을 활용한 자연스러운 UI 애니메이션</a:t>
            </a:r>
            <a:endParaRPr b="0" i="0" sz="1150" u="none" cap="none" strike="noStrike">
              <a:solidFill>
                <a:schemeClr val="dk1"/>
              </a:solidFill>
              <a:latin typeface="Calibri"/>
              <a:ea typeface="Calibri"/>
              <a:cs typeface="Calibri"/>
              <a:sym typeface="Calibri"/>
            </a:endParaRPr>
          </a:p>
        </p:txBody>
      </p:sp>
      <p:sp>
        <p:nvSpPr>
          <p:cNvPr id="131" name="Google Shape;131;p6"/>
          <p:cNvSpPr/>
          <p:nvPr/>
        </p:nvSpPr>
        <p:spPr>
          <a:xfrm>
            <a:off x="6400800" y="2761488"/>
            <a:ext cx="5486400" cy="960120"/>
          </a:xfrm>
          <a:prstGeom prst="roundRect">
            <a:avLst>
              <a:gd fmla="val 6667"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a:off x="6620256" y="3058668"/>
            <a:ext cx="365760" cy="365760"/>
          </a:xfrm>
          <a:prstGeom prst="ellipse">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p:nvPr/>
        </p:nvSpPr>
        <p:spPr>
          <a:xfrm>
            <a:off x="6620256" y="305866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Noto Sans"/>
              <a:buNone/>
            </a:pPr>
            <a:r>
              <a:rPr b="1" i="0" lang="en-US" sz="1400" u="none" cap="none" strike="noStrike">
                <a:solidFill>
                  <a:srgbClr val="FFFFFF"/>
                </a:solidFill>
                <a:latin typeface="Noto Sans"/>
                <a:ea typeface="Noto Sans"/>
                <a:cs typeface="Noto Sans"/>
                <a:sym typeface="Noto Sans"/>
              </a:rPr>
              <a:t>4</a:t>
            </a:r>
            <a:endParaRPr b="0" i="0" sz="1400" u="none" cap="none" strike="noStrike">
              <a:solidFill>
                <a:schemeClr val="dk1"/>
              </a:solidFill>
              <a:latin typeface="Calibri"/>
              <a:ea typeface="Calibri"/>
              <a:cs typeface="Calibri"/>
              <a:sym typeface="Calibri"/>
            </a:endParaRPr>
          </a:p>
        </p:txBody>
      </p:sp>
      <p:sp>
        <p:nvSpPr>
          <p:cNvPr id="134" name="Google Shape;134;p6"/>
          <p:cNvSpPr/>
          <p:nvPr/>
        </p:nvSpPr>
        <p:spPr>
          <a:xfrm>
            <a:off x="7132320" y="2889504"/>
            <a:ext cx="457200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4FD1C5"/>
              </a:buClr>
              <a:buSzPts val="2600"/>
              <a:buFont typeface="Noto Sans"/>
              <a:buNone/>
            </a:pPr>
            <a:r>
              <a:rPr b="1" lang="en-US" sz="1500">
                <a:solidFill>
                  <a:srgbClr val="1B2340"/>
                </a:solidFill>
                <a:latin typeface="Noto Sans"/>
                <a:ea typeface="Noto Sans"/>
                <a:cs typeface="Noto Sans"/>
                <a:sym typeface="Noto Sans"/>
              </a:rPr>
              <a:t>보스 체력 피드백 UI </a:t>
            </a:r>
            <a:endParaRPr b="0" i="0" sz="1500" u="none" cap="none" strike="noStrike">
              <a:solidFill>
                <a:schemeClr val="dk1"/>
              </a:solidFill>
              <a:latin typeface="Calibri"/>
              <a:ea typeface="Calibri"/>
              <a:cs typeface="Calibri"/>
              <a:sym typeface="Calibri"/>
            </a:endParaRPr>
          </a:p>
        </p:txBody>
      </p:sp>
      <p:sp>
        <p:nvSpPr>
          <p:cNvPr id="135" name="Google Shape;135;p6"/>
          <p:cNvSpPr/>
          <p:nvPr/>
        </p:nvSpPr>
        <p:spPr>
          <a:xfrm>
            <a:off x="7132320" y="3236976"/>
            <a:ext cx="448056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5607D"/>
              </a:buClr>
              <a:buSzPts val="1150"/>
              <a:buFont typeface="Noto Sans"/>
              <a:buNone/>
            </a:pPr>
            <a:r>
              <a:rPr b="0" i="0" lang="en-US" sz="1150" u="none" cap="none" strike="noStrike">
                <a:solidFill>
                  <a:srgbClr val="55607D"/>
                </a:solidFill>
                <a:latin typeface="Noto Sans"/>
                <a:ea typeface="Noto Sans"/>
                <a:cs typeface="Noto Sans"/>
                <a:sym typeface="Noto Sans"/>
              </a:rPr>
              <a:t>보스 체력과 성장 진행도를 표시하는 UI</a:t>
            </a:r>
            <a:endParaRPr b="0" i="0" sz="1150" u="none" cap="none" strike="noStrike">
              <a:solidFill>
                <a:schemeClr val="dk1"/>
              </a:solidFill>
              <a:latin typeface="Calibri"/>
              <a:ea typeface="Calibri"/>
              <a:cs typeface="Calibri"/>
              <a:sym typeface="Calibri"/>
            </a:endParaRPr>
          </a:p>
        </p:txBody>
      </p:sp>
      <p:sp>
        <p:nvSpPr>
          <p:cNvPr id="136" name="Google Shape;136;p6"/>
          <p:cNvSpPr/>
          <p:nvPr/>
        </p:nvSpPr>
        <p:spPr>
          <a:xfrm>
            <a:off x="640080" y="3922776"/>
            <a:ext cx="5486400" cy="960120"/>
          </a:xfrm>
          <a:prstGeom prst="roundRect">
            <a:avLst>
              <a:gd fmla="val 6667"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859536" y="4219956"/>
            <a:ext cx="365760" cy="365760"/>
          </a:xfrm>
          <a:prstGeom prst="ellipse">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859536" y="4219956"/>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Noto Sans"/>
              <a:buNone/>
            </a:pPr>
            <a:r>
              <a:rPr b="1" i="0" lang="en-US" sz="1400" u="none" cap="none" strike="noStrike">
                <a:solidFill>
                  <a:srgbClr val="FFFFFF"/>
                </a:solidFill>
                <a:latin typeface="Noto Sans"/>
                <a:ea typeface="Noto Sans"/>
                <a:cs typeface="Noto Sans"/>
                <a:sym typeface="Noto Sans"/>
              </a:rPr>
              <a:t>5</a:t>
            </a:r>
            <a:endParaRPr b="0" i="0" sz="1400" u="none" cap="none" strike="noStrike">
              <a:solidFill>
                <a:schemeClr val="dk1"/>
              </a:solidFill>
              <a:latin typeface="Calibri"/>
              <a:ea typeface="Calibri"/>
              <a:cs typeface="Calibri"/>
              <a:sym typeface="Calibri"/>
            </a:endParaRPr>
          </a:p>
        </p:txBody>
      </p:sp>
      <p:sp>
        <p:nvSpPr>
          <p:cNvPr id="139" name="Google Shape;139;p6"/>
          <p:cNvSpPr/>
          <p:nvPr/>
        </p:nvSpPr>
        <p:spPr>
          <a:xfrm>
            <a:off x="1371600" y="4050792"/>
            <a:ext cx="4572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500"/>
              <a:buFont typeface="Noto Sans"/>
              <a:buNone/>
            </a:pPr>
            <a:r>
              <a:rPr b="1" lang="en-US" sz="1500">
                <a:solidFill>
                  <a:srgbClr val="1B2340"/>
                </a:solidFill>
                <a:latin typeface="Noto Sans"/>
                <a:ea typeface="Noto Sans"/>
                <a:cs typeface="Noto Sans"/>
                <a:sym typeface="Noto Sans"/>
              </a:rPr>
              <a:t>오디오 관리 시스템 </a:t>
            </a:r>
            <a:endParaRPr b="0" i="0" sz="1500" u="none" cap="none" strike="noStrike">
              <a:solidFill>
                <a:schemeClr val="dk1"/>
              </a:solidFill>
              <a:latin typeface="Calibri"/>
              <a:ea typeface="Calibri"/>
              <a:cs typeface="Calibri"/>
              <a:sym typeface="Calibri"/>
            </a:endParaRPr>
          </a:p>
        </p:txBody>
      </p:sp>
      <p:sp>
        <p:nvSpPr>
          <p:cNvPr id="140" name="Google Shape;140;p6"/>
          <p:cNvSpPr/>
          <p:nvPr/>
        </p:nvSpPr>
        <p:spPr>
          <a:xfrm>
            <a:off x="1371600" y="4398264"/>
            <a:ext cx="448056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5607D"/>
              </a:buClr>
              <a:buSzPts val="1150"/>
              <a:buFont typeface="Noto Sans"/>
              <a:buNone/>
            </a:pPr>
            <a:r>
              <a:rPr b="0" i="0" lang="en-US" sz="1150" u="none" cap="none" strike="noStrike">
                <a:solidFill>
                  <a:srgbClr val="55607D"/>
                </a:solidFill>
                <a:latin typeface="Noto Sans"/>
                <a:ea typeface="Noto Sans"/>
                <a:cs typeface="Noto Sans"/>
                <a:sym typeface="Noto Sans"/>
              </a:rPr>
              <a:t>배경음악 전환 및 볼륨 설정 관리</a:t>
            </a:r>
            <a:endParaRPr b="0" i="0" sz="1150" u="none" cap="none" strike="noStrike">
              <a:solidFill>
                <a:schemeClr val="dk1"/>
              </a:solidFill>
              <a:latin typeface="Calibri"/>
              <a:ea typeface="Calibri"/>
              <a:cs typeface="Calibri"/>
              <a:sym typeface="Calibri"/>
            </a:endParaRPr>
          </a:p>
        </p:txBody>
      </p:sp>
      <p:sp>
        <p:nvSpPr>
          <p:cNvPr id="141" name="Google Shape;141;p6"/>
          <p:cNvSpPr/>
          <p:nvPr/>
        </p:nvSpPr>
        <p:spPr>
          <a:xfrm>
            <a:off x="6400800" y="3922776"/>
            <a:ext cx="5486400" cy="960120"/>
          </a:xfrm>
          <a:prstGeom prst="roundRect">
            <a:avLst>
              <a:gd fmla="val 6667"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6620256" y="4219956"/>
            <a:ext cx="365760" cy="365760"/>
          </a:xfrm>
          <a:prstGeom prst="ellipse">
            <a:avLst/>
          </a:prstGeom>
          <a:solidFill>
            <a:srgbClr val="F270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6620256" y="4219956"/>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Noto Sans"/>
              <a:buNone/>
            </a:pPr>
            <a:r>
              <a:rPr b="1" i="0" lang="en-US" sz="1400" u="none" cap="none" strike="noStrike">
                <a:solidFill>
                  <a:srgbClr val="FFFFFF"/>
                </a:solidFill>
                <a:latin typeface="Noto Sans"/>
                <a:ea typeface="Noto Sans"/>
                <a:cs typeface="Noto Sans"/>
                <a:sym typeface="Noto Sans"/>
              </a:rPr>
              <a:t>6</a:t>
            </a:r>
            <a:endParaRPr b="0" i="0" sz="1400" u="none" cap="none" strike="noStrike">
              <a:solidFill>
                <a:schemeClr val="dk1"/>
              </a:solidFill>
              <a:latin typeface="Calibri"/>
              <a:ea typeface="Calibri"/>
              <a:cs typeface="Calibri"/>
              <a:sym typeface="Calibri"/>
            </a:endParaRPr>
          </a:p>
        </p:txBody>
      </p:sp>
      <p:sp>
        <p:nvSpPr>
          <p:cNvPr id="144" name="Google Shape;144;p6"/>
          <p:cNvSpPr/>
          <p:nvPr/>
        </p:nvSpPr>
        <p:spPr>
          <a:xfrm>
            <a:off x="7132320" y="4050792"/>
            <a:ext cx="4572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500"/>
              <a:buFont typeface="Noto Sans"/>
              <a:buNone/>
            </a:pPr>
            <a:r>
              <a:rPr b="1" lang="en-US" sz="1500">
                <a:solidFill>
                  <a:srgbClr val="1B2340"/>
                </a:solidFill>
                <a:latin typeface="Noto Sans"/>
                <a:ea typeface="Noto Sans"/>
                <a:cs typeface="Noto Sans"/>
                <a:sym typeface="Noto Sans"/>
              </a:rPr>
              <a:t>게임 데이터 저장 시스템 </a:t>
            </a:r>
            <a:endParaRPr b="0" i="0" sz="1500" u="none" cap="none" strike="noStrike">
              <a:solidFill>
                <a:schemeClr val="dk1"/>
              </a:solidFill>
              <a:latin typeface="Calibri"/>
              <a:ea typeface="Calibri"/>
              <a:cs typeface="Calibri"/>
              <a:sym typeface="Calibri"/>
            </a:endParaRPr>
          </a:p>
        </p:txBody>
      </p:sp>
      <p:sp>
        <p:nvSpPr>
          <p:cNvPr id="145" name="Google Shape;145;p6"/>
          <p:cNvSpPr/>
          <p:nvPr/>
        </p:nvSpPr>
        <p:spPr>
          <a:xfrm>
            <a:off x="7132320" y="4398264"/>
            <a:ext cx="448056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5607D"/>
              </a:buClr>
              <a:buSzPts val="1150"/>
              <a:buFont typeface="Noto Sans"/>
              <a:buNone/>
            </a:pPr>
            <a:r>
              <a:rPr b="0" i="0" lang="en-US" sz="1150" u="none" cap="none" strike="noStrike">
                <a:solidFill>
                  <a:srgbClr val="55607D"/>
                </a:solidFill>
                <a:latin typeface="Noto Sans"/>
                <a:ea typeface="Noto Sans"/>
                <a:cs typeface="Noto Sans"/>
                <a:sym typeface="Noto Sans"/>
              </a:rPr>
              <a:t>게임 재화와 성장 데이터를 저장 및 복원</a:t>
            </a:r>
            <a:endParaRPr b="0" i="0" sz="1150" u="none" cap="none" strike="noStrike">
              <a:solidFill>
                <a:schemeClr val="dk1"/>
              </a:solidFill>
              <a:latin typeface="Calibri"/>
              <a:ea typeface="Calibri"/>
              <a:cs typeface="Calibri"/>
              <a:sym typeface="Calibri"/>
            </a:endParaRPr>
          </a:p>
        </p:txBody>
      </p:sp>
      <p:sp>
        <p:nvSpPr>
          <p:cNvPr id="146" name="Google Shape;146;p6"/>
          <p:cNvSpPr/>
          <p:nvPr/>
        </p:nvSpPr>
        <p:spPr>
          <a:xfrm>
            <a:off x="640080" y="5084064"/>
            <a:ext cx="5486400" cy="960120"/>
          </a:xfrm>
          <a:prstGeom prst="roundRect">
            <a:avLst>
              <a:gd fmla="val 6667"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859536" y="5381244"/>
            <a:ext cx="365760" cy="365760"/>
          </a:xfrm>
          <a:prstGeom prst="ellipse">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
          <p:cNvSpPr/>
          <p:nvPr/>
        </p:nvSpPr>
        <p:spPr>
          <a:xfrm>
            <a:off x="859536" y="538124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Noto Sans"/>
              <a:buNone/>
            </a:pPr>
            <a:r>
              <a:rPr b="1" i="0" lang="en-US" sz="1400" u="none" cap="none" strike="noStrike">
                <a:solidFill>
                  <a:srgbClr val="FFFFFF"/>
                </a:solidFill>
                <a:latin typeface="Noto Sans"/>
                <a:ea typeface="Noto Sans"/>
                <a:cs typeface="Noto Sans"/>
                <a:sym typeface="Noto Sans"/>
              </a:rPr>
              <a:t>7</a:t>
            </a:r>
            <a:endParaRPr b="0" i="0" sz="1400" u="none" cap="none" strike="noStrike">
              <a:solidFill>
                <a:schemeClr val="dk1"/>
              </a:solidFill>
              <a:latin typeface="Calibri"/>
              <a:ea typeface="Calibri"/>
              <a:cs typeface="Calibri"/>
              <a:sym typeface="Calibri"/>
            </a:endParaRPr>
          </a:p>
        </p:txBody>
      </p:sp>
      <p:sp>
        <p:nvSpPr>
          <p:cNvPr id="149" name="Google Shape;149;p6"/>
          <p:cNvSpPr/>
          <p:nvPr/>
        </p:nvSpPr>
        <p:spPr>
          <a:xfrm>
            <a:off x="1371600" y="5212080"/>
            <a:ext cx="4572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500"/>
              <a:buFont typeface="Noto Sans"/>
              <a:buNone/>
            </a:pPr>
            <a:r>
              <a:rPr b="1" lang="en-US" sz="1500">
                <a:solidFill>
                  <a:srgbClr val="1B2340"/>
                </a:solidFill>
                <a:latin typeface="Noto Sans"/>
                <a:ea typeface="Noto Sans"/>
                <a:cs typeface="Noto Sans"/>
                <a:sym typeface="Noto Sans"/>
              </a:rPr>
              <a:t>자동 플레이 시스템 </a:t>
            </a:r>
            <a:endParaRPr b="0" i="0" sz="1500" u="none" cap="none" strike="noStrike">
              <a:solidFill>
                <a:schemeClr val="dk1"/>
              </a:solidFill>
              <a:latin typeface="Calibri"/>
              <a:ea typeface="Calibri"/>
              <a:cs typeface="Calibri"/>
              <a:sym typeface="Calibri"/>
            </a:endParaRPr>
          </a:p>
        </p:txBody>
      </p:sp>
      <p:sp>
        <p:nvSpPr>
          <p:cNvPr id="150" name="Google Shape;150;p6"/>
          <p:cNvSpPr/>
          <p:nvPr/>
        </p:nvSpPr>
        <p:spPr>
          <a:xfrm>
            <a:off x="1371600" y="5559552"/>
            <a:ext cx="448056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5607D"/>
              </a:buClr>
              <a:buSzPts val="1150"/>
              <a:buFont typeface="Noto Sans"/>
              <a:buNone/>
            </a:pPr>
            <a:r>
              <a:rPr b="0" i="0" lang="en-US" sz="1150" u="none" cap="none" strike="noStrike">
                <a:solidFill>
                  <a:srgbClr val="55607D"/>
                </a:solidFill>
                <a:latin typeface="Noto Sans"/>
                <a:ea typeface="Noto Sans"/>
                <a:cs typeface="Noto Sans"/>
                <a:sym typeface="Noto Sans"/>
              </a:rPr>
              <a:t>자동 전투, 자동 카드 선택, 2배속 지원</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155" name="Shape 155"/>
        <p:cNvGrpSpPr/>
        <p:nvPr/>
      </p:nvGrpSpPr>
      <p:grpSpPr>
        <a:xfrm>
          <a:off x="0" y="0"/>
          <a:ext cx="0" cy="0"/>
          <a:chOff x="0" y="0"/>
          <a:chExt cx="0" cy="0"/>
        </a:xfrm>
      </p:grpSpPr>
      <p:sp>
        <p:nvSpPr>
          <p:cNvPr id="156" name="Google Shape;156;p7"/>
          <p:cNvSpPr/>
          <p:nvPr/>
        </p:nvSpPr>
        <p:spPr>
          <a:xfrm>
            <a:off x="0" y="0"/>
            <a:ext cx="3931920" cy="6858000"/>
          </a:xfrm>
          <a:prstGeom prst="roundRect">
            <a:avLst>
              <a:gd fmla="val 16667" name="adj"/>
            </a:avLst>
          </a:prstGeom>
          <a:solidFill>
            <a:srgbClr val="0E1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548640" y="640080"/>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B740"/>
              </a:buClr>
              <a:buSzPts val="1200"/>
              <a:buFont typeface="Noto Sans"/>
              <a:buNone/>
            </a:pPr>
            <a:r>
              <a:rPr b="1" i="0" lang="en-US" sz="1800" u="none" cap="none" strike="noStrike">
                <a:solidFill>
                  <a:srgbClr val="F4B740"/>
                </a:solidFill>
                <a:latin typeface="Noto Sans"/>
                <a:ea typeface="Noto Sans"/>
                <a:cs typeface="Noto Sans"/>
                <a:sym typeface="Noto Sans"/>
              </a:rPr>
              <a:t>핵심 설계 01</a:t>
            </a:r>
            <a:endParaRPr b="0" i="0" sz="1800" u="none" cap="none" strike="noStrike">
              <a:solidFill>
                <a:schemeClr val="dk1"/>
              </a:solidFill>
              <a:latin typeface="Calibri"/>
              <a:ea typeface="Calibri"/>
              <a:cs typeface="Calibri"/>
              <a:sym typeface="Calibri"/>
            </a:endParaRPr>
          </a:p>
        </p:txBody>
      </p:sp>
      <p:sp>
        <p:nvSpPr>
          <p:cNvPr id="158" name="Google Shape;158;p7"/>
          <p:cNvSpPr/>
          <p:nvPr/>
        </p:nvSpPr>
        <p:spPr>
          <a:xfrm>
            <a:off x="530352" y="1097280"/>
            <a:ext cx="3246120" cy="18288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FFFFFF"/>
              </a:buClr>
              <a:buSzPts val="2300"/>
              <a:buFont typeface="Noto Sans"/>
              <a:buNone/>
            </a:pPr>
            <a:r>
              <a:rPr b="1" i="0" lang="en-US" sz="2300" u="none" cap="none" strike="noStrike">
                <a:solidFill>
                  <a:srgbClr val="FFFFFF"/>
                </a:solidFill>
                <a:latin typeface="Noto Sans"/>
                <a:ea typeface="Noto Sans"/>
                <a:cs typeface="Noto Sans"/>
                <a:sym typeface="Noto Sans"/>
              </a:rPr>
              <a:t>이벤트 기반 기능 연결</a:t>
            </a:r>
            <a:endParaRPr b="0" i="0" sz="2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2300"/>
              <a:buFont typeface="Noto Sans"/>
              <a:buNone/>
            </a:pPr>
            <a:r>
              <a:rPr b="1" i="0" lang="en-US" sz="2300" u="none" cap="none" strike="noStrike">
                <a:solidFill>
                  <a:srgbClr val="FFFFFF"/>
                </a:solidFill>
                <a:latin typeface="Noto Sans"/>
                <a:ea typeface="Noto Sans"/>
                <a:cs typeface="Noto Sans"/>
                <a:sym typeface="Noto Sans"/>
              </a:rPr>
              <a:t>(옵저버 패턴)</a:t>
            </a:r>
            <a:endParaRPr b="0" i="0" sz="2300" u="none" cap="none" strike="noStrike">
              <a:solidFill>
                <a:schemeClr val="dk1"/>
              </a:solidFill>
              <a:latin typeface="Calibri"/>
              <a:ea typeface="Calibri"/>
              <a:cs typeface="Calibri"/>
              <a:sym typeface="Calibri"/>
            </a:endParaRPr>
          </a:p>
        </p:txBody>
      </p:sp>
      <p:cxnSp>
        <p:nvCxnSpPr>
          <p:cNvPr id="159" name="Google Shape;159;p7"/>
          <p:cNvCxnSpPr/>
          <p:nvPr/>
        </p:nvCxnSpPr>
        <p:spPr>
          <a:xfrm>
            <a:off x="566928" y="3246120"/>
            <a:ext cx="1280160" cy="0"/>
          </a:xfrm>
          <a:prstGeom prst="straightConnector1">
            <a:avLst/>
          </a:prstGeom>
          <a:noFill/>
          <a:ln cap="flat" cmpd="sng" w="31750">
            <a:solidFill>
              <a:srgbClr val="F4B740"/>
            </a:solidFill>
            <a:prstDash val="solid"/>
            <a:round/>
            <a:headEnd len="sm" w="sm" type="none"/>
            <a:tailEnd len="sm" w="sm" type="none"/>
          </a:ln>
        </p:spPr>
      </p:cxnSp>
      <p:sp>
        <p:nvSpPr>
          <p:cNvPr id="160" name="Google Shape;160;p7"/>
          <p:cNvSpPr/>
          <p:nvPr/>
        </p:nvSpPr>
        <p:spPr>
          <a:xfrm>
            <a:off x="548640" y="3429000"/>
            <a:ext cx="3108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2F0"/>
              </a:buClr>
              <a:buSzPts val="1100"/>
              <a:buFont typeface="Noto Sans"/>
              <a:buNone/>
            </a:pPr>
            <a:r>
              <a:rPr b="0" i="0" lang="en-US" sz="1100" u="none" cap="none" strike="noStrike">
                <a:solidFill>
                  <a:srgbClr val="C7D2F0"/>
                </a:solidFill>
                <a:latin typeface="Noto Sans"/>
                <a:ea typeface="Noto Sans"/>
                <a:cs typeface="Noto Sans"/>
                <a:sym typeface="Noto Sans"/>
              </a:rPr>
              <a:t>사용된 패턴 · 기능</a:t>
            </a:r>
            <a:endParaRPr b="0" i="0" sz="1100" u="none" cap="none" strike="noStrike">
              <a:solidFill>
                <a:schemeClr val="dk1"/>
              </a:solidFill>
              <a:latin typeface="Calibri"/>
              <a:ea typeface="Calibri"/>
              <a:cs typeface="Calibri"/>
              <a:sym typeface="Calibri"/>
            </a:endParaRPr>
          </a:p>
        </p:txBody>
      </p:sp>
      <p:sp>
        <p:nvSpPr>
          <p:cNvPr id="161" name="Google Shape;161;p7"/>
          <p:cNvSpPr/>
          <p:nvPr/>
        </p:nvSpPr>
        <p:spPr>
          <a:xfrm>
            <a:off x="548640" y="3749040"/>
            <a:ext cx="3108960" cy="566928"/>
          </a:xfrm>
          <a:prstGeom prst="roundRect">
            <a:avLst>
              <a:gd fmla="val 9677" name="adj"/>
            </a:avLst>
          </a:prstGeom>
          <a:solidFill>
            <a:srgbClr val="223066"/>
          </a:solidFill>
          <a:ln cap="flat" cmpd="sng" w="12700">
            <a:solidFill>
              <a:srgbClr val="F4B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p:nvPr/>
        </p:nvSpPr>
        <p:spPr>
          <a:xfrm>
            <a:off x="640080" y="3749040"/>
            <a:ext cx="292608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D37A"/>
              </a:buClr>
              <a:buSzPts val="1200"/>
              <a:buFont typeface="Noto Sans"/>
              <a:buNone/>
            </a:pPr>
            <a:r>
              <a:rPr b="1" i="0" lang="en-US" sz="1200" u="none" cap="none" strike="noStrike">
                <a:solidFill>
                  <a:srgbClr val="FFD37A"/>
                </a:solidFill>
                <a:latin typeface="Noto Sans"/>
                <a:ea typeface="Noto Sans"/>
                <a:cs typeface="Noto Sans"/>
                <a:sym typeface="Noto Sans"/>
              </a:rPr>
              <a:t>옵저버 패턴 · 이벤트 브로드캐스트</a:t>
            </a:r>
            <a:endParaRPr b="0" i="0" sz="1200" u="none" cap="none" strike="noStrike">
              <a:solidFill>
                <a:schemeClr val="dk1"/>
              </a:solidFill>
              <a:latin typeface="Calibri"/>
              <a:ea typeface="Calibri"/>
              <a:cs typeface="Calibri"/>
              <a:sym typeface="Calibri"/>
            </a:endParaRPr>
          </a:p>
        </p:txBody>
      </p:sp>
      <p:sp>
        <p:nvSpPr>
          <p:cNvPr id="163" name="Google Shape;163;p7"/>
          <p:cNvSpPr/>
          <p:nvPr/>
        </p:nvSpPr>
        <p:spPr>
          <a:xfrm>
            <a:off x="4297680" y="594360"/>
            <a:ext cx="7406640" cy="9144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F4B740"/>
              </a:buClr>
              <a:buSzPts val="1300"/>
              <a:buFont typeface="Noto Sans"/>
              <a:buNone/>
            </a:pPr>
            <a:r>
              <a:rPr b="1" i="0" lang="en-US" u="none" cap="none" strike="noStrike">
                <a:solidFill>
                  <a:srgbClr val="F4B740"/>
                </a:solidFill>
                <a:latin typeface="Noto Sans"/>
                <a:ea typeface="Noto Sans"/>
                <a:cs typeface="Noto Sans"/>
                <a:sym typeface="Noto Sans"/>
              </a:rPr>
              <a:t>이벤트 발생 : </a:t>
            </a:r>
            <a:r>
              <a:rPr b="0" i="0" lang="en-US" u="none" cap="none" strike="noStrike">
                <a:solidFill>
                  <a:srgbClr val="1B2340"/>
                </a:solidFill>
                <a:latin typeface="Noto Sans"/>
                <a:ea typeface="Noto Sans"/>
                <a:cs typeface="Noto Sans"/>
                <a:sym typeface="Noto Sans"/>
              </a:rPr>
              <a:t>특정 조건이 만족되면 이벤트를 한 번만 발생</a:t>
            </a:r>
            <a:br>
              <a:rPr b="0" i="0" lang="en-US" u="none" cap="none" strike="noStrike">
                <a:solidFill>
                  <a:srgbClr val="1B2340"/>
                </a:solidFill>
                <a:latin typeface="Noto Sans"/>
                <a:ea typeface="Noto Sans"/>
                <a:cs typeface="Noto Sans"/>
                <a:sym typeface="Noto Sans"/>
              </a:rPr>
            </a:br>
            <a:r>
              <a:rPr b="1" i="0" lang="en-US" u="none" cap="none" strike="noStrike">
                <a:solidFill>
                  <a:srgbClr val="F4B740"/>
                </a:solidFill>
                <a:latin typeface="Noto Sans"/>
                <a:ea typeface="Noto Sans"/>
                <a:cs typeface="Noto Sans"/>
                <a:sym typeface="Noto Sans"/>
              </a:rPr>
              <a:t>이벤트 구독 : </a:t>
            </a:r>
            <a:r>
              <a:rPr b="0" i="0" lang="en-US" u="none" cap="none" strike="noStrike">
                <a:solidFill>
                  <a:srgbClr val="1B2340"/>
                </a:solidFill>
                <a:latin typeface="Noto Sans"/>
                <a:ea typeface="Noto Sans"/>
                <a:cs typeface="Noto Sans"/>
                <a:sym typeface="Noto Sans"/>
              </a:rPr>
              <a:t>필요한 기능만 이벤트를 구독하여 각자 처리</a:t>
            </a:r>
            <a:endParaRPr b="0" i="0" u="none" cap="none" strike="noStrike">
              <a:solidFill>
                <a:schemeClr val="dk1"/>
              </a:solidFill>
              <a:latin typeface="Calibri"/>
              <a:ea typeface="Calibri"/>
              <a:cs typeface="Calibri"/>
              <a:sym typeface="Calibri"/>
            </a:endParaRPr>
          </a:p>
        </p:txBody>
      </p:sp>
      <p:sp>
        <p:nvSpPr>
          <p:cNvPr id="164" name="Google Shape;164;p7"/>
          <p:cNvSpPr/>
          <p:nvPr/>
        </p:nvSpPr>
        <p:spPr>
          <a:xfrm>
            <a:off x="4297680" y="1956816"/>
            <a:ext cx="7406640" cy="2103120"/>
          </a:xfrm>
          <a:prstGeom prst="roundRect">
            <a:avLst>
              <a:gd fmla="val 3043"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
          <p:cNvSpPr/>
          <p:nvPr/>
        </p:nvSpPr>
        <p:spPr>
          <a:xfrm>
            <a:off x="4297680" y="1956816"/>
            <a:ext cx="82296" cy="2103120"/>
          </a:xfrm>
          <a:prstGeom prst="roundRect">
            <a:avLst>
              <a:gd fmla="val 33333" name="adj"/>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p:nvPr/>
        </p:nvSpPr>
        <p:spPr>
          <a:xfrm>
            <a:off x="4572000" y="2093976"/>
            <a:ext cx="6858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B740"/>
              </a:buClr>
              <a:buSzPts val="1350"/>
              <a:buFont typeface="Noto Sans"/>
              <a:buNone/>
            </a:pPr>
            <a:r>
              <a:rPr b="1" i="0" lang="en-US" sz="1350" u="none" cap="none" strike="noStrike">
                <a:solidFill>
                  <a:srgbClr val="F4B740"/>
                </a:solidFill>
                <a:latin typeface="Noto Sans"/>
                <a:ea typeface="Noto Sans"/>
                <a:cs typeface="Noto Sans"/>
                <a:sym typeface="Noto Sans"/>
              </a:rPr>
              <a:t>성장 흐름 연결</a:t>
            </a:r>
            <a:endParaRPr b="0" i="0" sz="1350" u="none" cap="none" strike="noStrike">
              <a:solidFill>
                <a:schemeClr val="dk1"/>
              </a:solidFill>
              <a:latin typeface="Calibri"/>
              <a:ea typeface="Calibri"/>
              <a:cs typeface="Calibri"/>
              <a:sym typeface="Calibri"/>
            </a:endParaRPr>
          </a:p>
        </p:txBody>
      </p:sp>
      <p:sp>
        <p:nvSpPr>
          <p:cNvPr id="167" name="Google Shape;167;p7"/>
          <p:cNvSpPr/>
          <p:nvPr/>
        </p:nvSpPr>
        <p:spPr>
          <a:xfrm>
            <a:off x="4572000" y="2450592"/>
            <a:ext cx="6949440" cy="1499616"/>
          </a:xfrm>
          <a:prstGeom prst="rect">
            <a:avLst/>
          </a:prstGeom>
          <a:noFill/>
          <a:ln>
            <a:noFill/>
          </a:ln>
        </p:spPr>
        <p:txBody>
          <a:bodyPr anchorCtr="0" anchor="t" bIns="45700" lIns="91425" spcFirstLastPara="1" rIns="91425" wrap="square" tIns="45700">
            <a:noAutofit/>
          </a:bodyPr>
          <a:lstStyle/>
          <a:p>
            <a:pPr indent="-311150" lvl="0" marL="457200" rtl="0" algn="l">
              <a:lnSpc>
                <a:spcPct val="115000"/>
              </a:lnSpc>
              <a:spcBef>
                <a:spcPts val="1200"/>
              </a:spcBef>
              <a:spcAft>
                <a:spcPts val="0"/>
              </a:spcAft>
              <a:buClr>
                <a:schemeClr val="dk1"/>
              </a:buClr>
              <a:buSzPts val="1300"/>
              <a:buChar char="●"/>
            </a:pPr>
            <a:r>
              <a:rPr lang="en-US" sz="1300">
                <a:solidFill>
                  <a:schemeClr val="dk1"/>
                </a:solidFill>
              </a:rPr>
              <a:t>경험치 최대 시 </a:t>
            </a:r>
            <a:r>
              <a:rPr b="1" lang="en-US" sz="1300">
                <a:solidFill>
                  <a:schemeClr val="dk1"/>
                </a:solidFill>
              </a:rPr>
              <a:t>성장 이벤트만 전달</a:t>
            </a:r>
            <a:endParaRPr b="1"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카드 UI · 능력치 · 체력 · 경험치 UI를 </a:t>
            </a:r>
            <a:r>
              <a:rPr b="1" lang="en-US" sz="1300">
                <a:solidFill>
                  <a:schemeClr val="dk1"/>
                </a:solidFill>
              </a:rPr>
              <a:t>각각 독립된 스크립트로 분리</a:t>
            </a:r>
            <a:endParaRPr b="1"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이벤트를 구독한 기능만 </a:t>
            </a:r>
            <a:r>
              <a:rPr b="1" lang="en-US" sz="1300">
                <a:solidFill>
                  <a:schemeClr val="dk1"/>
                </a:solidFill>
              </a:rPr>
              <a:t>필요한 작업 수행</a:t>
            </a:r>
            <a:endParaRPr b="1"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기능 간 </a:t>
            </a:r>
            <a:r>
              <a:rPr b="1" lang="en-US" sz="1300">
                <a:solidFill>
                  <a:schemeClr val="dk1"/>
                </a:solidFill>
              </a:rPr>
              <a:t>직접 호출 없이 이벤트로 연결</a:t>
            </a:r>
            <a:endParaRPr b="1"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기능 추가·수정 시 </a:t>
            </a:r>
            <a:r>
              <a:rPr b="1" lang="en-US" sz="1300">
                <a:solidFill>
                  <a:schemeClr val="dk1"/>
                </a:solidFill>
              </a:rPr>
              <a:t>다른 시스템 영향 최소화</a:t>
            </a:r>
            <a:endParaRPr sz="1300">
              <a:solidFill>
                <a:srgbClr val="3A4460"/>
              </a:solidFill>
              <a:latin typeface="Noto Sans"/>
              <a:ea typeface="Noto Sans"/>
              <a:cs typeface="Noto Sans"/>
              <a:sym typeface="Noto Sans"/>
            </a:endParaRPr>
          </a:p>
        </p:txBody>
      </p:sp>
      <p:sp>
        <p:nvSpPr>
          <p:cNvPr id="168" name="Google Shape;168;p7"/>
          <p:cNvSpPr/>
          <p:nvPr/>
        </p:nvSpPr>
        <p:spPr>
          <a:xfrm>
            <a:off x="4297680" y="4526280"/>
            <a:ext cx="7406640" cy="1965960"/>
          </a:xfrm>
          <a:prstGeom prst="roundRect">
            <a:avLst>
              <a:gd fmla="val 3721" name="adj"/>
            </a:avLst>
          </a:prstGeom>
          <a:solidFill>
            <a:srgbClr val="0E1633"/>
          </a:solidFill>
          <a:ln cap="flat" cmpd="sng" w="15875">
            <a:solidFill>
              <a:srgbClr val="F4B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4572000" y="4663440"/>
            <a:ext cx="69494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B740"/>
              </a:buClr>
              <a:buSzPts val="1400"/>
              <a:buFont typeface="Noto Sans"/>
              <a:buNone/>
            </a:pPr>
            <a:r>
              <a:rPr b="1" lang="en-US">
                <a:solidFill>
                  <a:srgbClr val="F4B740"/>
                </a:solidFill>
                <a:latin typeface="Noto Sans"/>
                <a:ea typeface="Noto Sans"/>
                <a:cs typeface="Noto Sans"/>
                <a:sym typeface="Noto Sans"/>
              </a:rPr>
              <a:t> </a:t>
            </a:r>
            <a:r>
              <a:rPr b="1" i="0" lang="en-US" sz="1250" u="none" cap="none" strike="noStrike">
                <a:solidFill>
                  <a:srgbClr val="F4B740"/>
                </a:solidFill>
                <a:latin typeface="Noto Sans"/>
                <a:ea typeface="Noto Sans"/>
                <a:cs typeface="Noto Sans"/>
                <a:sym typeface="Noto Sans"/>
              </a:rPr>
              <a:t>이 방식을 </a:t>
            </a:r>
            <a:r>
              <a:rPr b="1" lang="en-US" sz="1250">
                <a:solidFill>
                  <a:srgbClr val="F4B740"/>
                </a:solidFill>
                <a:latin typeface="Noto Sans"/>
                <a:ea typeface="Noto Sans"/>
                <a:cs typeface="Noto Sans"/>
                <a:sym typeface="Noto Sans"/>
              </a:rPr>
              <a:t>사용한</a:t>
            </a:r>
            <a:r>
              <a:rPr b="1" i="0" lang="en-US" sz="1250" u="none" cap="none" strike="noStrike">
                <a:solidFill>
                  <a:srgbClr val="F4B740"/>
                </a:solidFill>
                <a:latin typeface="Noto Sans"/>
                <a:ea typeface="Noto Sans"/>
                <a:cs typeface="Noto Sans"/>
                <a:sym typeface="Noto Sans"/>
              </a:rPr>
              <a:t> 이유</a:t>
            </a:r>
            <a:endParaRPr b="0" i="0" sz="1400" u="none" cap="none" strike="noStrike">
              <a:solidFill>
                <a:schemeClr val="dk1"/>
              </a:solidFill>
              <a:latin typeface="Calibri"/>
              <a:ea typeface="Calibri"/>
              <a:cs typeface="Calibri"/>
              <a:sym typeface="Calibri"/>
            </a:endParaRPr>
          </a:p>
        </p:txBody>
      </p:sp>
      <p:sp>
        <p:nvSpPr>
          <p:cNvPr id="170" name="Google Shape;170;p7"/>
          <p:cNvSpPr/>
          <p:nvPr/>
        </p:nvSpPr>
        <p:spPr>
          <a:xfrm>
            <a:off x="4572000" y="5020056"/>
            <a:ext cx="6995160" cy="1362456"/>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a:solidFill>
                  <a:schemeClr val="lt1"/>
                </a:solidFill>
              </a:rPr>
              <a:t>처음에는 기능들이 서로 직접 연결되어 있어, 카드 화면이나 체력 UI처럼 하나의 기능을 수정할 때 관련된 여러 코드도 함께 수정해야 했습니다.</a:t>
            </a:r>
            <a:endParaRPr>
              <a:solidFill>
                <a:schemeClr val="lt1"/>
              </a:solidFill>
            </a:endParaRPr>
          </a:p>
          <a:p>
            <a:pPr indent="0" lvl="0" marL="0" marR="0" rtl="0" algn="l">
              <a:lnSpc>
                <a:spcPct val="128000"/>
              </a:lnSpc>
              <a:spcBef>
                <a:spcPts val="0"/>
              </a:spcBef>
              <a:spcAft>
                <a:spcPts val="0"/>
              </a:spcAft>
              <a:buClr>
                <a:srgbClr val="C7D2F0"/>
              </a:buClr>
              <a:buSzPts val="1050"/>
              <a:buFont typeface="Noto Sans"/>
              <a:buNone/>
            </a:pPr>
            <a:r>
              <a:rPr lang="en-US">
                <a:solidFill>
                  <a:schemeClr val="lt1"/>
                </a:solidFill>
              </a:rPr>
              <a:t>이를 개선하기 위해 옵저버 패턴을 적용하여 각 기능을 독립된 스크립트로 분리하고, 이벤트만 전달하는 구조로 변경했습니다. </a:t>
            </a:r>
            <a:endParaRPr>
              <a:solidFill>
                <a:schemeClr val="lt1"/>
              </a:solidFill>
              <a:latin typeface="Noto Sans"/>
              <a:ea typeface="Noto Sans"/>
              <a:cs typeface="Noto Sans"/>
              <a:sym typeface="No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175" name="Shape 175"/>
        <p:cNvGrpSpPr/>
        <p:nvPr/>
      </p:nvGrpSpPr>
      <p:grpSpPr>
        <a:xfrm>
          <a:off x="0" y="0"/>
          <a:ext cx="0" cy="0"/>
          <a:chOff x="0" y="0"/>
          <a:chExt cx="0" cy="0"/>
        </a:xfrm>
      </p:grpSpPr>
      <p:sp>
        <p:nvSpPr>
          <p:cNvPr id="176" name="Google Shape;176;p8"/>
          <p:cNvSpPr/>
          <p:nvPr/>
        </p:nvSpPr>
        <p:spPr>
          <a:xfrm>
            <a:off x="0" y="0"/>
            <a:ext cx="3931920" cy="6858000"/>
          </a:xfrm>
          <a:prstGeom prst="roundRect">
            <a:avLst>
              <a:gd fmla="val 16667" name="adj"/>
            </a:avLst>
          </a:prstGeom>
          <a:solidFill>
            <a:srgbClr val="0E1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a:off x="548640" y="640080"/>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D1C5"/>
              </a:buClr>
              <a:buSzPts val="1200"/>
              <a:buFont typeface="Noto Sans"/>
              <a:buNone/>
            </a:pPr>
            <a:r>
              <a:rPr b="1" i="0" lang="en-US" sz="1800" u="none" cap="none" strike="noStrike">
                <a:solidFill>
                  <a:srgbClr val="4FD1C5"/>
                </a:solidFill>
                <a:latin typeface="Noto Sans"/>
                <a:ea typeface="Noto Sans"/>
                <a:cs typeface="Noto Sans"/>
                <a:sym typeface="Noto Sans"/>
              </a:rPr>
              <a:t>핵심 설계 02</a:t>
            </a:r>
            <a:endParaRPr b="0" i="0" sz="1800" u="none" cap="none" strike="noStrike">
              <a:solidFill>
                <a:schemeClr val="dk1"/>
              </a:solidFill>
              <a:latin typeface="Calibri"/>
              <a:ea typeface="Calibri"/>
              <a:cs typeface="Calibri"/>
              <a:sym typeface="Calibri"/>
            </a:endParaRPr>
          </a:p>
        </p:txBody>
      </p:sp>
      <p:sp>
        <p:nvSpPr>
          <p:cNvPr id="178" name="Google Shape;178;p8"/>
          <p:cNvSpPr/>
          <p:nvPr/>
        </p:nvSpPr>
        <p:spPr>
          <a:xfrm>
            <a:off x="530352" y="1097280"/>
            <a:ext cx="3246120" cy="18288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FFFFFF"/>
              </a:buClr>
              <a:buSzPts val="2300"/>
              <a:buFont typeface="Noto Sans"/>
              <a:buNone/>
            </a:pPr>
            <a:r>
              <a:rPr b="1" i="0" lang="en-US" sz="2300" u="none" cap="none" strike="noStrike">
                <a:solidFill>
                  <a:srgbClr val="FFFFFF"/>
                </a:solidFill>
                <a:latin typeface="Noto Sans"/>
                <a:ea typeface="Noto Sans"/>
                <a:cs typeface="Noto Sans"/>
                <a:sym typeface="Noto Sans"/>
              </a:rPr>
              <a:t>기존 코드 변경 없</a:t>
            </a:r>
            <a:r>
              <a:rPr b="1" lang="en-US" sz="2300">
                <a:solidFill>
                  <a:srgbClr val="FFFFFF"/>
                </a:solidFill>
                <a:latin typeface="Noto Sans"/>
                <a:ea typeface="Noto Sans"/>
                <a:cs typeface="Noto Sans"/>
                <a:sym typeface="Noto Sans"/>
              </a:rPr>
              <a:t>이</a:t>
            </a:r>
            <a:r>
              <a:rPr b="1" i="0" lang="en-US" sz="2300" u="none" cap="none" strike="noStrike">
                <a:solidFill>
                  <a:srgbClr val="FFFFFF"/>
                </a:solidFill>
                <a:latin typeface="Noto Sans"/>
                <a:ea typeface="Noto Sans"/>
                <a:cs typeface="Noto Sans"/>
                <a:sym typeface="Noto Sans"/>
              </a:rPr>
              <a:t> </a:t>
            </a:r>
            <a:endParaRPr b="1" i="0" sz="2300" u="none" cap="none" strike="noStrike">
              <a:solidFill>
                <a:srgbClr val="FFFFFF"/>
              </a:solidFill>
              <a:latin typeface="Noto Sans"/>
              <a:ea typeface="Noto Sans"/>
              <a:cs typeface="Noto Sans"/>
              <a:sym typeface="Noto Sans"/>
            </a:endParaRPr>
          </a:p>
          <a:p>
            <a:pPr indent="0" lvl="0" marL="0" marR="0" rtl="0" algn="l">
              <a:lnSpc>
                <a:spcPct val="115000"/>
              </a:lnSpc>
              <a:spcBef>
                <a:spcPts val="0"/>
              </a:spcBef>
              <a:spcAft>
                <a:spcPts val="0"/>
              </a:spcAft>
              <a:buClr>
                <a:srgbClr val="FFFFFF"/>
              </a:buClr>
              <a:buSzPts val="2300"/>
              <a:buFont typeface="Noto Sans"/>
              <a:buNone/>
            </a:pPr>
            <a:r>
              <a:rPr b="1" i="0" lang="en-US" sz="2300" u="none" cap="none" strike="noStrike">
                <a:solidFill>
                  <a:srgbClr val="FFFFFF"/>
                </a:solidFill>
                <a:latin typeface="Noto Sans"/>
                <a:ea typeface="Noto Sans"/>
                <a:cs typeface="Noto Sans"/>
                <a:sym typeface="Noto Sans"/>
              </a:rPr>
              <a:t>기능 확장</a:t>
            </a:r>
            <a:endParaRPr b="0" i="0" sz="2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2300"/>
              <a:buFont typeface="Noto Sans"/>
              <a:buNone/>
            </a:pPr>
            <a:r>
              <a:rPr b="1" i="0" lang="en-US" sz="2300" u="none" cap="none" strike="noStrike">
                <a:solidFill>
                  <a:srgbClr val="FFFFFF"/>
                </a:solidFill>
                <a:latin typeface="Noto Sans"/>
                <a:ea typeface="Noto Sans"/>
                <a:cs typeface="Noto Sans"/>
                <a:sym typeface="Noto Sans"/>
              </a:rPr>
              <a:t>(사이드카 패턴)</a:t>
            </a:r>
            <a:endParaRPr b="0" i="0" sz="2300" u="none" cap="none" strike="noStrike">
              <a:solidFill>
                <a:schemeClr val="dk1"/>
              </a:solidFill>
              <a:latin typeface="Calibri"/>
              <a:ea typeface="Calibri"/>
              <a:cs typeface="Calibri"/>
              <a:sym typeface="Calibri"/>
            </a:endParaRPr>
          </a:p>
        </p:txBody>
      </p:sp>
      <p:cxnSp>
        <p:nvCxnSpPr>
          <p:cNvPr id="179" name="Google Shape;179;p8"/>
          <p:cNvCxnSpPr/>
          <p:nvPr/>
        </p:nvCxnSpPr>
        <p:spPr>
          <a:xfrm>
            <a:off x="566928" y="3246120"/>
            <a:ext cx="1280160" cy="0"/>
          </a:xfrm>
          <a:prstGeom prst="straightConnector1">
            <a:avLst/>
          </a:prstGeom>
          <a:noFill/>
          <a:ln cap="flat" cmpd="sng" w="31750">
            <a:solidFill>
              <a:srgbClr val="4FD1C5"/>
            </a:solidFill>
            <a:prstDash val="solid"/>
            <a:round/>
            <a:headEnd len="sm" w="sm" type="none"/>
            <a:tailEnd len="sm" w="sm" type="none"/>
          </a:ln>
        </p:spPr>
      </p:cxnSp>
      <p:sp>
        <p:nvSpPr>
          <p:cNvPr id="180" name="Google Shape;180;p8"/>
          <p:cNvSpPr/>
          <p:nvPr/>
        </p:nvSpPr>
        <p:spPr>
          <a:xfrm>
            <a:off x="548640" y="3429000"/>
            <a:ext cx="3108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2F0"/>
              </a:buClr>
              <a:buSzPts val="1100"/>
              <a:buFont typeface="Noto Sans"/>
              <a:buNone/>
            </a:pPr>
            <a:r>
              <a:rPr b="0" i="0" lang="en-US" sz="1100" u="none" cap="none" strike="noStrike">
                <a:solidFill>
                  <a:srgbClr val="C7D2F0"/>
                </a:solidFill>
                <a:latin typeface="Noto Sans"/>
                <a:ea typeface="Noto Sans"/>
                <a:cs typeface="Noto Sans"/>
                <a:sym typeface="Noto Sans"/>
              </a:rPr>
              <a:t>사용된 패턴 · 기능</a:t>
            </a:r>
            <a:endParaRPr b="0" i="0" sz="1100" u="none" cap="none" strike="noStrike">
              <a:solidFill>
                <a:schemeClr val="dk1"/>
              </a:solidFill>
              <a:latin typeface="Calibri"/>
              <a:ea typeface="Calibri"/>
              <a:cs typeface="Calibri"/>
              <a:sym typeface="Calibri"/>
            </a:endParaRPr>
          </a:p>
        </p:txBody>
      </p:sp>
      <p:sp>
        <p:nvSpPr>
          <p:cNvPr id="181" name="Google Shape;181;p8"/>
          <p:cNvSpPr/>
          <p:nvPr/>
        </p:nvSpPr>
        <p:spPr>
          <a:xfrm>
            <a:off x="548640" y="3749040"/>
            <a:ext cx="3108960" cy="566928"/>
          </a:xfrm>
          <a:prstGeom prst="roundRect">
            <a:avLst>
              <a:gd fmla="val 9677" name="adj"/>
            </a:avLst>
          </a:prstGeom>
          <a:solidFill>
            <a:srgbClr val="223066"/>
          </a:solidFill>
          <a:ln cap="flat" cmpd="sng" w="12700">
            <a:solidFill>
              <a:srgbClr val="4FD1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
          <p:cNvSpPr/>
          <p:nvPr/>
        </p:nvSpPr>
        <p:spPr>
          <a:xfrm>
            <a:off x="640080" y="3749040"/>
            <a:ext cx="292608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D37A"/>
              </a:buClr>
              <a:buSzPts val="1200"/>
              <a:buFont typeface="Noto Sans"/>
              <a:buNone/>
            </a:pPr>
            <a:r>
              <a:rPr b="1" i="0" lang="en-US" sz="1200" u="none" cap="none" strike="noStrike">
                <a:solidFill>
                  <a:srgbClr val="FFD37A"/>
                </a:solidFill>
                <a:latin typeface="Noto Sans"/>
                <a:ea typeface="Noto Sans"/>
                <a:cs typeface="Noto Sans"/>
                <a:sym typeface="Noto Sans"/>
              </a:rPr>
              <a:t>사이드카 패턴 · 컴포넌트 부착</a:t>
            </a:r>
            <a:endParaRPr b="0" i="0" sz="1200" u="none" cap="none" strike="noStrike">
              <a:solidFill>
                <a:schemeClr val="dk1"/>
              </a:solidFill>
              <a:latin typeface="Calibri"/>
              <a:ea typeface="Calibri"/>
              <a:cs typeface="Calibri"/>
              <a:sym typeface="Calibri"/>
            </a:endParaRPr>
          </a:p>
        </p:txBody>
      </p:sp>
      <p:sp>
        <p:nvSpPr>
          <p:cNvPr id="183" name="Google Shape;183;p8"/>
          <p:cNvSpPr/>
          <p:nvPr/>
        </p:nvSpPr>
        <p:spPr>
          <a:xfrm>
            <a:off x="4297680" y="594360"/>
            <a:ext cx="7406640" cy="9144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4FD1C5"/>
              </a:buClr>
              <a:buSzPts val="1300"/>
              <a:buFont typeface="Noto Sans"/>
              <a:buNone/>
            </a:pPr>
            <a:r>
              <a:rPr b="1" i="0" lang="en-US" sz="1300" u="none" cap="none" strike="noStrike">
                <a:solidFill>
                  <a:srgbClr val="4FD1C5"/>
                </a:solidFill>
                <a:latin typeface="Noto Sans"/>
                <a:ea typeface="Noto Sans"/>
                <a:cs typeface="Noto Sans"/>
                <a:sym typeface="Noto Sans"/>
              </a:rPr>
              <a:t>원본 보존 : </a:t>
            </a:r>
            <a:r>
              <a:rPr b="0" i="0" lang="en-US" sz="1300" u="none" cap="none" strike="noStrike">
                <a:solidFill>
                  <a:srgbClr val="1B2340"/>
                </a:solidFill>
                <a:latin typeface="Noto Sans"/>
                <a:ea typeface="Noto Sans"/>
                <a:cs typeface="Noto Sans"/>
                <a:sym typeface="Noto Sans"/>
              </a:rPr>
              <a:t>기존 코드는 수정하지 않고, 필요한 기능만 별도 컴포넌트로 추가해 확장</a:t>
            </a:r>
            <a:br>
              <a:rPr b="0" i="0" lang="en-US" sz="1300" u="none" cap="none" strike="noStrike">
                <a:solidFill>
                  <a:srgbClr val="1B2340"/>
                </a:solidFill>
                <a:latin typeface="Noto Sans"/>
                <a:ea typeface="Noto Sans"/>
                <a:cs typeface="Noto Sans"/>
                <a:sym typeface="Noto Sans"/>
              </a:rPr>
            </a:br>
            <a:r>
              <a:rPr b="1" i="0" lang="en-US" sz="1300" u="none" cap="none" strike="noStrike">
                <a:solidFill>
                  <a:srgbClr val="4FD1C5"/>
                </a:solidFill>
                <a:latin typeface="Noto Sans"/>
                <a:ea typeface="Noto Sans"/>
                <a:cs typeface="Noto Sans"/>
                <a:sym typeface="Noto Sans"/>
              </a:rPr>
              <a:t>독립적인 기능 확장 : </a:t>
            </a:r>
            <a:r>
              <a:rPr lang="en-US" sz="1300">
                <a:solidFill>
                  <a:srgbClr val="1B2340"/>
                </a:solidFill>
                <a:latin typeface="Noto Sans"/>
                <a:ea typeface="Noto Sans"/>
                <a:cs typeface="Noto Sans"/>
                <a:sym typeface="Noto Sans"/>
              </a:rPr>
              <a:t>기존 기능은 그대로 유지하면서 필요한 기능만 손쉽게 추가할 수 있는 구조로 구현 </a:t>
            </a:r>
            <a:endParaRPr b="0" i="0" sz="1300" u="none" cap="none" strike="noStrike">
              <a:solidFill>
                <a:schemeClr val="dk1"/>
              </a:solidFill>
              <a:latin typeface="Calibri"/>
              <a:ea typeface="Calibri"/>
              <a:cs typeface="Calibri"/>
              <a:sym typeface="Calibri"/>
            </a:endParaRPr>
          </a:p>
        </p:txBody>
      </p:sp>
      <p:sp>
        <p:nvSpPr>
          <p:cNvPr id="184" name="Google Shape;184;p8"/>
          <p:cNvSpPr/>
          <p:nvPr/>
        </p:nvSpPr>
        <p:spPr>
          <a:xfrm>
            <a:off x="4297680" y="1691640"/>
            <a:ext cx="7406640" cy="1234440"/>
          </a:xfrm>
          <a:prstGeom prst="roundRect">
            <a:avLst>
              <a:gd fmla="val 5185"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a:off x="4297680" y="1691640"/>
            <a:ext cx="82296" cy="1234440"/>
          </a:xfrm>
          <a:prstGeom prst="roundRect">
            <a:avLst>
              <a:gd fmla="val 33333" name="adj"/>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
          <p:cNvSpPr/>
          <p:nvPr/>
        </p:nvSpPr>
        <p:spPr>
          <a:xfrm>
            <a:off x="4572000" y="1828800"/>
            <a:ext cx="6858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D1C5"/>
              </a:buClr>
              <a:buSzPts val="1350"/>
              <a:buFont typeface="Noto Sans"/>
              <a:buNone/>
            </a:pPr>
            <a:r>
              <a:rPr b="1" i="0" lang="en-US" sz="1300" u="none" cap="none" strike="noStrike">
                <a:solidFill>
                  <a:srgbClr val="4FD1C5"/>
                </a:solidFill>
                <a:latin typeface="Noto Sans"/>
                <a:ea typeface="Noto Sans"/>
                <a:cs typeface="Noto Sans"/>
                <a:sym typeface="Noto Sans"/>
              </a:rPr>
              <a:t>스킬 버튼 </a:t>
            </a:r>
            <a:r>
              <a:rPr b="1" i="0" lang="en-US" sz="1300" u="none" cap="none" strike="noStrike">
                <a:solidFill>
                  <a:srgbClr val="4FD1C5"/>
                </a:solidFill>
                <a:latin typeface="Noto Sans"/>
                <a:ea typeface="Noto Sans"/>
                <a:cs typeface="Noto Sans"/>
                <a:sym typeface="Noto Sans"/>
              </a:rPr>
              <a:t>연출</a:t>
            </a:r>
            <a:endParaRPr b="0" i="0" sz="1300" u="none" cap="none" strike="noStrike">
              <a:solidFill>
                <a:schemeClr val="dk1"/>
              </a:solidFill>
              <a:latin typeface="Calibri"/>
              <a:ea typeface="Calibri"/>
              <a:cs typeface="Calibri"/>
              <a:sym typeface="Calibri"/>
            </a:endParaRPr>
          </a:p>
        </p:txBody>
      </p:sp>
      <p:sp>
        <p:nvSpPr>
          <p:cNvPr id="187" name="Google Shape;187;p8"/>
          <p:cNvSpPr/>
          <p:nvPr/>
        </p:nvSpPr>
        <p:spPr>
          <a:xfrm>
            <a:off x="4572000" y="2110475"/>
            <a:ext cx="6949500" cy="705900"/>
          </a:xfrm>
          <a:prstGeom prst="rect">
            <a:avLst/>
          </a:prstGeom>
          <a:noFill/>
          <a:ln>
            <a:noFill/>
          </a:ln>
        </p:spPr>
        <p:txBody>
          <a:bodyPr anchorCtr="0" anchor="t" bIns="45700" lIns="91425" spcFirstLastPara="1" rIns="91425" wrap="square" tIns="45700">
            <a:noAutofit/>
          </a:bodyPr>
          <a:lstStyle/>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기존 스킬 버튼 코드는 </a:t>
            </a:r>
            <a:r>
              <a:rPr b="1" lang="en-US" sz="1200">
                <a:solidFill>
                  <a:schemeClr val="dk1"/>
                </a:solidFill>
              </a:rPr>
              <a:t>그대로 유지</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rgbClr val="188038"/>
                </a:solidFill>
                <a:latin typeface="Roboto Mono"/>
                <a:ea typeface="Roboto Mono"/>
                <a:cs typeface="Roboto Mono"/>
                <a:sym typeface="Roboto Mono"/>
              </a:rPr>
              <a:t>ActionHudFeature</a:t>
            </a:r>
            <a:r>
              <a:rPr lang="en-US" sz="1200">
                <a:solidFill>
                  <a:schemeClr val="dk1"/>
                </a:solidFill>
              </a:rPr>
              <a:t> 컴포넌트로 </a:t>
            </a:r>
            <a:r>
              <a:rPr b="1" lang="en-US" sz="1200">
                <a:solidFill>
                  <a:schemeClr val="dk1"/>
                </a:solidFill>
              </a:rPr>
              <a:t>연출 기능 분리</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기존 기능 영향 없이 </a:t>
            </a:r>
            <a:r>
              <a:rPr b="1" lang="en-US" sz="1200">
                <a:solidFill>
                  <a:schemeClr val="dk1"/>
                </a:solidFill>
              </a:rPr>
              <a:t>기능 확장</a:t>
            </a:r>
            <a:endParaRPr b="1" sz="1200">
              <a:solidFill>
                <a:schemeClr val="dk1"/>
              </a:solidFill>
            </a:endParaRPr>
          </a:p>
          <a:p>
            <a:pPr indent="0" lvl="0" marL="0" marR="0" rtl="0" algn="l">
              <a:lnSpc>
                <a:spcPct val="128000"/>
              </a:lnSpc>
              <a:spcBef>
                <a:spcPts val="1200"/>
              </a:spcBef>
              <a:spcAft>
                <a:spcPts val="0"/>
              </a:spcAft>
              <a:buClr>
                <a:srgbClr val="3A4460"/>
              </a:buClr>
              <a:buSzPts val="1100"/>
              <a:buFont typeface="Noto Sans"/>
              <a:buNone/>
            </a:pPr>
            <a:r>
              <a:t/>
            </a:r>
            <a:endParaRPr sz="1200">
              <a:solidFill>
                <a:schemeClr val="dk1"/>
              </a:solidFill>
            </a:endParaRPr>
          </a:p>
        </p:txBody>
      </p:sp>
      <p:sp>
        <p:nvSpPr>
          <p:cNvPr id="188" name="Google Shape;188;p8"/>
          <p:cNvSpPr/>
          <p:nvPr/>
        </p:nvSpPr>
        <p:spPr>
          <a:xfrm>
            <a:off x="4297680" y="3090672"/>
            <a:ext cx="7406640" cy="1234440"/>
          </a:xfrm>
          <a:prstGeom prst="roundRect">
            <a:avLst>
              <a:gd fmla="val 5185"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4297680" y="3090672"/>
            <a:ext cx="82296" cy="1234440"/>
          </a:xfrm>
          <a:prstGeom prst="roundRect">
            <a:avLst>
              <a:gd fmla="val 33333" name="adj"/>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a:off x="4572000" y="3227832"/>
            <a:ext cx="6858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D1C5"/>
              </a:buClr>
              <a:buSzPts val="1350"/>
              <a:buFont typeface="Noto Sans"/>
              <a:buNone/>
            </a:pPr>
            <a:r>
              <a:rPr b="1" i="0" lang="en-US" sz="1300" u="none" cap="none" strike="noStrike">
                <a:solidFill>
                  <a:srgbClr val="4FD1C5"/>
                </a:solidFill>
                <a:latin typeface="Noto Sans"/>
                <a:ea typeface="Noto Sans"/>
                <a:cs typeface="Noto Sans"/>
                <a:sym typeface="Noto Sans"/>
              </a:rPr>
              <a:t>캐릭터 강화(스탯) 적용</a:t>
            </a:r>
            <a:endParaRPr b="0" i="0" sz="1300" u="none" cap="none" strike="noStrike">
              <a:solidFill>
                <a:schemeClr val="dk1"/>
              </a:solidFill>
              <a:latin typeface="Calibri"/>
              <a:ea typeface="Calibri"/>
              <a:cs typeface="Calibri"/>
              <a:sym typeface="Calibri"/>
            </a:endParaRPr>
          </a:p>
        </p:txBody>
      </p:sp>
      <p:sp>
        <p:nvSpPr>
          <p:cNvPr id="191" name="Google Shape;191;p8"/>
          <p:cNvSpPr/>
          <p:nvPr/>
        </p:nvSpPr>
        <p:spPr>
          <a:xfrm>
            <a:off x="4572000" y="3509450"/>
            <a:ext cx="6949500" cy="705900"/>
          </a:xfrm>
          <a:prstGeom prst="rect">
            <a:avLst/>
          </a:prstGeom>
          <a:noFill/>
          <a:ln>
            <a:noFill/>
          </a:ln>
        </p:spPr>
        <p:txBody>
          <a:bodyPr anchorCtr="0" anchor="t" bIns="45700" lIns="91425" spcFirstLastPara="1" rIns="91425" wrap="square" tIns="45700">
            <a:noAutofit/>
          </a:bodyPr>
          <a:lstStyle/>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기존 능력치 처리 코드는 </a:t>
            </a:r>
            <a:r>
              <a:rPr b="1" lang="en-US" sz="1200">
                <a:solidFill>
                  <a:schemeClr val="dk1"/>
                </a:solidFill>
              </a:rPr>
              <a:t>그대로 유지</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인터페이스·컴포넌트로 </a:t>
            </a:r>
            <a:r>
              <a:rPr b="1" lang="en-US" sz="1200">
                <a:solidFill>
                  <a:schemeClr val="dk1"/>
                </a:solidFill>
              </a:rPr>
              <a:t>강화 기능 전달</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기존 코드 수정 없이 </a:t>
            </a:r>
            <a:r>
              <a:rPr b="1" lang="en-US" sz="1200">
                <a:solidFill>
                  <a:schemeClr val="dk1"/>
                </a:solidFill>
              </a:rPr>
              <a:t>다양한 캐릭터에 동일하게 적용</a:t>
            </a:r>
            <a:endParaRPr b="1" sz="1200">
              <a:solidFill>
                <a:schemeClr val="dk1"/>
              </a:solidFill>
            </a:endParaRPr>
          </a:p>
          <a:p>
            <a:pPr indent="0" lvl="0" marL="0" marR="0" rtl="0" algn="l">
              <a:lnSpc>
                <a:spcPct val="128000"/>
              </a:lnSpc>
              <a:spcBef>
                <a:spcPts val="1200"/>
              </a:spcBef>
              <a:spcAft>
                <a:spcPts val="0"/>
              </a:spcAft>
              <a:buClr>
                <a:srgbClr val="3A4460"/>
              </a:buClr>
              <a:buSzPts val="1100"/>
              <a:buFont typeface="Noto Sans"/>
              <a:buNone/>
            </a:pPr>
            <a:r>
              <a:t/>
            </a:r>
            <a:endParaRPr sz="1200">
              <a:solidFill>
                <a:schemeClr val="dk1"/>
              </a:solidFill>
              <a:latin typeface="Noto Sans"/>
              <a:ea typeface="Noto Sans"/>
              <a:cs typeface="Noto Sans"/>
              <a:sym typeface="Noto Sans"/>
            </a:endParaRPr>
          </a:p>
        </p:txBody>
      </p:sp>
      <p:sp>
        <p:nvSpPr>
          <p:cNvPr id="192" name="Google Shape;192;p8"/>
          <p:cNvSpPr/>
          <p:nvPr/>
        </p:nvSpPr>
        <p:spPr>
          <a:xfrm>
            <a:off x="4297680" y="4526280"/>
            <a:ext cx="7406640" cy="1965960"/>
          </a:xfrm>
          <a:prstGeom prst="roundRect">
            <a:avLst>
              <a:gd fmla="val 3721" name="adj"/>
            </a:avLst>
          </a:prstGeom>
          <a:solidFill>
            <a:srgbClr val="0E1633"/>
          </a:solidFill>
          <a:ln cap="flat" cmpd="sng" w="15875">
            <a:solidFill>
              <a:srgbClr val="4FD1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a:off x="4572000" y="4663440"/>
            <a:ext cx="69494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D1C5"/>
              </a:buClr>
              <a:buSzPts val="1400"/>
              <a:buFont typeface="Noto Sans"/>
              <a:buNone/>
            </a:pPr>
            <a:r>
              <a:rPr b="1" i="0" lang="en-US" sz="1400" u="none" cap="none" strike="noStrike">
                <a:solidFill>
                  <a:srgbClr val="4FD1C5"/>
                </a:solidFill>
                <a:latin typeface="Noto Sans"/>
                <a:ea typeface="Noto Sans"/>
                <a:cs typeface="Noto Sans"/>
                <a:sym typeface="Noto Sans"/>
              </a:rPr>
              <a:t> </a:t>
            </a:r>
            <a:r>
              <a:rPr b="1" i="0" lang="en-US" sz="1250" u="none" cap="none" strike="noStrike">
                <a:solidFill>
                  <a:srgbClr val="4FD1C5"/>
                </a:solidFill>
                <a:latin typeface="Noto Sans"/>
                <a:ea typeface="Noto Sans"/>
                <a:cs typeface="Noto Sans"/>
                <a:sym typeface="Noto Sans"/>
              </a:rPr>
              <a:t>이 방식을 </a:t>
            </a:r>
            <a:r>
              <a:rPr b="1" lang="en-US" sz="1250">
                <a:solidFill>
                  <a:srgbClr val="4FD1C5"/>
                </a:solidFill>
                <a:latin typeface="Noto Sans"/>
                <a:ea typeface="Noto Sans"/>
                <a:cs typeface="Noto Sans"/>
                <a:sym typeface="Noto Sans"/>
              </a:rPr>
              <a:t>사용한</a:t>
            </a:r>
            <a:r>
              <a:rPr b="1" i="0" lang="en-US" sz="1250" u="none" cap="none" strike="noStrike">
                <a:solidFill>
                  <a:srgbClr val="4FD1C5"/>
                </a:solidFill>
                <a:latin typeface="Noto Sans"/>
                <a:ea typeface="Noto Sans"/>
                <a:cs typeface="Noto Sans"/>
                <a:sym typeface="Noto Sans"/>
              </a:rPr>
              <a:t> 이유</a:t>
            </a:r>
            <a:endParaRPr b="0" i="0" sz="1400" u="none" cap="none" strike="noStrike">
              <a:solidFill>
                <a:schemeClr val="dk1"/>
              </a:solidFill>
              <a:latin typeface="Calibri"/>
              <a:ea typeface="Calibri"/>
              <a:cs typeface="Calibri"/>
              <a:sym typeface="Calibri"/>
            </a:endParaRPr>
          </a:p>
        </p:txBody>
      </p:sp>
      <p:sp>
        <p:nvSpPr>
          <p:cNvPr id="194" name="Google Shape;194;p8"/>
          <p:cNvSpPr/>
          <p:nvPr/>
        </p:nvSpPr>
        <p:spPr>
          <a:xfrm>
            <a:off x="4572000" y="5020056"/>
            <a:ext cx="6995160" cy="1362456"/>
          </a:xfrm>
          <a:prstGeom prst="rect">
            <a:avLst/>
          </a:prstGeom>
          <a:noFill/>
          <a:ln>
            <a:noFill/>
          </a:ln>
        </p:spPr>
        <p:txBody>
          <a:bodyPr anchorCtr="0" anchor="t" bIns="45700" lIns="91425" spcFirstLastPara="1" rIns="91425" wrap="square" tIns="45700">
            <a:noAutofit/>
          </a:bodyPr>
          <a:lstStyle/>
          <a:p>
            <a:pPr indent="0" lvl="0" marL="0" marR="0" rtl="0" algn="l">
              <a:lnSpc>
                <a:spcPct val="128000"/>
              </a:lnSpc>
              <a:spcBef>
                <a:spcPts val="0"/>
              </a:spcBef>
              <a:spcAft>
                <a:spcPts val="0"/>
              </a:spcAft>
              <a:buClr>
                <a:srgbClr val="C7D2F0"/>
              </a:buClr>
              <a:buSzPts val="1050"/>
              <a:buFont typeface="Noto Sans"/>
              <a:buNone/>
            </a:pPr>
            <a:r>
              <a:rPr lang="en-US">
                <a:solidFill>
                  <a:srgbClr val="C7D2F0"/>
                </a:solidFill>
                <a:latin typeface="Noto Sans"/>
                <a:ea typeface="Noto Sans"/>
                <a:cs typeface="Noto Sans"/>
                <a:sym typeface="Noto Sans"/>
              </a:rPr>
              <a:t>새로운 기능을 추가할 때마다 하나의 코드에 계속 기능을 덧붙이다 보니, 코드가 점점 복잡해지고 수정해야 하는 범위도 넓어지는 문제가 있었습니다. </a:t>
            </a:r>
            <a:endParaRPr b="0" i="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C7D2F0"/>
              </a:buClr>
              <a:buSzPts val="1050"/>
              <a:buFont typeface="Noto Sans"/>
              <a:buNone/>
            </a:pPr>
            <a:r>
              <a:rPr b="0" i="0" lang="en-US" u="none" cap="none" strike="noStrike">
                <a:solidFill>
                  <a:srgbClr val="C7D2F0"/>
                </a:solidFill>
                <a:latin typeface="Noto Sans"/>
                <a:ea typeface="Noto Sans"/>
                <a:cs typeface="Noto Sans"/>
                <a:sym typeface="Noto Sans"/>
              </a:rPr>
              <a:t>그래서 기존 코드를 변경하지 않고 기능을 확장할 수 있는 사이드카 패턴을 적용했습니다. </a:t>
            </a:r>
            <a:endParaRPr>
              <a:solidFill>
                <a:srgbClr val="C7D2F0"/>
              </a:solidFill>
              <a:latin typeface="Noto Sans"/>
              <a:ea typeface="Noto Sans"/>
              <a:cs typeface="Noto Sans"/>
              <a:sym typeface="Noto Sans"/>
            </a:endParaRPr>
          </a:p>
          <a:p>
            <a:pPr indent="0" lvl="0" marL="0" marR="0" rtl="0" algn="l">
              <a:lnSpc>
                <a:spcPct val="128000"/>
              </a:lnSpc>
              <a:spcBef>
                <a:spcPts val="0"/>
              </a:spcBef>
              <a:spcAft>
                <a:spcPts val="0"/>
              </a:spcAft>
              <a:buClr>
                <a:srgbClr val="C7D2F0"/>
              </a:buClr>
              <a:buSzPts val="1050"/>
              <a:buFont typeface="Noto Sans"/>
              <a:buNone/>
            </a:pPr>
            <a:r>
              <a:rPr lang="en-US">
                <a:solidFill>
                  <a:srgbClr val="C7D2F0"/>
                </a:solidFill>
                <a:latin typeface="Noto Sans"/>
                <a:ea typeface="Noto Sans"/>
                <a:cs typeface="Noto Sans"/>
                <a:sym typeface="Noto Sans"/>
              </a:rPr>
              <a:t>기존 코드는  유지하고 필요한 기능만 손쉽게 추가할 수 있었습니다. </a:t>
            </a:r>
            <a:endParaRPr>
              <a:solidFill>
                <a:srgbClr val="C7D2F0"/>
              </a:solidFill>
              <a:latin typeface="Noto Sans"/>
              <a:ea typeface="Noto Sans"/>
              <a:cs typeface="Noto Sans"/>
              <a:sym typeface="No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199" name="Shape 199"/>
        <p:cNvGrpSpPr/>
        <p:nvPr/>
      </p:nvGrpSpPr>
      <p:grpSpPr>
        <a:xfrm>
          <a:off x="0" y="0"/>
          <a:ext cx="0" cy="0"/>
          <a:chOff x="0" y="0"/>
          <a:chExt cx="0" cy="0"/>
        </a:xfrm>
      </p:grpSpPr>
      <p:sp>
        <p:nvSpPr>
          <p:cNvPr id="200" name="Google Shape;200;p9"/>
          <p:cNvSpPr/>
          <p:nvPr/>
        </p:nvSpPr>
        <p:spPr>
          <a:xfrm>
            <a:off x="0" y="0"/>
            <a:ext cx="3931920" cy="6858000"/>
          </a:xfrm>
          <a:prstGeom prst="roundRect">
            <a:avLst>
              <a:gd fmla="val 16667" name="adj"/>
            </a:avLst>
          </a:prstGeom>
          <a:solidFill>
            <a:srgbClr val="0E1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548640" y="640080"/>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7059"/>
              </a:buClr>
              <a:buSzPts val="1200"/>
              <a:buFont typeface="Noto Sans"/>
              <a:buNone/>
            </a:pPr>
            <a:r>
              <a:rPr b="1" i="0" lang="en-US" sz="1800" u="none" cap="none" strike="noStrike">
                <a:solidFill>
                  <a:srgbClr val="F27059"/>
                </a:solidFill>
                <a:latin typeface="Noto Sans"/>
                <a:ea typeface="Noto Sans"/>
                <a:cs typeface="Noto Sans"/>
                <a:sym typeface="Noto Sans"/>
              </a:rPr>
              <a:t>핵심 설계 03</a:t>
            </a:r>
            <a:endParaRPr b="0" i="0" sz="1800" u="none" cap="none" strike="noStrike">
              <a:solidFill>
                <a:schemeClr val="dk1"/>
              </a:solidFill>
              <a:latin typeface="Calibri"/>
              <a:ea typeface="Calibri"/>
              <a:cs typeface="Calibri"/>
              <a:sym typeface="Calibri"/>
            </a:endParaRPr>
          </a:p>
        </p:txBody>
      </p:sp>
      <p:sp>
        <p:nvSpPr>
          <p:cNvPr id="202" name="Google Shape;202;p9"/>
          <p:cNvSpPr/>
          <p:nvPr/>
        </p:nvSpPr>
        <p:spPr>
          <a:xfrm>
            <a:off x="530352" y="1097280"/>
            <a:ext cx="3246120" cy="18288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FFFFFF"/>
              </a:buClr>
              <a:buSzPts val="2300"/>
              <a:buFont typeface="Noto Sans"/>
              <a:buNone/>
            </a:pPr>
            <a:r>
              <a:rPr b="1" lang="en-US" sz="2300">
                <a:solidFill>
                  <a:srgbClr val="FFFFFF"/>
                </a:solidFill>
                <a:latin typeface="Noto Sans"/>
                <a:ea typeface="Noto Sans"/>
                <a:cs typeface="Noto Sans"/>
                <a:sym typeface="Noto Sans"/>
              </a:rPr>
              <a:t>안정성 강화 </a:t>
            </a:r>
            <a:endParaRPr b="0" i="0" sz="2300" u="none" cap="none" strike="noStrike">
              <a:solidFill>
                <a:schemeClr val="dk1"/>
              </a:solidFill>
              <a:latin typeface="Calibri"/>
              <a:ea typeface="Calibri"/>
              <a:cs typeface="Calibri"/>
              <a:sym typeface="Calibri"/>
            </a:endParaRPr>
          </a:p>
        </p:txBody>
      </p:sp>
      <p:cxnSp>
        <p:nvCxnSpPr>
          <p:cNvPr id="203" name="Google Shape;203;p9"/>
          <p:cNvCxnSpPr/>
          <p:nvPr/>
        </p:nvCxnSpPr>
        <p:spPr>
          <a:xfrm>
            <a:off x="566928" y="3246120"/>
            <a:ext cx="1280160" cy="0"/>
          </a:xfrm>
          <a:prstGeom prst="straightConnector1">
            <a:avLst/>
          </a:prstGeom>
          <a:noFill/>
          <a:ln cap="flat" cmpd="sng" w="31750">
            <a:solidFill>
              <a:srgbClr val="F27059"/>
            </a:solidFill>
            <a:prstDash val="solid"/>
            <a:round/>
            <a:headEnd len="sm" w="sm" type="none"/>
            <a:tailEnd len="sm" w="sm" type="none"/>
          </a:ln>
        </p:spPr>
      </p:cxnSp>
      <p:sp>
        <p:nvSpPr>
          <p:cNvPr id="204" name="Google Shape;204;p9"/>
          <p:cNvSpPr/>
          <p:nvPr/>
        </p:nvSpPr>
        <p:spPr>
          <a:xfrm>
            <a:off x="548640" y="3429000"/>
            <a:ext cx="3108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2F0"/>
              </a:buClr>
              <a:buSzPts val="1100"/>
              <a:buFont typeface="Noto Sans"/>
              <a:buNone/>
            </a:pPr>
            <a:r>
              <a:rPr b="0" i="0" lang="en-US" sz="1100" u="none" cap="none" strike="noStrike">
                <a:solidFill>
                  <a:srgbClr val="C7D2F0"/>
                </a:solidFill>
                <a:latin typeface="Noto Sans"/>
                <a:ea typeface="Noto Sans"/>
                <a:cs typeface="Noto Sans"/>
                <a:sym typeface="Noto Sans"/>
              </a:rPr>
              <a:t>사용된 패턴 · 기능</a:t>
            </a:r>
            <a:endParaRPr b="0" i="0" sz="1100" u="none" cap="none" strike="noStrike">
              <a:solidFill>
                <a:schemeClr val="dk1"/>
              </a:solidFill>
              <a:latin typeface="Calibri"/>
              <a:ea typeface="Calibri"/>
              <a:cs typeface="Calibri"/>
              <a:sym typeface="Calibri"/>
            </a:endParaRPr>
          </a:p>
        </p:txBody>
      </p:sp>
      <p:sp>
        <p:nvSpPr>
          <p:cNvPr id="205" name="Google Shape;205;p9"/>
          <p:cNvSpPr/>
          <p:nvPr/>
        </p:nvSpPr>
        <p:spPr>
          <a:xfrm>
            <a:off x="548640" y="3749040"/>
            <a:ext cx="3108960" cy="566928"/>
          </a:xfrm>
          <a:prstGeom prst="roundRect">
            <a:avLst>
              <a:gd fmla="val 9677" name="adj"/>
            </a:avLst>
          </a:prstGeom>
          <a:solidFill>
            <a:srgbClr val="223066"/>
          </a:solidFill>
          <a:ln cap="flat" cmpd="sng" w="12700">
            <a:solidFill>
              <a:srgbClr val="F270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640080" y="3749040"/>
            <a:ext cx="292608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D37A"/>
              </a:buClr>
              <a:buSzPts val="1200"/>
              <a:buFont typeface="Noto Sans"/>
              <a:buNone/>
            </a:pPr>
            <a:r>
              <a:rPr b="1" lang="en-US" sz="1200">
                <a:solidFill>
                  <a:srgbClr val="FFD37A"/>
                </a:solidFill>
                <a:latin typeface="Noto Sans"/>
                <a:ea typeface="Noto Sans"/>
                <a:cs typeface="Noto Sans"/>
                <a:sym typeface="Noto Sans"/>
              </a:rPr>
              <a:t>중복 실행 방지 </a:t>
            </a:r>
            <a:endParaRPr b="0" i="0" sz="1200" u="none" cap="none" strike="noStrike">
              <a:solidFill>
                <a:schemeClr val="dk1"/>
              </a:solidFill>
              <a:latin typeface="Calibri"/>
              <a:ea typeface="Calibri"/>
              <a:cs typeface="Calibri"/>
              <a:sym typeface="Calibri"/>
            </a:endParaRPr>
          </a:p>
        </p:txBody>
      </p:sp>
      <p:sp>
        <p:nvSpPr>
          <p:cNvPr id="207" name="Google Shape;207;p9"/>
          <p:cNvSpPr/>
          <p:nvPr/>
        </p:nvSpPr>
        <p:spPr>
          <a:xfrm>
            <a:off x="4297680" y="594360"/>
            <a:ext cx="7406640" cy="9144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F27059"/>
              </a:buClr>
              <a:buSzPts val="1300"/>
              <a:buFont typeface="Noto Sans"/>
              <a:buNone/>
            </a:pPr>
            <a:r>
              <a:rPr b="1" i="0" lang="en-US" u="none" cap="none" strike="noStrike">
                <a:solidFill>
                  <a:srgbClr val="F27059"/>
                </a:solidFill>
                <a:latin typeface="Noto Sans"/>
                <a:ea typeface="Noto Sans"/>
                <a:cs typeface="Noto Sans"/>
                <a:sym typeface="Noto Sans"/>
              </a:rPr>
              <a:t>연출 안정성 : </a:t>
            </a:r>
            <a:r>
              <a:rPr lang="en-US">
                <a:solidFill>
                  <a:srgbClr val="1B2340"/>
                </a:solidFill>
                <a:latin typeface="Noto Sans"/>
                <a:ea typeface="Noto Sans"/>
                <a:cs typeface="Noto Sans"/>
                <a:sym typeface="Noto Sans"/>
              </a:rPr>
              <a:t>게임이 멈춘 상태에서도 UI 연출이 자연스럽게 이어지도록 구현 </a:t>
            </a:r>
            <a:br>
              <a:rPr b="0" i="0" lang="en-US" u="none" cap="none" strike="noStrike">
                <a:solidFill>
                  <a:srgbClr val="1B2340"/>
                </a:solidFill>
                <a:latin typeface="Noto Sans"/>
                <a:ea typeface="Noto Sans"/>
                <a:cs typeface="Noto Sans"/>
                <a:sym typeface="Noto Sans"/>
              </a:rPr>
            </a:br>
            <a:r>
              <a:rPr b="1" i="0" lang="en-US" u="none" cap="none" strike="noStrike">
                <a:solidFill>
                  <a:srgbClr val="F27059"/>
                </a:solidFill>
                <a:latin typeface="Noto Sans"/>
                <a:ea typeface="Noto Sans"/>
                <a:cs typeface="Noto Sans"/>
                <a:sym typeface="Noto Sans"/>
              </a:rPr>
              <a:t>데이터 보호 : </a:t>
            </a:r>
            <a:r>
              <a:rPr lang="en-US">
                <a:solidFill>
                  <a:srgbClr val="1B2340"/>
                </a:solidFill>
                <a:latin typeface="Noto Sans"/>
                <a:ea typeface="Noto Sans"/>
                <a:cs typeface="Noto Sans"/>
                <a:sym typeface="Noto Sans"/>
              </a:rPr>
              <a:t>저장과 불러오기가 동시에 실행되지 않도록 처리하여 데이터 안정성 확보</a:t>
            </a:r>
            <a:r>
              <a:rPr lang="en-US" sz="1300">
                <a:solidFill>
                  <a:srgbClr val="1B2340"/>
                </a:solidFill>
                <a:latin typeface="Noto Sans"/>
                <a:ea typeface="Noto Sans"/>
                <a:cs typeface="Noto Sans"/>
                <a:sym typeface="Noto Sans"/>
              </a:rPr>
              <a:t> </a:t>
            </a:r>
            <a:endParaRPr b="0" i="0" sz="1300" u="none" cap="none" strike="noStrike">
              <a:solidFill>
                <a:schemeClr val="dk1"/>
              </a:solidFill>
              <a:latin typeface="Calibri"/>
              <a:ea typeface="Calibri"/>
              <a:cs typeface="Calibri"/>
              <a:sym typeface="Calibri"/>
            </a:endParaRPr>
          </a:p>
        </p:txBody>
      </p:sp>
      <p:sp>
        <p:nvSpPr>
          <p:cNvPr id="208" name="Google Shape;208;p9"/>
          <p:cNvSpPr/>
          <p:nvPr/>
        </p:nvSpPr>
        <p:spPr>
          <a:xfrm>
            <a:off x="4297680" y="1691640"/>
            <a:ext cx="7406640" cy="1234440"/>
          </a:xfrm>
          <a:prstGeom prst="roundRect">
            <a:avLst>
              <a:gd fmla="val 5185"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p:nvPr/>
        </p:nvSpPr>
        <p:spPr>
          <a:xfrm>
            <a:off x="4297680" y="1691640"/>
            <a:ext cx="82296" cy="1234440"/>
          </a:xfrm>
          <a:prstGeom prst="roundRect">
            <a:avLst>
              <a:gd fmla="val 33333" name="adj"/>
            </a:avLst>
          </a:prstGeom>
          <a:solidFill>
            <a:srgbClr val="F270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4572000" y="1828800"/>
            <a:ext cx="6858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7059"/>
              </a:buClr>
              <a:buSzPts val="1350"/>
              <a:buFont typeface="Noto Sans"/>
              <a:buNone/>
            </a:pPr>
            <a:r>
              <a:rPr b="1" i="0" lang="en-US" sz="1350" u="none" cap="none" strike="noStrike">
                <a:solidFill>
                  <a:srgbClr val="F27059"/>
                </a:solidFill>
                <a:latin typeface="Noto Sans"/>
                <a:ea typeface="Noto Sans"/>
                <a:cs typeface="Noto Sans"/>
                <a:sym typeface="Noto Sans"/>
              </a:rPr>
              <a:t>일시정지 중 연출 유지</a:t>
            </a:r>
            <a:endParaRPr b="0" i="0" sz="1350" u="none" cap="none" strike="noStrike">
              <a:solidFill>
                <a:schemeClr val="dk1"/>
              </a:solidFill>
              <a:latin typeface="Calibri"/>
              <a:ea typeface="Calibri"/>
              <a:cs typeface="Calibri"/>
              <a:sym typeface="Calibri"/>
            </a:endParaRPr>
          </a:p>
        </p:txBody>
      </p:sp>
      <p:sp>
        <p:nvSpPr>
          <p:cNvPr id="211" name="Google Shape;211;p9"/>
          <p:cNvSpPr/>
          <p:nvPr/>
        </p:nvSpPr>
        <p:spPr>
          <a:xfrm>
            <a:off x="4572000" y="2148850"/>
            <a:ext cx="6949500" cy="66750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latin typeface="Roboto Mono"/>
                <a:ea typeface="Roboto Mono"/>
                <a:cs typeface="Roboto Mono"/>
                <a:sym typeface="Roboto Mono"/>
              </a:rPr>
              <a:t>Unscaled Time 적용으로 UI 연출 계속 진행</a:t>
            </a:r>
            <a:endParaRPr sz="1200">
              <a:solidFill>
                <a:schemeClr val="dk1"/>
              </a:solidFill>
              <a:latin typeface="Roboto Mono"/>
              <a:ea typeface="Roboto Mono"/>
              <a:cs typeface="Roboto Mono"/>
              <a:sym typeface="Roboto Mono"/>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latin typeface="Roboto Mono"/>
                <a:ea typeface="Roboto Mono"/>
                <a:cs typeface="Roboto Mono"/>
                <a:sym typeface="Roboto Mono"/>
              </a:rPr>
              <a:t>DOTween에도 동일한 기준 적용</a:t>
            </a:r>
            <a:endParaRPr sz="1200">
              <a:solidFill>
                <a:schemeClr val="dk1"/>
              </a:solidFill>
              <a:latin typeface="Roboto Mono"/>
              <a:ea typeface="Roboto Mono"/>
              <a:cs typeface="Roboto Mono"/>
              <a:sym typeface="Roboto Mono"/>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latin typeface="Roboto Mono"/>
                <a:ea typeface="Roboto Mono"/>
                <a:cs typeface="Roboto Mono"/>
                <a:sym typeface="Roboto Mono"/>
              </a:rPr>
              <a:t>게임 일시정지와 관계없이 연출 유지</a:t>
            </a:r>
            <a:endParaRPr sz="1200">
              <a:solidFill>
                <a:schemeClr val="dk1"/>
              </a:solidFill>
              <a:latin typeface="Roboto Mono"/>
              <a:ea typeface="Roboto Mono"/>
              <a:cs typeface="Roboto Mono"/>
              <a:sym typeface="Roboto Mono"/>
            </a:endParaRPr>
          </a:p>
          <a:p>
            <a:pPr indent="0" lvl="0" marL="0" marR="0" rtl="0" algn="l">
              <a:lnSpc>
                <a:spcPct val="128000"/>
              </a:lnSpc>
              <a:spcBef>
                <a:spcPts val="0"/>
              </a:spcBef>
              <a:spcAft>
                <a:spcPts val="0"/>
              </a:spcAft>
              <a:buClr>
                <a:srgbClr val="3A4460"/>
              </a:buClr>
              <a:buSzPts val="1100"/>
              <a:buFont typeface="Noto Sans"/>
              <a:buNone/>
            </a:pPr>
            <a:r>
              <a:t/>
            </a:r>
            <a:endParaRPr sz="1200">
              <a:solidFill>
                <a:schemeClr val="dk1"/>
              </a:solidFill>
              <a:latin typeface="Roboto Mono"/>
              <a:ea typeface="Roboto Mono"/>
              <a:cs typeface="Roboto Mono"/>
              <a:sym typeface="Roboto Mono"/>
            </a:endParaRPr>
          </a:p>
        </p:txBody>
      </p:sp>
      <p:sp>
        <p:nvSpPr>
          <p:cNvPr id="212" name="Google Shape;212;p9"/>
          <p:cNvSpPr/>
          <p:nvPr/>
        </p:nvSpPr>
        <p:spPr>
          <a:xfrm>
            <a:off x="4297680" y="3090672"/>
            <a:ext cx="7406640" cy="1234440"/>
          </a:xfrm>
          <a:prstGeom prst="roundRect">
            <a:avLst>
              <a:gd fmla="val 5185"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p:nvPr/>
        </p:nvSpPr>
        <p:spPr>
          <a:xfrm>
            <a:off x="4297680" y="3090672"/>
            <a:ext cx="82296" cy="1234440"/>
          </a:xfrm>
          <a:prstGeom prst="roundRect">
            <a:avLst>
              <a:gd fmla="val 33333" name="adj"/>
            </a:avLst>
          </a:prstGeom>
          <a:solidFill>
            <a:srgbClr val="F270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
          <p:cNvSpPr/>
          <p:nvPr/>
        </p:nvSpPr>
        <p:spPr>
          <a:xfrm>
            <a:off x="4572000" y="3227832"/>
            <a:ext cx="6858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7059"/>
              </a:buClr>
              <a:buSzPts val="1350"/>
              <a:buFont typeface="Noto Sans"/>
              <a:buNone/>
            </a:pPr>
            <a:r>
              <a:rPr b="1" i="0" lang="en-US" sz="1350" u="none" cap="none" strike="noStrike">
                <a:solidFill>
                  <a:srgbClr val="F27059"/>
                </a:solidFill>
                <a:latin typeface="Noto Sans"/>
                <a:ea typeface="Noto Sans"/>
                <a:cs typeface="Noto Sans"/>
                <a:sym typeface="Noto Sans"/>
              </a:rPr>
              <a:t>저장 중복 실행 방지</a:t>
            </a:r>
            <a:endParaRPr b="0" i="0" sz="1350" u="none" cap="none" strike="noStrike">
              <a:solidFill>
                <a:schemeClr val="dk1"/>
              </a:solidFill>
              <a:latin typeface="Calibri"/>
              <a:ea typeface="Calibri"/>
              <a:cs typeface="Calibri"/>
              <a:sym typeface="Calibri"/>
            </a:endParaRPr>
          </a:p>
        </p:txBody>
      </p:sp>
      <p:sp>
        <p:nvSpPr>
          <p:cNvPr id="215" name="Google Shape;215;p9"/>
          <p:cNvSpPr/>
          <p:nvPr/>
        </p:nvSpPr>
        <p:spPr>
          <a:xfrm>
            <a:off x="4572000" y="3547875"/>
            <a:ext cx="6949500" cy="66750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a:t>
            </a:r>
            <a:r>
              <a:rPr lang="en-US" sz="1200">
                <a:solidFill>
                  <a:schemeClr val="dk1"/>
                </a:solidFill>
              </a:rPr>
              <a:t> ●    </a:t>
            </a:r>
            <a:r>
              <a:rPr lang="en-US" sz="1200">
                <a:solidFill>
                  <a:schemeClr val="dk1"/>
                </a:solidFill>
              </a:rPr>
              <a:t>데이터 로드 중 자동 저장 일시 중단</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rPr>
              <a:t>로드 완료 후 자동 저장 재활성화</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rPr>
              <a:t>저장 데이터 중복 실행 및 덮어쓰기 방지</a:t>
            </a:r>
            <a:endParaRPr sz="1200">
              <a:solidFill>
                <a:schemeClr val="dk1"/>
              </a:solidFill>
            </a:endParaRPr>
          </a:p>
          <a:p>
            <a:pPr indent="0" lvl="0" marL="0" marR="0" rtl="0" algn="l">
              <a:lnSpc>
                <a:spcPct val="128000"/>
              </a:lnSpc>
              <a:spcBef>
                <a:spcPts val="0"/>
              </a:spcBef>
              <a:spcAft>
                <a:spcPts val="0"/>
              </a:spcAft>
              <a:buClr>
                <a:srgbClr val="3A4460"/>
              </a:buClr>
              <a:buSzPts val="1100"/>
              <a:buFont typeface="Noto Sans"/>
              <a:buNone/>
            </a:pPr>
            <a:r>
              <a:t/>
            </a:r>
            <a:endParaRPr sz="1200">
              <a:solidFill>
                <a:schemeClr val="dk1"/>
              </a:solidFill>
            </a:endParaRPr>
          </a:p>
        </p:txBody>
      </p:sp>
      <p:sp>
        <p:nvSpPr>
          <p:cNvPr id="216" name="Google Shape;216;p9"/>
          <p:cNvSpPr/>
          <p:nvPr/>
        </p:nvSpPr>
        <p:spPr>
          <a:xfrm>
            <a:off x="4297680" y="4526280"/>
            <a:ext cx="7406640" cy="1965960"/>
          </a:xfrm>
          <a:prstGeom prst="roundRect">
            <a:avLst>
              <a:gd fmla="val 3721" name="adj"/>
            </a:avLst>
          </a:prstGeom>
          <a:solidFill>
            <a:srgbClr val="0E1633"/>
          </a:solidFill>
          <a:ln cap="flat" cmpd="sng" w="15875">
            <a:solidFill>
              <a:srgbClr val="F270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4572000" y="4663440"/>
            <a:ext cx="69494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7059"/>
              </a:buClr>
              <a:buSzPts val="1400"/>
              <a:buFont typeface="Noto Sans"/>
              <a:buNone/>
            </a:pPr>
            <a:r>
              <a:rPr b="1" i="0" lang="en-US" sz="1400" u="none" cap="none" strike="noStrike">
                <a:solidFill>
                  <a:srgbClr val="F27059"/>
                </a:solidFill>
                <a:latin typeface="Noto Sans"/>
                <a:ea typeface="Noto Sans"/>
                <a:cs typeface="Noto Sans"/>
                <a:sym typeface="Noto Sans"/>
              </a:rPr>
              <a:t> </a:t>
            </a:r>
            <a:r>
              <a:rPr b="1" i="0" lang="en-US" sz="1250" u="none" cap="none" strike="noStrike">
                <a:solidFill>
                  <a:srgbClr val="F27059"/>
                </a:solidFill>
                <a:latin typeface="Noto Sans"/>
                <a:ea typeface="Noto Sans"/>
                <a:cs typeface="Noto Sans"/>
                <a:sym typeface="Noto Sans"/>
              </a:rPr>
              <a:t>이 방식을 쓴 이유</a:t>
            </a:r>
            <a:endParaRPr b="0" i="0" sz="1400" u="none" cap="none" strike="noStrike">
              <a:solidFill>
                <a:schemeClr val="dk1"/>
              </a:solidFill>
              <a:latin typeface="Calibri"/>
              <a:ea typeface="Calibri"/>
              <a:cs typeface="Calibri"/>
              <a:sym typeface="Calibri"/>
            </a:endParaRPr>
          </a:p>
        </p:txBody>
      </p:sp>
      <p:sp>
        <p:nvSpPr>
          <p:cNvPr id="218" name="Google Shape;218;p9"/>
          <p:cNvSpPr/>
          <p:nvPr/>
        </p:nvSpPr>
        <p:spPr>
          <a:xfrm>
            <a:off x="4572000" y="5020056"/>
            <a:ext cx="6995160" cy="1362456"/>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a:solidFill>
                  <a:schemeClr val="lt1"/>
                </a:solidFill>
              </a:rPr>
              <a:t>레벨업 연출이 진행 중인 상태에서 게임을 다시 시작되면, 강화 데이터가 중복으로 반영되는 문제가 있었습니다. 이를 해결하기 위해 강화 진행 여부를 확인하는 상태값을 추가하고, 연출이 끝나기 전에는 재시작 로직이 실행되지 않도록 처리했습니다. 그 결과 강화 데이터의 중복 적용을 방지하고, 데이터의 일관성을 유지할 수 있었습니다. </a:t>
            </a:r>
            <a:endParaRPr>
              <a:solidFill>
                <a:schemeClr val="lt1"/>
              </a:solidFill>
              <a:latin typeface="Noto Sans"/>
              <a:ea typeface="Noto Sans"/>
              <a:cs typeface="Noto Sans"/>
              <a:sym typeface="No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223" name="Shape 223"/>
        <p:cNvGrpSpPr/>
        <p:nvPr/>
      </p:nvGrpSpPr>
      <p:grpSpPr>
        <a:xfrm>
          <a:off x="0" y="0"/>
          <a:ext cx="0" cy="0"/>
          <a:chOff x="0" y="0"/>
          <a:chExt cx="0" cy="0"/>
        </a:xfrm>
      </p:grpSpPr>
      <p:sp>
        <p:nvSpPr>
          <p:cNvPr id="224" name="Google Shape;224;p10"/>
          <p:cNvSpPr/>
          <p:nvPr/>
        </p:nvSpPr>
        <p:spPr>
          <a:xfrm>
            <a:off x="640080" y="4114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D1C5"/>
              </a:buClr>
              <a:buSzPts val="2600"/>
              <a:buFont typeface="Noto Sans"/>
              <a:buNone/>
            </a:pPr>
            <a:r>
              <a:rPr b="1" i="0" lang="en-US" sz="2600" u="none" cap="none" strike="noStrike">
                <a:solidFill>
                  <a:srgbClr val="4FD1C5"/>
                </a:solidFill>
                <a:latin typeface="Noto Sans"/>
                <a:ea typeface="Noto Sans"/>
                <a:cs typeface="Noto Sans"/>
                <a:sym typeface="Noto Sans"/>
              </a:rPr>
              <a:t>기능 01  </a:t>
            </a:r>
            <a:r>
              <a:rPr b="1" i="0" lang="en-US" sz="2600" u="none" cap="none" strike="noStrike">
                <a:solidFill>
                  <a:srgbClr val="1B2340"/>
                </a:solidFill>
                <a:latin typeface="Noto Sans"/>
                <a:ea typeface="Noto Sans"/>
                <a:cs typeface="Noto Sans"/>
                <a:sym typeface="Noto Sans"/>
              </a:rPr>
              <a:t>레벨업 카드 선택</a:t>
            </a:r>
            <a:endParaRPr b="0" i="0" sz="2600" u="none" cap="none" strike="noStrike">
              <a:solidFill>
                <a:schemeClr val="dk1"/>
              </a:solidFill>
              <a:latin typeface="Calibri"/>
              <a:ea typeface="Calibri"/>
              <a:cs typeface="Calibri"/>
              <a:sym typeface="Calibri"/>
            </a:endParaRPr>
          </a:p>
        </p:txBody>
      </p:sp>
      <p:sp>
        <p:nvSpPr>
          <p:cNvPr id="225" name="Google Shape;225;p10"/>
          <p:cNvSpPr/>
          <p:nvPr/>
        </p:nvSpPr>
        <p:spPr>
          <a:xfrm>
            <a:off x="658368" y="1024128"/>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80"/>
              </a:buClr>
              <a:buSzPts val="1350"/>
              <a:buFont typeface="Noto Sans"/>
              <a:buNone/>
            </a:pPr>
            <a:r>
              <a:rPr i="1" lang="en-US" sz="1350">
                <a:solidFill>
                  <a:srgbClr val="5B6480"/>
                </a:solidFill>
                <a:latin typeface="Noto Sans"/>
                <a:ea typeface="Noto Sans"/>
                <a:cs typeface="Noto Sans"/>
                <a:sym typeface="Noto Sans"/>
              </a:rPr>
              <a:t>레벨업 시 3장의 카드 중 하나를 선택하여 캐릭터를 성장시키는 시스템 </a:t>
            </a:r>
            <a:endParaRPr b="0" i="0" sz="1350" u="none" cap="none" strike="noStrike">
              <a:solidFill>
                <a:schemeClr val="dk1"/>
              </a:solidFill>
              <a:latin typeface="Calibri"/>
              <a:ea typeface="Calibri"/>
              <a:cs typeface="Calibri"/>
              <a:sym typeface="Calibri"/>
            </a:endParaRPr>
          </a:p>
        </p:txBody>
      </p:sp>
      <p:sp>
        <p:nvSpPr>
          <p:cNvPr id="226" name="Google Shape;226;p10"/>
          <p:cNvSpPr/>
          <p:nvPr/>
        </p:nvSpPr>
        <p:spPr>
          <a:xfrm>
            <a:off x="640080" y="1600200"/>
            <a:ext cx="3977640" cy="4800600"/>
          </a:xfrm>
          <a:prstGeom prst="roundRect">
            <a:avLst>
              <a:gd fmla="val 1839" name="adj"/>
            </a:avLst>
          </a:prstGeom>
          <a:solidFill>
            <a:srgbClr val="0E1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0"/>
          <p:cNvSpPr/>
          <p:nvPr/>
        </p:nvSpPr>
        <p:spPr>
          <a:xfrm>
            <a:off x="640080" y="1600200"/>
            <a:ext cx="91440" cy="4800600"/>
          </a:xfrm>
          <a:prstGeom prst="roundRect">
            <a:avLst>
              <a:gd fmla="val 30000" name="adj"/>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
          <p:cNvSpPr/>
          <p:nvPr/>
        </p:nvSpPr>
        <p:spPr>
          <a:xfrm>
            <a:off x="932688" y="1911096"/>
            <a:ext cx="3429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D1C5"/>
              </a:buClr>
              <a:buSzPts val="1500"/>
              <a:buFont typeface="Noto Sans"/>
              <a:buNone/>
            </a:pPr>
            <a:r>
              <a:rPr b="1" i="0" lang="en-US" sz="1500" u="none" cap="none" strike="noStrike">
                <a:solidFill>
                  <a:srgbClr val="4FD1C5"/>
                </a:solidFill>
                <a:latin typeface="Noto Sans"/>
                <a:ea typeface="Noto Sans"/>
                <a:cs typeface="Noto Sans"/>
                <a:sym typeface="Noto Sans"/>
              </a:rPr>
              <a:t>기획 의도</a:t>
            </a:r>
            <a:endParaRPr b="0" i="0" sz="1500" u="none" cap="none" strike="noStrike">
              <a:solidFill>
                <a:schemeClr val="dk1"/>
              </a:solidFill>
              <a:latin typeface="Calibri"/>
              <a:ea typeface="Calibri"/>
              <a:cs typeface="Calibri"/>
              <a:sym typeface="Calibri"/>
            </a:endParaRPr>
          </a:p>
        </p:txBody>
      </p:sp>
      <p:cxnSp>
        <p:nvCxnSpPr>
          <p:cNvPr id="229" name="Google Shape;229;p10"/>
          <p:cNvCxnSpPr/>
          <p:nvPr/>
        </p:nvCxnSpPr>
        <p:spPr>
          <a:xfrm>
            <a:off x="950976" y="2441448"/>
            <a:ext cx="3355848" cy="0"/>
          </a:xfrm>
          <a:prstGeom prst="straightConnector1">
            <a:avLst/>
          </a:prstGeom>
          <a:noFill/>
          <a:ln cap="flat" cmpd="sng" w="12700">
            <a:solidFill>
              <a:srgbClr val="33406B"/>
            </a:solidFill>
            <a:prstDash val="solid"/>
            <a:round/>
            <a:headEnd len="sm" w="sm" type="none"/>
            <a:tailEnd len="sm" w="sm" type="none"/>
          </a:ln>
        </p:spPr>
      </p:cxnSp>
      <p:sp>
        <p:nvSpPr>
          <p:cNvPr id="230" name="Google Shape;230;p10"/>
          <p:cNvSpPr/>
          <p:nvPr/>
        </p:nvSpPr>
        <p:spPr>
          <a:xfrm>
            <a:off x="932688" y="2624328"/>
            <a:ext cx="3392424" cy="3429000"/>
          </a:xfrm>
          <a:prstGeom prst="rect">
            <a:avLst/>
          </a:prstGeom>
          <a:noFill/>
          <a:ln>
            <a:noFill/>
          </a:ln>
        </p:spPr>
        <p:txBody>
          <a:bodyPr anchorCtr="0" anchor="t" bIns="45700" lIns="91425" spcFirstLastPara="1" rIns="91425" wrap="square" tIns="45700">
            <a:noAutofit/>
          </a:bodyPr>
          <a:lstStyle/>
          <a:p>
            <a:pPr indent="0" lvl="0" marL="0" marR="0" rtl="0" algn="l">
              <a:lnSpc>
                <a:spcPct val="142000"/>
              </a:lnSpc>
              <a:spcBef>
                <a:spcPts val="0"/>
              </a:spcBef>
              <a:spcAft>
                <a:spcPts val="0"/>
              </a:spcAft>
              <a:buClr>
                <a:srgbClr val="C7D2F0"/>
              </a:buClr>
              <a:buSzPts val="1250"/>
              <a:buFont typeface="Noto Sans"/>
              <a:buNone/>
            </a:pPr>
            <a:r>
              <a:rPr lang="en-US" sz="1250">
                <a:solidFill>
                  <a:srgbClr val="C7D2F0"/>
                </a:solidFill>
                <a:latin typeface="Noto Sans"/>
                <a:ea typeface="Noto Sans"/>
                <a:cs typeface="Noto Sans"/>
                <a:sym typeface="Noto Sans"/>
              </a:rPr>
              <a:t>플레이어가 레벨업마다 직접 성장 방향을 선택하는 재미를 느낄 수 있도록 카드 선택 방식을 적용했습니다. 그리고 진행 단계에 따라 등장하는 카드를 다르게 하여, 초반에는 새로운 무기를 확보하고 후반에는 기존 능력을 강화하는 성장 흐름을 만들었습니다. </a:t>
            </a:r>
            <a:endParaRPr b="0" i="0" sz="1250" u="none" cap="none" strike="noStrike">
              <a:solidFill>
                <a:schemeClr val="dk1"/>
              </a:solidFill>
              <a:latin typeface="Calibri"/>
              <a:ea typeface="Calibri"/>
              <a:cs typeface="Calibri"/>
              <a:sym typeface="Calibri"/>
            </a:endParaRPr>
          </a:p>
        </p:txBody>
      </p:sp>
      <p:sp>
        <p:nvSpPr>
          <p:cNvPr id="231" name="Google Shape;231;p10"/>
          <p:cNvSpPr/>
          <p:nvPr/>
        </p:nvSpPr>
        <p:spPr>
          <a:xfrm>
            <a:off x="4846320" y="1600200"/>
            <a:ext cx="6675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구현 방법 </a:t>
            </a:r>
            <a:r>
              <a:rPr b="1" i="0" lang="en-US" sz="1350" u="none" cap="none" strike="noStrike">
                <a:solidFill>
                  <a:srgbClr val="1B2340"/>
                </a:solidFill>
                <a:latin typeface="Noto Sans"/>
                <a:ea typeface="Noto Sans"/>
                <a:cs typeface="Noto Sans"/>
                <a:sym typeface="Noto Sans"/>
              </a:rPr>
              <a:t> </a:t>
            </a:r>
            <a:r>
              <a:rPr b="1" i="0" lang="en-US" sz="1150" u="none" cap="none" strike="noStrike">
                <a:solidFill>
                  <a:srgbClr val="5B6480"/>
                </a:solidFill>
                <a:latin typeface="Noto Sans"/>
                <a:ea typeface="Noto Sans"/>
                <a:cs typeface="Noto Sans"/>
                <a:sym typeface="Noto Sans"/>
              </a:rPr>
              <a:t>· 사용한 기능·패턴</a:t>
            </a:r>
            <a:endParaRPr b="0" i="0" sz="1350" u="none" cap="none" strike="noStrike">
              <a:solidFill>
                <a:schemeClr val="dk1"/>
              </a:solidFill>
              <a:latin typeface="Calibri"/>
              <a:ea typeface="Calibri"/>
              <a:cs typeface="Calibri"/>
              <a:sym typeface="Calibri"/>
            </a:endParaRPr>
          </a:p>
        </p:txBody>
      </p:sp>
      <p:sp>
        <p:nvSpPr>
          <p:cNvPr id="232" name="Google Shape;232;p10"/>
          <p:cNvSpPr/>
          <p:nvPr/>
        </p:nvSpPr>
        <p:spPr>
          <a:xfrm>
            <a:off x="4846320" y="2057400"/>
            <a:ext cx="3227832" cy="2103120"/>
          </a:xfrm>
          <a:prstGeom prst="roundRect">
            <a:avLst>
              <a:gd fmla="val 3043"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
          <p:cNvSpPr/>
          <p:nvPr/>
        </p:nvSpPr>
        <p:spPr>
          <a:xfrm>
            <a:off x="5029200" y="2221992"/>
            <a:ext cx="365760" cy="365760"/>
          </a:xfrm>
          <a:prstGeom prst="ellipse">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
          <p:cNvSpPr/>
          <p:nvPr/>
        </p:nvSpPr>
        <p:spPr>
          <a:xfrm>
            <a:off x="5029200" y="222199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Noto Sans"/>
              <a:buNone/>
            </a:pPr>
            <a:r>
              <a:rPr b="1" i="0" lang="en-US" sz="1300" u="none" cap="none" strike="noStrike">
                <a:solidFill>
                  <a:srgbClr val="FFFFFF"/>
                </a:solidFill>
                <a:latin typeface="Noto Sans"/>
                <a:ea typeface="Noto Sans"/>
                <a:cs typeface="Noto Sans"/>
                <a:sym typeface="Noto Sans"/>
              </a:rPr>
              <a:t>1</a:t>
            </a:r>
            <a:endParaRPr b="0" i="0" sz="1300" u="none" cap="none" strike="noStrike">
              <a:solidFill>
                <a:schemeClr val="dk1"/>
              </a:solidFill>
              <a:latin typeface="Calibri"/>
              <a:ea typeface="Calibri"/>
              <a:cs typeface="Calibri"/>
              <a:sym typeface="Calibri"/>
            </a:endParaRPr>
          </a:p>
        </p:txBody>
      </p:sp>
      <p:sp>
        <p:nvSpPr>
          <p:cNvPr id="235" name="Google Shape;235;p10"/>
          <p:cNvSpPr/>
          <p:nvPr/>
        </p:nvSpPr>
        <p:spPr>
          <a:xfrm>
            <a:off x="5504688" y="2240280"/>
            <a:ext cx="2450592"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340"/>
              </a:buClr>
              <a:buSzPts val="1150"/>
              <a:buFont typeface="Noto Sans"/>
              <a:buNone/>
            </a:pPr>
            <a:r>
              <a:rPr b="1" lang="en-US" sz="1150">
                <a:solidFill>
                  <a:srgbClr val="1B2340"/>
                </a:solidFill>
                <a:latin typeface="Noto Sans"/>
                <a:ea typeface="Noto Sans"/>
                <a:cs typeface="Noto Sans"/>
                <a:sym typeface="Noto Sans"/>
              </a:rPr>
              <a:t>기능별 코드 분리 </a:t>
            </a:r>
            <a:endParaRPr b="0" i="0" sz="1150" u="none" cap="none" strike="noStrike">
              <a:solidFill>
                <a:schemeClr val="dk1"/>
              </a:solidFill>
              <a:latin typeface="Calibri"/>
              <a:ea typeface="Calibri"/>
              <a:cs typeface="Calibri"/>
              <a:sym typeface="Calibri"/>
            </a:endParaRPr>
          </a:p>
        </p:txBody>
      </p:sp>
      <p:sp>
        <p:nvSpPr>
          <p:cNvPr id="236" name="Google Shape;236;p10"/>
          <p:cNvSpPr/>
          <p:nvPr/>
        </p:nvSpPr>
        <p:spPr>
          <a:xfrm>
            <a:off x="5065776" y="2807208"/>
            <a:ext cx="2788920" cy="1234440"/>
          </a:xfrm>
          <a:prstGeom prst="rect">
            <a:avLst/>
          </a:prstGeom>
          <a:noFill/>
          <a:ln>
            <a:noFill/>
          </a:ln>
        </p:spPr>
        <p:txBody>
          <a:bodyPr anchorCtr="0" anchor="t" bIns="45700" lIns="91425" spcFirstLastPara="1" rIns="91425" wrap="square" tIns="45700">
            <a:noAutofit/>
          </a:bodyPr>
          <a:lstStyle/>
          <a:p>
            <a:pPr indent="0" lvl="0" marL="0" rtl="0" algn="l">
              <a:lnSpc>
                <a:spcPct val="118000"/>
              </a:lnSpc>
              <a:spcBef>
                <a:spcPts val="0"/>
              </a:spcBef>
              <a:spcAft>
                <a:spcPts val="0"/>
              </a:spcAft>
              <a:buClr>
                <a:schemeClr val="dk1"/>
              </a:buClr>
              <a:buSzPts val="1100"/>
              <a:buFont typeface="Arial"/>
              <a:buNone/>
            </a:pPr>
            <a:r>
              <a:rPr lang="en-US" sz="1300">
                <a:solidFill>
                  <a:schemeClr val="dk1"/>
                </a:solidFill>
              </a:rPr>
              <a:t>● UI · 데이터 · 생성 기능 역할별 분리</a:t>
            </a:r>
            <a:endParaRPr sz="1300">
              <a:solidFill>
                <a:schemeClr val="dk1"/>
              </a:solidFill>
            </a:endParaRPr>
          </a:p>
          <a:p>
            <a:pPr indent="0" lvl="0" marL="0" rtl="0" algn="l">
              <a:lnSpc>
                <a:spcPct val="118000"/>
              </a:lnSpc>
              <a:spcBef>
                <a:spcPts val="0"/>
              </a:spcBef>
              <a:spcAft>
                <a:spcPts val="0"/>
              </a:spcAft>
              <a:buClr>
                <a:schemeClr val="dk1"/>
              </a:buClr>
              <a:buSzPts val="1100"/>
              <a:buFont typeface="Arial"/>
              <a:buNone/>
            </a:pPr>
            <a:r>
              <a:rPr lang="en-US" sz="1300">
                <a:solidFill>
                  <a:schemeClr val="dk1"/>
                </a:solidFill>
              </a:rPr>
              <a:t>● 기능별 독립 구조로 코드 단순화</a:t>
            </a:r>
            <a:endParaRPr sz="1300">
              <a:solidFill>
                <a:schemeClr val="dk1"/>
              </a:solidFill>
            </a:endParaRPr>
          </a:p>
          <a:p>
            <a:pPr indent="0" lvl="0" marL="0" rtl="0" algn="l">
              <a:lnSpc>
                <a:spcPct val="118000"/>
              </a:lnSpc>
              <a:spcBef>
                <a:spcPts val="0"/>
              </a:spcBef>
              <a:spcAft>
                <a:spcPts val="0"/>
              </a:spcAft>
              <a:buClr>
                <a:schemeClr val="dk1"/>
              </a:buClr>
              <a:buSzPts val="1100"/>
              <a:buFont typeface="Arial"/>
              <a:buNone/>
            </a:pPr>
            <a:r>
              <a:rPr lang="en-US" sz="1300">
                <a:solidFill>
                  <a:schemeClr val="dk1"/>
                </a:solidFill>
              </a:rPr>
              <a:t>● 수정 시 다른 기능 영향 최소화</a:t>
            </a:r>
            <a:endParaRPr sz="1300">
              <a:solidFill>
                <a:schemeClr val="dk1"/>
              </a:solidFill>
            </a:endParaRPr>
          </a:p>
          <a:p>
            <a:pPr indent="0" lvl="0" marL="0" marR="0" rtl="0" algn="l">
              <a:lnSpc>
                <a:spcPct val="118000"/>
              </a:lnSpc>
              <a:spcBef>
                <a:spcPts val="0"/>
              </a:spcBef>
              <a:spcAft>
                <a:spcPts val="0"/>
              </a:spcAft>
              <a:buClr>
                <a:srgbClr val="46506B"/>
              </a:buClr>
              <a:buSzPts val="950"/>
              <a:buFont typeface="Noto Sans"/>
              <a:buNone/>
            </a:pPr>
            <a:r>
              <a:t/>
            </a:r>
            <a:endParaRPr sz="1300">
              <a:solidFill>
                <a:schemeClr val="dk1"/>
              </a:solidFill>
            </a:endParaRPr>
          </a:p>
        </p:txBody>
      </p:sp>
      <p:sp>
        <p:nvSpPr>
          <p:cNvPr id="237" name="Google Shape;237;p10"/>
          <p:cNvSpPr/>
          <p:nvPr/>
        </p:nvSpPr>
        <p:spPr>
          <a:xfrm>
            <a:off x="8293608" y="2057400"/>
            <a:ext cx="3227832" cy="2103120"/>
          </a:xfrm>
          <a:prstGeom prst="roundRect">
            <a:avLst>
              <a:gd fmla="val 3043"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p:nvPr/>
        </p:nvSpPr>
        <p:spPr>
          <a:xfrm>
            <a:off x="8476488" y="2221992"/>
            <a:ext cx="365760" cy="365760"/>
          </a:xfrm>
          <a:prstGeom prst="ellipse">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p:nvPr/>
        </p:nvSpPr>
        <p:spPr>
          <a:xfrm>
            <a:off x="8476488" y="222199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Noto Sans"/>
              <a:buNone/>
            </a:pPr>
            <a:r>
              <a:rPr b="1" i="0" lang="en-US" sz="1300" u="none" cap="none" strike="noStrike">
                <a:solidFill>
                  <a:srgbClr val="FFFFFF"/>
                </a:solidFill>
                <a:latin typeface="Noto Sans"/>
                <a:ea typeface="Noto Sans"/>
                <a:cs typeface="Noto Sans"/>
                <a:sym typeface="Noto Sans"/>
              </a:rPr>
              <a:t>2</a:t>
            </a:r>
            <a:endParaRPr b="0" i="0" sz="1300" u="none" cap="none" strike="noStrike">
              <a:solidFill>
                <a:schemeClr val="dk1"/>
              </a:solidFill>
              <a:latin typeface="Calibri"/>
              <a:ea typeface="Calibri"/>
              <a:cs typeface="Calibri"/>
              <a:sym typeface="Calibri"/>
            </a:endParaRPr>
          </a:p>
        </p:txBody>
      </p:sp>
      <p:sp>
        <p:nvSpPr>
          <p:cNvPr id="240" name="Google Shape;240;p10"/>
          <p:cNvSpPr/>
          <p:nvPr/>
        </p:nvSpPr>
        <p:spPr>
          <a:xfrm>
            <a:off x="8951976" y="2240280"/>
            <a:ext cx="2450592"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340"/>
              </a:buClr>
              <a:buSzPts val="1150"/>
              <a:buFont typeface="Noto Sans"/>
              <a:buNone/>
            </a:pPr>
            <a:r>
              <a:rPr b="1" lang="en-US" sz="1150">
                <a:solidFill>
                  <a:srgbClr val="1B2340"/>
                </a:solidFill>
                <a:latin typeface="Noto Sans"/>
                <a:ea typeface="Noto Sans"/>
                <a:cs typeface="Noto Sans"/>
                <a:sym typeface="Noto Sans"/>
              </a:rPr>
              <a:t>ScriptableObject 기반 데이터 관리 </a:t>
            </a:r>
            <a:endParaRPr b="0" i="0" sz="1150" u="none" cap="none" strike="noStrike">
              <a:solidFill>
                <a:schemeClr val="dk1"/>
              </a:solidFill>
              <a:latin typeface="Calibri"/>
              <a:ea typeface="Calibri"/>
              <a:cs typeface="Calibri"/>
              <a:sym typeface="Calibri"/>
            </a:endParaRPr>
          </a:p>
        </p:txBody>
      </p:sp>
      <p:sp>
        <p:nvSpPr>
          <p:cNvPr id="241" name="Google Shape;241;p10"/>
          <p:cNvSpPr/>
          <p:nvPr/>
        </p:nvSpPr>
        <p:spPr>
          <a:xfrm>
            <a:off x="8513075" y="2624325"/>
            <a:ext cx="2788800" cy="1417200"/>
          </a:xfrm>
          <a:prstGeom prst="rect">
            <a:avLst/>
          </a:prstGeom>
          <a:noFill/>
          <a:ln>
            <a:noFill/>
          </a:ln>
        </p:spPr>
        <p:txBody>
          <a:bodyPr anchorCtr="0" anchor="t" bIns="45700" lIns="91425" spcFirstLastPara="1" rIns="91425" wrap="square" tIns="45700">
            <a:noAutofit/>
          </a:bodyPr>
          <a:lstStyle/>
          <a:p>
            <a:pPr indent="0" lvl="0" marL="0" rtl="0" algn="l">
              <a:lnSpc>
                <a:spcPct val="118000"/>
              </a:lnSpc>
              <a:spcBef>
                <a:spcPts val="0"/>
              </a:spcBef>
              <a:spcAft>
                <a:spcPts val="0"/>
              </a:spcAft>
              <a:buClr>
                <a:schemeClr val="dk1"/>
              </a:buClr>
              <a:buSzPts val="1100"/>
              <a:buFont typeface="Arial"/>
              <a:buNone/>
            </a:pPr>
            <a:r>
              <a:rPr lang="en-US" sz="1300">
                <a:solidFill>
                  <a:schemeClr val="dk1"/>
                </a:solidFill>
              </a:rPr>
              <a:t>●</a:t>
            </a:r>
            <a:r>
              <a:rPr lang="en-US" sz="1300">
                <a:solidFill>
                  <a:srgbClr val="46506B"/>
                </a:solidFill>
                <a:latin typeface="Noto Sans"/>
                <a:ea typeface="Noto Sans"/>
                <a:cs typeface="Noto Sans"/>
                <a:sym typeface="Noto Sans"/>
              </a:rPr>
              <a:t> ScriptableObject 기반 카드 카탈로그 구성</a:t>
            </a:r>
            <a:endParaRPr sz="1300">
              <a:solidFill>
                <a:srgbClr val="46506B"/>
              </a:solidFill>
              <a:latin typeface="Noto Sans"/>
              <a:ea typeface="Noto Sans"/>
              <a:cs typeface="Noto Sans"/>
              <a:sym typeface="Noto Sans"/>
            </a:endParaRPr>
          </a:p>
          <a:p>
            <a:pPr indent="0" lvl="0" marL="0" rtl="0" algn="l">
              <a:lnSpc>
                <a:spcPct val="118000"/>
              </a:lnSpc>
              <a:spcBef>
                <a:spcPts val="0"/>
              </a:spcBef>
              <a:spcAft>
                <a:spcPts val="0"/>
              </a:spcAft>
              <a:buClr>
                <a:schemeClr val="dk1"/>
              </a:buClr>
              <a:buSzPts val="1100"/>
              <a:buFont typeface="Arial"/>
              <a:buNone/>
            </a:pPr>
            <a:r>
              <a:rPr lang="en-US" sz="1300">
                <a:solidFill>
                  <a:schemeClr val="dk1"/>
                </a:solidFill>
              </a:rPr>
              <a:t>●</a:t>
            </a:r>
            <a:r>
              <a:rPr lang="en-US" sz="1300">
                <a:solidFill>
                  <a:srgbClr val="46506B"/>
                </a:solidFill>
                <a:latin typeface="Noto Sans"/>
                <a:ea typeface="Noto Sans"/>
                <a:cs typeface="Noto Sans"/>
                <a:sym typeface="Noto Sans"/>
              </a:rPr>
              <a:t> 데이터만 추가·수정하여 카드 관리</a:t>
            </a:r>
            <a:endParaRPr sz="1300">
              <a:solidFill>
                <a:srgbClr val="46506B"/>
              </a:solidFill>
              <a:latin typeface="Noto Sans"/>
              <a:ea typeface="Noto Sans"/>
              <a:cs typeface="Noto Sans"/>
              <a:sym typeface="Noto Sans"/>
            </a:endParaRPr>
          </a:p>
          <a:p>
            <a:pPr indent="0" lvl="0" marL="0" rtl="0" algn="l">
              <a:lnSpc>
                <a:spcPct val="118000"/>
              </a:lnSpc>
              <a:spcBef>
                <a:spcPts val="0"/>
              </a:spcBef>
              <a:spcAft>
                <a:spcPts val="0"/>
              </a:spcAft>
              <a:buClr>
                <a:schemeClr val="dk1"/>
              </a:buClr>
              <a:buSzPts val="1100"/>
              <a:buFont typeface="Arial"/>
              <a:buNone/>
            </a:pPr>
            <a:r>
              <a:rPr lang="en-US" sz="1300">
                <a:solidFill>
                  <a:schemeClr val="dk1"/>
                </a:solidFill>
              </a:rPr>
              <a:t>●</a:t>
            </a:r>
            <a:r>
              <a:rPr lang="en-US" sz="1300">
                <a:solidFill>
                  <a:srgbClr val="46506B"/>
                </a:solidFill>
                <a:latin typeface="Noto Sans"/>
                <a:ea typeface="Noto Sans"/>
                <a:cs typeface="Noto Sans"/>
                <a:sym typeface="Noto Sans"/>
              </a:rPr>
              <a:t> 코드 수정 없이 신규 카드 확장</a:t>
            </a:r>
            <a:endParaRPr sz="1300">
              <a:solidFill>
                <a:srgbClr val="46506B"/>
              </a:solidFill>
              <a:latin typeface="Noto Sans"/>
              <a:ea typeface="Noto Sans"/>
              <a:cs typeface="Noto Sans"/>
              <a:sym typeface="Noto Sans"/>
            </a:endParaRPr>
          </a:p>
          <a:p>
            <a:pPr indent="0" lvl="0" marL="0" marR="0" rtl="0" algn="l">
              <a:lnSpc>
                <a:spcPct val="118000"/>
              </a:lnSpc>
              <a:spcBef>
                <a:spcPts val="0"/>
              </a:spcBef>
              <a:spcAft>
                <a:spcPts val="0"/>
              </a:spcAft>
              <a:buClr>
                <a:srgbClr val="46506B"/>
              </a:buClr>
              <a:buSzPts val="950"/>
              <a:buFont typeface="Noto Sans"/>
              <a:buNone/>
            </a:pPr>
            <a:r>
              <a:t/>
            </a:r>
            <a:endParaRPr sz="1300">
              <a:solidFill>
                <a:srgbClr val="46506B"/>
              </a:solidFill>
              <a:latin typeface="Noto Sans"/>
              <a:ea typeface="Noto Sans"/>
              <a:cs typeface="Noto Sans"/>
              <a:sym typeface="Noto Sans"/>
            </a:endParaRPr>
          </a:p>
        </p:txBody>
      </p:sp>
      <p:sp>
        <p:nvSpPr>
          <p:cNvPr id="242" name="Google Shape;242;p10"/>
          <p:cNvSpPr/>
          <p:nvPr/>
        </p:nvSpPr>
        <p:spPr>
          <a:xfrm>
            <a:off x="4846320" y="4343400"/>
            <a:ext cx="3227832" cy="2103120"/>
          </a:xfrm>
          <a:prstGeom prst="roundRect">
            <a:avLst>
              <a:gd fmla="val 3043"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0"/>
          <p:cNvSpPr/>
          <p:nvPr/>
        </p:nvSpPr>
        <p:spPr>
          <a:xfrm>
            <a:off x="5029200" y="4507992"/>
            <a:ext cx="365760" cy="365760"/>
          </a:xfrm>
          <a:prstGeom prst="ellipse">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0"/>
          <p:cNvSpPr/>
          <p:nvPr/>
        </p:nvSpPr>
        <p:spPr>
          <a:xfrm>
            <a:off x="5029200" y="450799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Noto Sans"/>
              <a:buNone/>
            </a:pPr>
            <a:r>
              <a:rPr b="1" i="0" lang="en-US" sz="1300" u="none" cap="none" strike="noStrike">
                <a:solidFill>
                  <a:srgbClr val="FFFFFF"/>
                </a:solidFill>
                <a:latin typeface="Noto Sans"/>
                <a:ea typeface="Noto Sans"/>
                <a:cs typeface="Noto Sans"/>
                <a:sym typeface="Noto Sans"/>
              </a:rPr>
              <a:t>3</a:t>
            </a:r>
            <a:endParaRPr b="0" i="0" sz="1300" u="none" cap="none" strike="noStrike">
              <a:solidFill>
                <a:schemeClr val="dk1"/>
              </a:solidFill>
              <a:latin typeface="Calibri"/>
              <a:ea typeface="Calibri"/>
              <a:cs typeface="Calibri"/>
              <a:sym typeface="Calibri"/>
            </a:endParaRPr>
          </a:p>
        </p:txBody>
      </p:sp>
      <p:sp>
        <p:nvSpPr>
          <p:cNvPr id="245" name="Google Shape;245;p10"/>
          <p:cNvSpPr/>
          <p:nvPr/>
        </p:nvSpPr>
        <p:spPr>
          <a:xfrm>
            <a:off x="5504688" y="4526280"/>
            <a:ext cx="2450592"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340"/>
              </a:buClr>
              <a:buSzPts val="1150"/>
              <a:buFont typeface="Noto Sans"/>
              <a:buNone/>
            </a:pPr>
            <a:r>
              <a:rPr b="1" lang="en-US" sz="1150">
                <a:solidFill>
                  <a:srgbClr val="1B2340"/>
                </a:solidFill>
                <a:latin typeface="Noto Sans"/>
                <a:ea typeface="Noto Sans"/>
                <a:cs typeface="Noto Sans"/>
                <a:sym typeface="Noto Sans"/>
              </a:rPr>
              <a:t>레벨 구간별 카드 구성 </a:t>
            </a:r>
            <a:endParaRPr b="0" i="0" sz="1150" u="none" cap="none" strike="noStrike">
              <a:solidFill>
                <a:schemeClr val="dk1"/>
              </a:solidFill>
              <a:latin typeface="Calibri"/>
              <a:ea typeface="Calibri"/>
              <a:cs typeface="Calibri"/>
              <a:sym typeface="Calibri"/>
            </a:endParaRPr>
          </a:p>
        </p:txBody>
      </p:sp>
      <p:sp>
        <p:nvSpPr>
          <p:cNvPr id="246" name="Google Shape;246;p10"/>
          <p:cNvSpPr/>
          <p:nvPr/>
        </p:nvSpPr>
        <p:spPr>
          <a:xfrm>
            <a:off x="5065776" y="5093208"/>
            <a:ext cx="2788920" cy="1234440"/>
          </a:xfrm>
          <a:prstGeom prst="rect">
            <a:avLst/>
          </a:prstGeom>
          <a:noFill/>
          <a:ln>
            <a:noFill/>
          </a:ln>
        </p:spPr>
        <p:txBody>
          <a:bodyPr anchorCtr="0" anchor="t" bIns="45700" lIns="91425" spcFirstLastPara="1" rIns="91425" wrap="square" tIns="45700">
            <a:noAutofit/>
          </a:bodyPr>
          <a:lstStyle/>
          <a:p>
            <a:pPr indent="0" lvl="0" marL="0" rtl="0" algn="l">
              <a:lnSpc>
                <a:spcPct val="118000"/>
              </a:lnSpc>
              <a:spcBef>
                <a:spcPts val="0"/>
              </a:spcBef>
              <a:spcAft>
                <a:spcPts val="0"/>
              </a:spcAft>
              <a:buClr>
                <a:schemeClr val="dk1"/>
              </a:buClr>
              <a:buSzPts val="1100"/>
              <a:buFont typeface="Arial"/>
              <a:buNone/>
            </a:pPr>
            <a:r>
              <a:rPr lang="en-US" sz="1300">
                <a:solidFill>
                  <a:schemeClr val="dk1"/>
                </a:solidFill>
              </a:rPr>
              <a:t>●</a:t>
            </a:r>
            <a:r>
              <a:rPr lang="en-US" sz="1300">
                <a:solidFill>
                  <a:srgbClr val="46506B"/>
                </a:solidFill>
                <a:latin typeface="Noto Sans"/>
                <a:ea typeface="Noto Sans"/>
                <a:cs typeface="Noto Sans"/>
                <a:sym typeface="Noto Sans"/>
              </a:rPr>
              <a:t> 레벨 구간별 카드 등장 분리</a:t>
            </a:r>
            <a:endParaRPr sz="1300">
              <a:solidFill>
                <a:srgbClr val="46506B"/>
              </a:solidFill>
              <a:latin typeface="Noto Sans"/>
              <a:ea typeface="Noto Sans"/>
              <a:cs typeface="Noto Sans"/>
              <a:sym typeface="Noto Sans"/>
            </a:endParaRPr>
          </a:p>
          <a:p>
            <a:pPr indent="0" lvl="0" marL="0" rtl="0" algn="l">
              <a:lnSpc>
                <a:spcPct val="118000"/>
              </a:lnSpc>
              <a:spcBef>
                <a:spcPts val="0"/>
              </a:spcBef>
              <a:spcAft>
                <a:spcPts val="0"/>
              </a:spcAft>
              <a:buClr>
                <a:schemeClr val="dk1"/>
              </a:buClr>
              <a:buSzPts val="1100"/>
              <a:buFont typeface="Arial"/>
              <a:buNone/>
            </a:pPr>
            <a:r>
              <a:rPr lang="en-US" sz="1300">
                <a:solidFill>
                  <a:schemeClr val="dk1"/>
                </a:solidFill>
              </a:rPr>
              <a:t>●</a:t>
            </a:r>
            <a:r>
              <a:rPr lang="en-US" sz="1300">
                <a:solidFill>
                  <a:srgbClr val="46506B"/>
                </a:solidFill>
                <a:latin typeface="Noto Sans"/>
                <a:ea typeface="Noto Sans"/>
                <a:cs typeface="Noto Sans"/>
                <a:sym typeface="Noto Sans"/>
              </a:rPr>
              <a:t> 초반 : 신규 무기 카드</a:t>
            </a:r>
            <a:endParaRPr sz="1300">
              <a:solidFill>
                <a:srgbClr val="46506B"/>
              </a:solidFill>
              <a:latin typeface="Noto Sans"/>
              <a:ea typeface="Noto Sans"/>
              <a:cs typeface="Noto Sans"/>
              <a:sym typeface="Noto Sans"/>
            </a:endParaRPr>
          </a:p>
          <a:p>
            <a:pPr indent="0" lvl="0" marL="0" rtl="0" algn="l">
              <a:lnSpc>
                <a:spcPct val="118000"/>
              </a:lnSpc>
              <a:spcBef>
                <a:spcPts val="0"/>
              </a:spcBef>
              <a:spcAft>
                <a:spcPts val="0"/>
              </a:spcAft>
              <a:buClr>
                <a:schemeClr val="dk1"/>
              </a:buClr>
              <a:buSzPts val="1100"/>
              <a:buFont typeface="Arial"/>
              <a:buNone/>
            </a:pPr>
            <a:r>
              <a:rPr lang="en-US" sz="1300">
                <a:solidFill>
                  <a:schemeClr val="dk1"/>
                </a:solidFill>
              </a:rPr>
              <a:t>●</a:t>
            </a:r>
            <a:r>
              <a:rPr lang="en-US" sz="1300">
                <a:solidFill>
                  <a:srgbClr val="46506B"/>
                </a:solidFill>
                <a:latin typeface="Noto Sans"/>
                <a:ea typeface="Noto Sans"/>
                <a:cs typeface="Noto Sans"/>
                <a:sym typeface="Noto Sans"/>
              </a:rPr>
              <a:t> 후반 : 기존 무기 강화 카드</a:t>
            </a:r>
            <a:endParaRPr sz="1300">
              <a:solidFill>
                <a:srgbClr val="46506B"/>
              </a:solidFill>
              <a:latin typeface="Noto Sans"/>
              <a:ea typeface="Noto Sans"/>
              <a:cs typeface="Noto Sans"/>
              <a:sym typeface="Noto Sans"/>
            </a:endParaRPr>
          </a:p>
          <a:p>
            <a:pPr indent="0" lvl="0" marL="0" marR="0" rtl="0" algn="l">
              <a:lnSpc>
                <a:spcPct val="118000"/>
              </a:lnSpc>
              <a:spcBef>
                <a:spcPts val="0"/>
              </a:spcBef>
              <a:spcAft>
                <a:spcPts val="0"/>
              </a:spcAft>
              <a:buClr>
                <a:srgbClr val="46506B"/>
              </a:buClr>
              <a:buSzPts val="950"/>
              <a:buFont typeface="Noto Sans"/>
              <a:buNone/>
            </a:pPr>
            <a:r>
              <a:t/>
            </a:r>
            <a:endParaRPr sz="1300">
              <a:solidFill>
                <a:srgbClr val="46506B"/>
              </a:solidFill>
              <a:latin typeface="Noto Sans"/>
              <a:ea typeface="Noto Sans"/>
              <a:cs typeface="Noto Sans"/>
              <a:sym typeface="Noto Sans"/>
            </a:endParaRPr>
          </a:p>
        </p:txBody>
      </p:sp>
      <p:sp>
        <p:nvSpPr>
          <p:cNvPr id="247" name="Google Shape;247;p10"/>
          <p:cNvSpPr/>
          <p:nvPr/>
        </p:nvSpPr>
        <p:spPr>
          <a:xfrm>
            <a:off x="8293608" y="4343400"/>
            <a:ext cx="3227832" cy="2103120"/>
          </a:xfrm>
          <a:prstGeom prst="roundRect">
            <a:avLst>
              <a:gd fmla="val 3043"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p:nvPr/>
        </p:nvSpPr>
        <p:spPr>
          <a:xfrm>
            <a:off x="8476488" y="4507992"/>
            <a:ext cx="365760" cy="365760"/>
          </a:xfrm>
          <a:prstGeom prst="ellipse">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0"/>
          <p:cNvSpPr/>
          <p:nvPr/>
        </p:nvSpPr>
        <p:spPr>
          <a:xfrm>
            <a:off x="8476488" y="450799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Noto Sans"/>
              <a:buNone/>
            </a:pPr>
            <a:r>
              <a:rPr b="1" i="0" lang="en-US" sz="1300" u="none" cap="none" strike="noStrike">
                <a:solidFill>
                  <a:srgbClr val="FFFFFF"/>
                </a:solidFill>
                <a:latin typeface="Noto Sans"/>
                <a:ea typeface="Noto Sans"/>
                <a:cs typeface="Noto Sans"/>
                <a:sym typeface="Noto Sans"/>
              </a:rPr>
              <a:t>4</a:t>
            </a:r>
            <a:endParaRPr b="0" i="0" sz="1300" u="none" cap="none" strike="noStrike">
              <a:solidFill>
                <a:schemeClr val="dk1"/>
              </a:solidFill>
              <a:latin typeface="Calibri"/>
              <a:ea typeface="Calibri"/>
              <a:cs typeface="Calibri"/>
              <a:sym typeface="Calibri"/>
            </a:endParaRPr>
          </a:p>
        </p:txBody>
      </p:sp>
      <p:sp>
        <p:nvSpPr>
          <p:cNvPr id="250" name="Google Shape;250;p10"/>
          <p:cNvSpPr/>
          <p:nvPr/>
        </p:nvSpPr>
        <p:spPr>
          <a:xfrm>
            <a:off x="8951976" y="4526280"/>
            <a:ext cx="2450592"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340"/>
              </a:buClr>
              <a:buSzPts val="1150"/>
              <a:buFont typeface="Noto Sans"/>
              <a:buNone/>
            </a:pPr>
            <a:r>
              <a:rPr b="1" lang="en-US" sz="1150">
                <a:solidFill>
                  <a:srgbClr val="1B2340"/>
                </a:solidFill>
                <a:latin typeface="Noto Sans"/>
                <a:ea typeface="Noto Sans"/>
                <a:cs typeface="Noto Sans"/>
                <a:sym typeface="Noto Sans"/>
              </a:rPr>
              <a:t>레벨업 이벤트로 UI 자동 실행 </a:t>
            </a:r>
            <a:endParaRPr b="0" i="0" sz="1150" u="none" cap="none" strike="noStrike">
              <a:solidFill>
                <a:schemeClr val="dk1"/>
              </a:solidFill>
              <a:latin typeface="Calibri"/>
              <a:ea typeface="Calibri"/>
              <a:cs typeface="Calibri"/>
              <a:sym typeface="Calibri"/>
            </a:endParaRPr>
          </a:p>
        </p:txBody>
      </p:sp>
      <p:sp>
        <p:nvSpPr>
          <p:cNvPr id="251" name="Google Shape;251;p10"/>
          <p:cNvSpPr/>
          <p:nvPr/>
        </p:nvSpPr>
        <p:spPr>
          <a:xfrm>
            <a:off x="8513064" y="5093208"/>
            <a:ext cx="2788920" cy="1234440"/>
          </a:xfrm>
          <a:prstGeom prst="rect">
            <a:avLst/>
          </a:prstGeom>
          <a:noFill/>
          <a:ln>
            <a:noFill/>
          </a:ln>
        </p:spPr>
        <p:txBody>
          <a:bodyPr anchorCtr="0" anchor="t" bIns="45700" lIns="91425" spcFirstLastPara="1" rIns="91425" wrap="square" tIns="45700">
            <a:noAutofit/>
          </a:bodyPr>
          <a:lstStyle/>
          <a:p>
            <a:pPr indent="0" lvl="0" marL="0" rtl="0" algn="l">
              <a:lnSpc>
                <a:spcPct val="118000"/>
              </a:lnSpc>
              <a:spcBef>
                <a:spcPts val="0"/>
              </a:spcBef>
              <a:spcAft>
                <a:spcPts val="0"/>
              </a:spcAft>
              <a:buClr>
                <a:schemeClr val="dk1"/>
              </a:buClr>
              <a:buSzPts val="1100"/>
              <a:buFont typeface="Arial"/>
              <a:buNone/>
            </a:pPr>
            <a:r>
              <a:rPr lang="en-US" sz="1300">
                <a:solidFill>
                  <a:schemeClr val="dk1"/>
                </a:solidFill>
              </a:rPr>
              <a:t>● </a:t>
            </a:r>
            <a:r>
              <a:rPr lang="en-US" sz="1300">
                <a:solidFill>
                  <a:srgbClr val="46506B"/>
                </a:solidFill>
                <a:latin typeface="Noto Sans"/>
                <a:ea typeface="Noto Sans"/>
                <a:cs typeface="Noto Sans"/>
                <a:sym typeface="Noto Sans"/>
              </a:rPr>
              <a:t>경험치 최대 시 레벨업 이벤트 전달</a:t>
            </a:r>
            <a:endParaRPr sz="1300">
              <a:solidFill>
                <a:srgbClr val="46506B"/>
              </a:solidFill>
              <a:latin typeface="Noto Sans"/>
              <a:ea typeface="Noto Sans"/>
              <a:cs typeface="Noto Sans"/>
              <a:sym typeface="Noto Sans"/>
            </a:endParaRPr>
          </a:p>
          <a:p>
            <a:pPr indent="0" lvl="0" marL="0" rtl="0" algn="l">
              <a:lnSpc>
                <a:spcPct val="118000"/>
              </a:lnSpc>
              <a:spcBef>
                <a:spcPts val="0"/>
              </a:spcBef>
              <a:spcAft>
                <a:spcPts val="0"/>
              </a:spcAft>
              <a:buClr>
                <a:schemeClr val="dk1"/>
              </a:buClr>
              <a:buSzPts val="1100"/>
              <a:buFont typeface="Arial"/>
              <a:buNone/>
            </a:pPr>
            <a:r>
              <a:rPr lang="en-US" sz="1300">
                <a:solidFill>
                  <a:schemeClr val="dk1"/>
                </a:solidFill>
              </a:rPr>
              <a:t>● </a:t>
            </a:r>
            <a:r>
              <a:rPr lang="en-US" sz="1300">
                <a:solidFill>
                  <a:srgbClr val="46506B"/>
                </a:solidFill>
                <a:latin typeface="Noto Sans"/>
                <a:ea typeface="Noto Sans"/>
                <a:cs typeface="Noto Sans"/>
                <a:sym typeface="Noto Sans"/>
              </a:rPr>
              <a:t>카드 선택 UI 자동 실행</a:t>
            </a:r>
            <a:endParaRPr sz="1300">
              <a:solidFill>
                <a:srgbClr val="46506B"/>
              </a:solidFill>
              <a:latin typeface="Noto Sans"/>
              <a:ea typeface="Noto Sans"/>
              <a:cs typeface="Noto Sans"/>
              <a:sym typeface="Noto Sans"/>
            </a:endParaRPr>
          </a:p>
          <a:p>
            <a:pPr indent="0" lvl="0" marL="0" rtl="0" algn="l">
              <a:lnSpc>
                <a:spcPct val="118000"/>
              </a:lnSpc>
              <a:spcBef>
                <a:spcPts val="0"/>
              </a:spcBef>
              <a:spcAft>
                <a:spcPts val="0"/>
              </a:spcAft>
              <a:buClr>
                <a:schemeClr val="dk1"/>
              </a:buClr>
              <a:buSzPts val="1100"/>
              <a:buFont typeface="Arial"/>
              <a:buNone/>
            </a:pPr>
            <a:r>
              <a:rPr lang="en-US" sz="1300">
                <a:solidFill>
                  <a:schemeClr val="dk1"/>
                </a:solidFill>
              </a:rPr>
              <a:t>● </a:t>
            </a:r>
            <a:r>
              <a:rPr lang="en-US" sz="1300">
                <a:solidFill>
                  <a:srgbClr val="46506B"/>
                </a:solidFill>
                <a:latin typeface="Noto Sans"/>
                <a:ea typeface="Noto Sans"/>
                <a:cs typeface="Noto Sans"/>
                <a:sym typeface="Noto Sans"/>
              </a:rPr>
              <a:t>UI와 게임 로직 역할 분리</a:t>
            </a:r>
            <a:endParaRPr sz="1300">
              <a:solidFill>
                <a:srgbClr val="46506B"/>
              </a:solidFill>
              <a:latin typeface="Noto Sans"/>
              <a:ea typeface="Noto Sans"/>
              <a:cs typeface="Noto Sans"/>
              <a:sym typeface="Noto Sans"/>
            </a:endParaRPr>
          </a:p>
          <a:p>
            <a:pPr indent="0" lvl="0" marL="0" marR="0" rtl="0" algn="l">
              <a:lnSpc>
                <a:spcPct val="118000"/>
              </a:lnSpc>
              <a:spcBef>
                <a:spcPts val="0"/>
              </a:spcBef>
              <a:spcAft>
                <a:spcPts val="0"/>
              </a:spcAft>
              <a:buClr>
                <a:srgbClr val="46506B"/>
              </a:buClr>
              <a:buSzPts val="950"/>
              <a:buFont typeface="Noto Sans"/>
              <a:buNone/>
            </a:pPr>
            <a:r>
              <a:t/>
            </a:r>
            <a:endParaRPr sz="1300">
              <a:solidFill>
                <a:srgbClr val="46506B"/>
              </a:solidFill>
              <a:latin typeface="Noto Sans"/>
              <a:ea typeface="Noto Sans"/>
              <a:cs typeface="Noto Sans"/>
              <a:sym typeface="No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256" name="Shape 256"/>
        <p:cNvGrpSpPr/>
        <p:nvPr/>
      </p:nvGrpSpPr>
      <p:grpSpPr>
        <a:xfrm>
          <a:off x="0" y="0"/>
          <a:ext cx="0" cy="0"/>
          <a:chOff x="0" y="0"/>
          <a:chExt cx="0" cy="0"/>
        </a:xfrm>
      </p:grpSpPr>
      <p:sp>
        <p:nvSpPr>
          <p:cNvPr id="257" name="Google Shape;257;p11"/>
          <p:cNvSpPr/>
          <p:nvPr/>
        </p:nvSpPr>
        <p:spPr>
          <a:xfrm>
            <a:off x="640080" y="4114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B740"/>
              </a:buClr>
              <a:buSzPts val="2600"/>
              <a:buFont typeface="Noto Sans"/>
              <a:buNone/>
            </a:pPr>
            <a:r>
              <a:rPr b="1" i="0" lang="en-US" sz="2600" u="none" cap="none" strike="noStrike">
                <a:solidFill>
                  <a:srgbClr val="F4B740"/>
                </a:solidFill>
                <a:latin typeface="Noto Sans"/>
                <a:ea typeface="Noto Sans"/>
                <a:cs typeface="Noto Sans"/>
                <a:sym typeface="Noto Sans"/>
              </a:rPr>
              <a:t>기능 02  </a:t>
            </a:r>
            <a:r>
              <a:rPr b="1" lang="en-US" sz="2600">
                <a:solidFill>
                  <a:srgbClr val="1B2340"/>
                </a:solidFill>
                <a:latin typeface="Noto Sans"/>
                <a:ea typeface="Noto Sans"/>
                <a:cs typeface="Noto Sans"/>
                <a:sym typeface="Noto Sans"/>
              </a:rPr>
              <a:t>스킬 버튼 SFX · VFX </a:t>
            </a:r>
            <a:endParaRPr b="0" i="0" sz="2600" u="none" cap="none" strike="noStrike">
              <a:solidFill>
                <a:schemeClr val="dk1"/>
              </a:solidFill>
              <a:latin typeface="Calibri"/>
              <a:ea typeface="Calibri"/>
              <a:cs typeface="Calibri"/>
              <a:sym typeface="Calibri"/>
            </a:endParaRPr>
          </a:p>
        </p:txBody>
      </p:sp>
      <p:sp>
        <p:nvSpPr>
          <p:cNvPr id="258" name="Google Shape;258;p11"/>
          <p:cNvSpPr/>
          <p:nvPr/>
        </p:nvSpPr>
        <p:spPr>
          <a:xfrm>
            <a:off x="658368" y="1024128"/>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80"/>
              </a:buClr>
              <a:buSzPts val="1350"/>
              <a:buFont typeface="Noto Sans"/>
              <a:buNone/>
            </a:pPr>
            <a:r>
              <a:rPr i="1" lang="en-US" sz="1350">
                <a:solidFill>
                  <a:srgbClr val="5B6480"/>
                </a:solidFill>
                <a:latin typeface="Noto Sans"/>
                <a:ea typeface="Noto Sans"/>
                <a:cs typeface="Noto Sans"/>
                <a:sym typeface="Noto Sans"/>
              </a:rPr>
              <a:t>스킬 구매·강화 상태를 SFX와 VFX로 표현</a:t>
            </a:r>
            <a:endParaRPr b="0" i="0" sz="1350" u="none" cap="none" strike="noStrike">
              <a:solidFill>
                <a:schemeClr val="dk1"/>
              </a:solidFill>
              <a:latin typeface="Calibri"/>
              <a:ea typeface="Calibri"/>
              <a:cs typeface="Calibri"/>
              <a:sym typeface="Calibri"/>
            </a:endParaRPr>
          </a:p>
        </p:txBody>
      </p:sp>
      <p:grpSp>
        <p:nvGrpSpPr>
          <p:cNvPr id="259" name="Google Shape;259;p11"/>
          <p:cNvGrpSpPr/>
          <p:nvPr/>
        </p:nvGrpSpPr>
        <p:grpSpPr>
          <a:xfrm>
            <a:off x="9235440" y="384048"/>
            <a:ext cx="2286000" cy="822960"/>
            <a:chOff x="9235440" y="384048"/>
            <a:chExt cx="2286000" cy="822960"/>
          </a:xfrm>
        </p:grpSpPr>
        <p:sp>
          <p:nvSpPr>
            <p:cNvPr id="260" name="Google Shape;260;p11"/>
            <p:cNvSpPr/>
            <p:nvPr/>
          </p:nvSpPr>
          <p:spPr>
            <a:xfrm>
              <a:off x="9235440" y="384048"/>
              <a:ext cx="2286000" cy="822960"/>
            </a:xfrm>
            <a:prstGeom prst="roundRect">
              <a:avLst>
                <a:gd fmla="val 8889"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assets/youtube.png" id="261" name="Google Shape;261;p11"/>
            <p:cNvPicPr preferRelativeResize="0"/>
            <p:nvPr/>
          </p:nvPicPr>
          <p:blipFill rotWithShape="1">
            <a:blip r:embed="rId3">
              <a:alphaModFix/>
            </a:blip>
            <a:srcRect b="0" l="0" r="0" t="0"/>
            <a:stretch/>
          </p:blipFill>
          <p:spPr>
            <a:xfrm>
              <a:off x="9528048" y="493776"/>
              <a:ext cx="1700784" cy="384048"/>
            </a:xfrm>
            <a:prstGeom prst="rect">
              <a:avLst/>
            </a:prstGeom>
            <a:noFill/>
            <a:ln>
              <a:noFill/>
            </a:ln>
          </p:spPr>
        </p:pic>
        <p:sp>
          <p:nvSpPr>
            <p:cNvPr id="262" name="Google Shape;262;p11"/>
            <p:cNvSpPr/>
            <p:nvPr/>
          </p:nvSpPr>
          <p:spPr>
            <a:xfrm>
              <a:off x="9235440" y="950976"/>
              <a:ext cx="2286000"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480"/>
                </a:buClr>
                <a:buSzPts val="850"/>
                <a:buFont typeface="Noto Sans"/>
                <a:buNone/>
              </a:pPr>
              <a:r>
                <a:rPr b="0" i="0" lang="en-US" sz="850" u="none" cap="none" strike="noStrike">
                  <a:solidFill>
                    <a:srgbClr val="5B6480"/>
                  </a:solidFill>
                  <a:latin typeface="Noto Sans"/>
                  <a:ea typeface="Noto Sans"/>
                  <a:cs typeface="Noto Sans"/>
                  <a:sym typeface="Noto Sans"/>
                </a:rPr>
                <a:t>▶ 스킬 버튼 효과음·빛 연출</a:t>
              </a:r>
              <a:endParaRPr b="0" i="0" sz="850" u="none" cap="none" strike="noStrike">
                <a:solidFill>
                  <a:schemeClr val="dk1"/>
                </a:solidFill>
                <a:latin typeface="Calibri"/>
                <a:ea typeface="Calibri"/>
                <a:cs typeface="Calibri"/>
                <a:sym typeface="Calibri"/>
              </a:endParaRPr>
            </a:p>
          </p:txBody>
        </p:sp>
      </p:grpSp>
      <p:sp>
        <p:nvSpPr>
          <p:cNvPr id="263" name="Google Shape;263;p11"/>
          <p:cNvSpPr/>
          <p:nvPr/>
        </p:nvSpPr>
        <p:spPr>
          <a:xfrm>
            <a:off x="640080" y="1600200"/>
            <a:ext cx="3977640" cy="4800600"/>
          </a:xfrm>
          <a:prstGeom prst="roundRect">
            <a:avLst>
              <a:gd fmla="val 1839" name="adj"/>
            </a:avLst>
          </a:prstGeom>
          <a:solidFill>
            <a:srgbClr val="0E1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1"/>
          <p:cNvSpPr/>
          <p:nvPr/>
        </p:nvSpPr>
        <p:spPr>
          <a:xfrm>
            <a:off x="640080" y="1600200"/>
            <a:ext cx="91440" cy="4800600"/>
          </a:xfrm>
          <a:prstGeom prst="roundRect">
            <a:avLst>
              <a:gd fmla="val 30000" name="adj"/>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a:off x="932688" y="1911096"/>
            <a:ext cx="3429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B740"/>
              </a:buClr>
              <a:buSzPts val="1500"/>
              <a:buFont typeface="Noto Sans"/>
              <a:buNone/>
            </a:pPr>
            <a:r>
              <a:rPr b="1" i="0" lang="en-US" sz="1500" u="none" cap="none" strike="noStrike">
                <a:solidFill>
                  <a:srgbClr val="F4B740"/>
                </a:solidFill>
                <a:latin typeface="Noto Sans"/>
                <a:ea typeface="Noto Sans"/>
                <a:cs typeface="Noto Sans"/>
                <a:sym typeface="Noto Sans"/>
              </a:rPr>
              <a:t>기획 의도</a:t>
            </a:r>
            <a:endParaRPr b="0" i="0" sz="1500" u="none" cap="none" strike="noStrike">
              <a:solidFill>
                <a:schemeClr val="dk1"/>
              </a:solidFill>
              <a:latin typeface="Calibri"/>
              <a:ea typeface="Calibri"/>
              <a:cs typeface="Calibri"/>
              <a:sym typeface="Calibri"/>
            </a:endParaRPr>
          </a:p>
        </p:txBody>
      </p:sp>
      <p:cxnSp>
        <p:nvCxnSpPr>
          <p:cNvPr id="266" name="Google Shape;266;p11"/>
          <p:cNvCxnSpPr/>
          <p:nvPr/>
        </p:nvCxnSpPr>
        <p:spPr>
          <a:xfrm>
            <a:off x="950976" y="2441448"/>
            <a:ext cx="3355848" cy="0"/>
          </a:xfrm>
          <a:prstGeom prst="straightConnector1">
            <a:avLst/>
          </a:prstGeom>
          <a:noFill/>
          <a:ln cap="flat" cmpd="sng" w="12700">
            <a:solidFill>
              <a:srgbClr val="33406B"/>
            </a:solidFill>
            <a:prstDash val="solid"/>
            <a:round/>
            <a:headEnd len="sm" w="sm" type="none"/>
            <a:tailEnd len="sm" w="sm" type="none"/>
          </a:ln>
        </p:spPr>
      </p:cxnSp>
      <p:sp>
        <p:nvSpPr>
          <p:cNvPr id="267" name="Google Shape;267;p11"/>
          <p:cNvSpPr/>
          <p:nvPr/>
        </p:nvSpPr>
        <p:spPr>
          <a:xfrm>
            <a:off x="932688" y="2624328"/>
            <a:ext cx="3392424" cy="3429000"/>
          </a:xfrm>
          <a:prstGeom prst="rect">
            <a:avLst/>
          </a:prstGeom>
          <a:noFill/>
          <a:ln>
            <a:noFill/>
          </a:ln>
        </p:spPr>
        <p:txBody>
          <a:bodyPr anchorCtr="0" anchor="t" bIns="45700" lIns="91425" spcFirstLastPara="1" rIns="91425" wrap="square" tIns="45700">
            <a:noAutofit/>
          </a:bodyPr>
          <a:lstStyle/>
          <a:p>
            <a:pPr indent="0" lvl="0" marL="0" marR="0" rtl="0" algn="l">
              <a:lnSpc>
                <a:spcPct val="142000"/>
              </a:lnSpc>
              <a:spcBef>
                <a:spcPts val="0"/>
              </a:spcBef>
              <a:spcAft>
                <a:spcPts val="0"/>
              </a:spcAft>
              <a:buClr>
                <a:srgbClr val="C7D2F0"/>
              </a:buClr>
              <a:buSzPts val="1250"/>
              <a:buFont typeface="Noto Sans"/>
              <a:buNone/>
            </a:pPr>
            <a:r>
              <a:rPr lang="en-US" sz="1300">
                <a:solidFill>
                  <a:srgbClr val="C7D2F0"/>
                </a:solidFill>
                <a:latin typeface="Noto Sans"/>
                <a:ea typeface="Noto Sans"/>
                <a:cs typeface="Noto Sans"/>
                <a:sym typeface="Noto Sans"/>
              </a:rPr>
              <a:t>플레이어가 스킬 사용 가능 여부와 강화 결과를 한눈에 확인할 수 있도록 기획했습니다. </a:t>
            </a:r>
            <a:br>
              <a:rPr lang="en-US" sz="1300">
                <a:solidFill>
                  <a:srgbClr val="C7D2F0"/>
                </a:solidFill>
                <a:latin typeface="Noto Sans"/>
                <a:ea typeface="Noto Sans"/>
                <a:cs typeface="Noto Sans"/>
                <a:sym typeface="Noto Sans"/>
              </a:rPr>
            </a:br>
            <a:r>
              <a:rPr lang="en-US" sz="1300">
                <a:solidFill>
                  <a:srgbClr val="C7D2F0"/>
                </a:solidFill>
                <a:latin typeface="Noto Sans"/>
                <a:ea typeface="Noto Sans"/>
                <a:cs typeface="Noto Sans"/>
                <a:sym typeface="Noto Sans"/>
              </a:rPr>
              <a:t>전투 중에도 별도의 설명 없이 SFX와 VFX만으로 스킬 상태를 직관적으로 확인할 수 있도록 설계했습니다. </a:t>
            </a:r>
            <a:endParaRPr b="0" i="0" sz="1300" u="none" cap="none" strike="noStrike">
              <a:solidFill>
                <a:schemeClr val="dk1"/>
              </a:solidFill>
              <a:latin typeface="Calibri"/>
              <a:ea typeface="Calibri"/>
              <a:cs typeface="Calibri"/>
              <a:sym typeface="Calibri"/>
            </a:endParaRPr>
          </a:p>
        </p:txBody>
      </p:sp>
      <p:sp>
        <p:nvSpPr>
          <p:cNvPr id="268" name="Google Shape;268;p11"/>
          <p:cNvSpPr/>
          <p:nvPr/>
        </p:nvSpPr>
        <p:spPr>
          <a:xfrm>
            <a:off x="4846320" y="1600200"/>
            <a:ext cx="6675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구현 방법 </a:t>
            </a:r>
            <a:r>
              <a:rPr b="1" i="0" lang="en-US" sz="1350" u="none" cap="none" strike="noStrike">
                <a:solidFill>
                  <a:srgbClr val="1B2340"/>
                </a:solidFill>
                <a:latin typeface="Noto Sans"/>
                <a:ea typeface="Noto Sans"/>
                <a:cs typeface="Noto Sans"/>
                <a:sym typeface="Noto Sans"/>
              </a:rPr>
              <a:t> </a:t>
            </a:r>
            <a:r>
              <a:rPr b="1" i="0" lang="en-US" sz="1150" u="none" cap="none" strike="noStrike">
                <a:solidFill>
                  <a:srgbClr val="5B6480"/>
                </a:solidFill>
                <a:latin typeface="Noto Sans"/>
                <a:ea typeface="Noto Sans"/>
                <a:cs typeface="Noto Sans"/>
                <a:sym typeface="Noto Sans"/>
              </a:rPr>
              <a:t>· 사용한 기능·패턴</a:t>
            </a:r>
            <a:endParaRPr b="0" i="0" sz="1350" u="none" cap="none" strike="noStrike">
              <a:solidFill>
                <a:schemeClr val="dk1"/>
              </a:solidFill>
              <a:latin typeface="Calibri"/>
              <a:ea typeface="Calibri"/>
              <a:cs typeface="Calibri"/>
              <a:sym typeface="Calibri"/>
            </a:endParaRPr>
          </a:p>
        </p:txBody>
      </p:sp>
      <p:sp>
        <p:nvSpPr>
          <p:cNvPr id="269" name="Google Shape;269;p11"/>
          <p:cNvSpPr/>
          <p:nvPr/>
        </p:nvSpPr>
        <p:spPr>
          <a:xfrm>
            <a:off x="4846320" y="2057400"/>
            <a:ext cx="6675120" cy="1353312"/>
          </a:xfrm>
          <a:prstGeom prst="roundRect">
            <a:avLst>
              <a:gd fmla="val 4730"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1"/>
          <p:cNvSpPr/>
          <p:nvPr/>
        </p:nvSpPr>
        <p:spPr>
          <a:xfrm>
            <a:off x="5084064" y="2258568"/>
            <a:ext cx="420624" cy="420624"/>
          </a:xfrm>
          <a:prstGeom prst="ellipse">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1"/>
          <p:cNvSpPr/>
          <p:nvPr/>
        </p:nvSpPr>
        <p:spPr>
          <a:xfrm>
            <a:off x="5084064" y="2258568"/>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1</a:t>
            </a:r>
            <a:endParaRPr b="0" i="0" sz="1500" u="none" cap="none" strike="noStrike">
              <a:solidFill>
                <a:schemeClr val="dk1"/>
              </a:solidFill>
              <a:latin typeface="Calibri"/>
              <a:ea typeface="Calibri"/>
              <a:cs typeface="Calibri"/>
              <a:sym typeface="Calibri"/>
            </a:endParaRPr>
          </a:p>
        </p:txBody>
      </p:sp>
      <p:sp>
        <p:nvSpPr>
          <p:cNvPr id="272" name="Google Shape;272;p11"/>
          <p:cNvSpPr/>
          <p:nvPr/>
        </p:nvSpPr>
        <p:spPr>
          <a:xfrm>
            <a:off x="5669280" y="2221992"/>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기존 코드 수정 없이 기능 추가 </a:t>
            </a:r>
            <a:endParaRPr b="0" i="0" sz="1350" u="none" cap="none" strike="noStrike">
              <a:solidFill>
                <a:schemeClr val="dk1"/>
              </a:solidFill>
              <a:latin typeface="Calibri"/>
              <a:ea typeface="Calibri"/>
              <a:cs typeface="Calibri"/>
              <a:sym typeface="Calibri"/>
            </a:endParaRPr>
          </a:p>
        </p:txBody>
      </p:sp>
      <p:sp>
        <p:nvSpPr>
          <p:cNvPr id="273" name="Google Shape;273;p11"/>
          <p:cNvSpPr/>
          <p:nvPr/>
        </p:nvSpPr>
        <p:spPr>
          <a:xfrm>
            <a:off x="5669280" y="2569464"/>
            <a:ext cx="5623560" cy="73152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기존 스킬 코드 </a:t>
            </a:r>
            <a:r>
              <a:rPr b="1" lang="en-US" sz="1200">
                <a:solidFill>
                  <a:schemeClr val="dk1"/>
                </a:solidFill>
              </a:rPr>
              <a:t>수정 없이 기능 확장</a:t>
            </a:r>
            <a:endParaRPr b="1"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a:t>
            </a:r>
            <a:r>
              <a:rPr lang="en-US" sz="1200">
                <a:solidFill>
                  <a:schemeClr val="dk1"/>
                </a:solidFill>
              </a:rPr>
              <a:t>●   </a:t>
            </a:r>
            <a:r>
              <a:rPr lang="en-US" sz="1200">
                <a:solidFill>
                  <a:schemeClr val="dk1"/>
                </a:solidFill>
              </a:rPr>
              <a:t>별도 컴포넌트 추가로 </a:t>
            </a:r>
            <a:r>
              <a:rPr b="1" lang="en-US" sz="1200">
                <a:solidFill>
                  <a:schemeClr val="dk1"/>
                </a:solidFill>
              </a:rPr>
              <a:t>효과 기능 분리</a:t>
            </a:r>
            <a:endParaRPr b="1"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a:t>
            </a:r>
            <a:r>
              <a:rPr lang="en-US" sz="1200">
                <a:solidFill>
                  <a:schemeClr val="dk1"/>
                </a:solidFill>
              </a:rPr>
              <a:t>●   </a:t>
            </a:r>
            <a:r>
              <a:rPr lang="en-US" sz="1200">
                <a:solidFill>
                  <a:schemeClr val="dk1"/>
                </a:solidFill>
              </a:rPr>
              <a:t>Git 병합 충돌 가능성 최소화</a:t>
            </a:r>
            <a:endParaRPr sz="1200">
              <a:solidFill>
                <a:schemeClr val="dk1"/>
              </a:solidFill>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rgbClr val="46506B"/>
              </a:solidFill>
              <a:latin typeface="Noto Sans"/>
              <a:ea typeface="Noto Sans"/>
              <a:cs typeface="Noto Sans"/>
              <a:sym typeface="Noto Sans"/>
            </a:endParaRPr>
          </a:p>
        </p:txBody>
      </p:sp>
      <p:sp>
        <p:nvSpPr>
          <p:cNvPr id="274" name="Google Shape;274;p11"/>
          <p:cNvSpPr/>
          <p:nvPr/>
        </p:nvSpPr>
        <p:spPr>
          <a:xfrm>
            <a:off x="4846320" y="3575304"/>
            <a:ext cx="6675120" cy="1353312"/>
          </a:xfrm>
          <a:prstGeom prst="roundRect">
            <a:avLst>
              <a:gd fmla="val 4730"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5084064" y="3776472"/>
            <a:ext cx="420624" cy="420624"/>
          </a:xfrm>
          <a:prstGeom prst="ellipse">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1"/>
          <p:cNvSpPr/>
          <p:nvPr/>
        </p:nvSpPr>
        <p:spPr>
          <a:xfrm>
            <a:off x="5084064" y="3776472"/>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2</a:t>
            </a:r>
            <a:endParaRPr b="0" i="0" sz="1500" u="none" cap="none" strike="noStrike">
              <a:solidFill>
                <a:schemeClr val="dk1"/>
              </a:solidFill>
              <a:latin typeface="Calibri"/>
              <a:ea typeface="Calibri"/>
              <a:cs typeface="Calibri"/>
              <a:sym typeface="Calibri"/>
            </a:endParaRPr>
          </a:p>
        </p:txBody>
      </p:sp>
      <p:sp>
        <p:nvSpPr>
          <p:cNvPr id="277" name="Google Shape;277;p11"/>
          <p:cNvSpPr/>
          <p:nvPr/>
        </p:nvSpPr>
        <p:spPr>
          <a:xfrm>
            <a:off x="5669280" y="3739896"/>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입력 기준 효과 재생 </a:t>
            </a:r>
            <a:endParaRPr b="0" i="0" sz="1350" u="none" cap="none" strike="noStrike">
              <a:solidFill>
                <a:schemeClr val="dk1"/>
              </a:solidFill>
              <a:latin typeface="Calibri"/>
              <a:ea typeface="Calibri"/>
              <a:cs typeface="Calibri"/>
              <a:sym typeface="Calibri"/>
            </a:endParaRPr>
          </a:p>
        </p:txBody>
      </p:sp>
      <p:sp>
        <p:nvSpPr>
          <p:cNvPr id="278" name="Google Shape;278;p11"/>
          <p:cNvSpPr/>
          <p:nvPr/>
        </p:nvSpPr>
        <p:spPr>
          <a:xfrm>
            <a:off x="5669280" y="4087368"/>
            <a:ext cx="5623560" cy="73152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a:t>
            </a:r>
            <a:r>
              <a:rPr lang="en-US" sz="1200">
                <a:solidFill>
                  <a:schemeClr val="dk1"/>
                </a:solidFill>
              </a:rPr>
              <a:t>●   </a:t>
            </a:r>
            <a:r>
              <a:rPr lang="en-US" sz="1200">
                <a:solidFill>
                  <a:schemeClr val="dk1"/>
                </a:solidFill>
              </a:rPr>
              <a:t>버튼 입력 시점 기준으로 </a:t>
            </a:r>
            <a:r>
              <a:rPr b="1" lang="en-US" sz="1200">
                <a:solidFill>
                  <a:schemeClr val="dk1"/>
                </a:solidFill>
              </a:rPr>
              <a:t>SFX 재생</a:t>
            </a:r>
            <a:endParaRPr b="1"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a:t>
            </a:r>
            <a:r>
              <a:rPr lang="en-US" sz="1200">
                <a:solidFill>
                  <a:schemeClr val="dk1"/>
                </a:solidFill>
              </a:rPr>
              <a:t>●   </a:t>
            </a:r>
            <a:r>
              <a:rPr lang="en-US" sz="1200">
                <a:solidFill>
                  <a:schemeClr val="dk1"/>
                </a:solidFill>
              </a:rPr>
              <a:t>사용 가능 여부·강화 여부 전달</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a:t>
            </a:r>
            <a:r>
              <a:rPr lang="en-US" sz="1200">
                <a:solidFill>
                  <a:schemeClr val="dk1"/>
                </a:solidFill>
              </a:rPr>
              <a:t>●   </a:t>
            </a:r>
            <a:r>
              <a:rPr lang="en-US" sz="1200">
                <a:solidFill>
                  <a:schemeClr val="dk1"/>
                </a:solidFill>
              </a:rPr>
              <a:t>입력 이후 상태 변경과 무관하게 처리</a:t>
            </a:r>
            <a:endParaRPr sz="1200">
              <a:solidFill>
                <a:schemeClr val="dk1"/>
              </a:solidFill>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rgbClr val="46506B"/>
              </a:solidFill>
              <a:latin typeface="Noto Sans"/>
              <a:ea typeface="Noto Sans"/>
              <a:cs typeface="Noto Sans"/>
              <a:sym typeface="Noto Sans"/>
            </a:endParaRPr>
          </a:p>
        </p:txBody>
      </p:sp>
      <p:sp>
        <p:nvSpPr>
          <p:cNvPr id="279" name="Google Shape;279;p11"/>
          <p:cNvSpPr/>
          <p:nvPr/>
        </p:nvSpPr>
        <p:spPr>
          <a:xfrm>
            <a:off x="4846320" y="5093208"/>
            <a:ext cx="6675120" cy="1353312"/>
          </a:xfrm>
          <a:prstGeom prst="roundRect">
            <a:avLst>
              <a:gd fmla="val 4730"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1"/>
          <p:cNvSpPr/>
          <p:nvPr/>
        </p:nvSpPr>
        <p:spPr>
          <a:xfrm>
            <a:off x="5084064" y="5294376"/>
            <a:ext cx="420624" cy="420624"/>
          </a:xfrm>
          <a:prstGeom prst="ellipse">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1"/>
          <p:cNvSpPr/>
          <p:nvPr/>
        </p:nvSpPr>
        <p:spPr>
          <a:xfrm>
            <a:off x="5084064" y="5294376"/>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3</a:t>
            </a:r>
            <a:endParaRPr b="0" i="0" sz="1500" u="none" cap="none" strike="noStrike">
              <a:solidFill>
                <a:schemeClr val="dk1"/>
              </a:solidFill>
              <a:latin typeface="Calibri"/>
              <a:ea typeface="Calibri"/>
              <a:cs typeface="Calibri"/>
              <a:sym typeface="Calibri"/>
            </a:endParaRPr>
          </a:p>
        </p:txBody>
      </p:sp>
      <p:sp>
        <p:nvSpPr>
          <p:cNvPr id="282" name="Google Shape;282;p11"/>
          <p:cNvSpPr/>
          <p:nvPr/>
        </p:nvSpPr>
        <p:spPr>
          <a:xfrm>
            <a:off x="5669280" y="5257800"/>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사용 가능 스킬 시각화 </a:t>
            </a:r>
            <a:endParaRPr b="0" i="0" sz="1350" u="none" cap="none" strike="noStrike">
              <a:solidFill>
                <a:schemeClr val="dk1"/>
              </a:solidFill>
              <a:latin typeface="Calibri"/>
              <a:ea typeface="Calibri"/>
              <a:cs typeface="Calibri"/>
              <a:sym typeface="Calibri"/>
            </a:endParaRPr>
          </a:p>
        </p:txBody>
      </p:sp>
      <p:sp>
        <p:nvSpPr>
          <p:cNvPr id="283" name="Google Shape;283;p11"/>
          <p:cNvSpPr/>
          <p:nvPr/>
        </p:nvSpPr>
        <p:spPr>
          <a:xfrm>
            <a:off x="5669280" y="5605272"/>
            <a:ext cx="5623560" cy="73152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Particle System 기반 </a:t>
            </a:r>
            <a:r>
              <a:rPr b="1" lang="en-US" sz="1200">
                <a:solidFill>
                  <a:schemeClr val="dk1"/>
                </a:solidFill>
              </a:rPr>
              <a:t>VFX 적용</a:t>
            </a:r>
            <a:endParaRPr b="1"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사용 가능한 스킬만 </a:t>
            </a:r>
            <a:r>
              <a:rPr b="1" lang="en-US" sz="1200">
                <a:solidFill>
                  <a:schemeClr val="dk1"/>
                </a:solidFill>
              </a:rPr>
              <a:t>시각적 표시</a:t>
            </a:r>
            <a:endParaRPr b="1"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별도 설명 없이 </a:t>
            </a:r>
            <a:r>
              <a:rPr b="1" lang="en-US" sz="1200">
                <a:solidFill>
                  <a:schemeClr val="dk1"/>
                </a:solidFill>
              </a:rPr>
              <a:t>즉시 식별 가능</a:t>
            </a:r>
            <a:endParaRPr b="1" sz="1200">
              <a:solidFill>
                <a:schemeClr val="dk1"/>
              </a:solidFill>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rgbClr val="46506B"/>
              </a:solidFill>
              <a:latin typeface="Noto Sans"/>
              <a:ea typeface="Noto Sans"/>
              <a:cs typeface="Noto Sans"/>
              <a:sym typeface="No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288" name="Shape 288"/>
        <p:cNvGrpSpPr/>
        <p:nvPr/>
      </p:nvGrpSpPr>
      <p:grpSpPr>
        <a:xfrm>
          <a:off x="0" y="0"/>
          <a:ext cx="0" cy="0"/>
          <a:chOff x="0" y="0"/>
          <a:chExt cx="0" cy="0"/>
        </a:xfrm>
      </p:grpSpPr>
      <p:sp>
        <p:nvSpPr>
          <p:cNvPr id="289" name="Google Shape;289;p12"/>
          <p:cNvSpPr/>
          <p:nvPr/>
        </p:nvSpPr>
        <p:spPr>
          <a:xfrm>
            <a:off x="640080" y="4114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7059"/>
              </a:buClr>
              <a:buSzPts val="2600"/>
              <a:buFont typeface="Noto Sans"/>
              <a:buNone/>
            </a:pPr>
            <a:r>
              <a:rPr b="1" i="0" lang="en-US" sz="2600" u="none" cap="none" strike="noStrike">
                <a:solidFill>
                  <a:srgbClr val="F27059"/>
                </a:solidFill>
                <a:latin typeface="Noto Sans"/>
                <a:ea typeface="Noto Sans"/>
                <a:cs typeface="Noto Sans"/>
                <a:sym typeface="Noto Sans"/>
              </a:rPr>
              <a:t>기능 03  </a:t>
            </a:r>
            <a:r>
              <a:rPr b="1" lang="en-US" sz="2600">
                <a:solidFill>
                  <a:srgbClr val="1B2340"/>
                </a:solidFill>
                <a:latin typeface="Noto Sans"/>
                <a:ea typeface="Noto Sans"/>
                <a:cs typeface="Noto Sans"/>
                <a:sym typeface="Noto Sans"/>
              </a:rPr>
              <a:t>UI 애니메이션 연출 </a:t>
            </a:r>
            <a:endParaRPr b="0" i="0" sz="2600" u="none" cap="none" strike="noStrike">
              <a:solidFill>
                <a:schemeClr val="dk1"/>
              </a:solidFill>
              <a:latin typeface="Calibri"/>
              <a:ea typeface="Calibri"/>
              <a:cs typeface="Calibri"/>
              <a:sym typeface="Calibri"/>
            </a:endParaRPr>
          </a:p>
        </p:txBody>
      </p:sp>
      <p:sp>
        <p:nvSpPr>
          <p:cNvPr id="290" name="Google Shape;290;p12"/>
          <p:cNvSpPr/>
          <p:nvPr/>
        </p:nvSpPr>
        <p:spPr>
          <a:xfrm>
            <a:off x="658368" y="1024128"/>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80"/>
              </a:buClr>
              <a:buSzPts val="1350"/>
              <a:buFont typeface="Noto Sans"/>
              <a:buNone/>
            </a:pPr>
            <a:r>
              <a:rPr i="1" lang="en-US" sz="1350">
                <a:solidFill>
                  <a:srgbClr val="5B6480"/>
                </a:solidFill>
                <a:latin typeface="Noto Sans"/>
                <a:ea typeface="Noto Sans"/>
                <a:cs typeface="Noto Sans"/>
                <a:sym typeface="Noto Sans"/>
              </a:rPr>
              <a:t>카드와 버튼의 등장·전환을 자연스럽게 표현하는 UI 애니메이션 </a:t>
            </a:r>
            <a:endParaRPr b="0" i="0" sz="1350" u="none" cap="none" strike="noStrike">
              <a:solidFill>
                <a:schemeClr val="dk1"/>
              </a:solidFill>
              <a:latin typeface="Calibri"/>
              <a:ea typeface="Calibri"/>
              <a:cs typeface="Calibri"/>
              <a:sym typeface="Calibri"/>
            </a:endParaRPr>
          </a:p>
        </p:txBody>
      </p:sp>
      <p:grpSp>
        <p:nvGrpSpPr>
          <p:cNvPr id="291" name="Google Shape;291;p12"/>
          <p:cNvGrpSpPr/>
          <p:nvPr/>
        </p:nvGrpSpPr>
        <p:grpSpPr>
          <a:xfrm>
            <a:off x="9235440" y="384048"/>
            <a:ext cx="2286000" cy="822960"/>
            <a:chOff x="9235440" y="384048"/>
            <a:chExt cx="2286000" cy="822960"/>
          </a:xfrm>
        </p:grpSpPr>
        <p:sp>
          <p:nvSpPr>
            <p:cNvPr id="292" name="Google Shape;292;p12"/>
            <p:cNvSpPr/>
            <p:nvPr/>
          </p:nvSpPr>
          <p:spPr>
            <a:xfrm>
              <a:off x="9235440" y="384048"/>
              <a:ext cx="2286000" cy="822960"/>
            </a:xfrm>
            <a:prstGeom prst="roundRect">
              <a:avLst>
                <a:gd fmla="val 8889"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assets/youtube.png" id="293" name="Google Shape;293;p12"/>
            <p:cNvPicPr preferRelativeResize="0"/>
            <p:nvPr/>
          </p:nvPicPr>
          <p:blipFill rotWithShape="1">
            <a:blip r:embed="rId3">
              <a:alphaModFix/>
            </a:blip>
            <a:srcRect b="0" l="0" r="0" t="0"/>
            <a:stretch/>
          </p:blipFill>
          <p:spPr>
            <a:xfrm>
              <a:off x="9528048" y="493776"/>
              <a:ext cx="1700784" cy="384048"/>
            </a:xfrm>
            <a:prstGeom prst="rect">
              <a:avLst/>
            </a:prstGeom>
            <a:noFill/>
            <a:ln>
              <a:noFill/>
            </a:ln>
          </p:spPr>
        </p:pic>
        <p:sp>
          <p:nvSpPr>
            <p:cNvPr id="294" name="Google Shape;294;p12"/>
            <p:cNvSpPr/>
            <p:nvPr/>
          </p:nvSpPr>
          <p:spPr>
            <a:xfrm>
              <a:off x="9235440" y="950976"/>
              <a:ext cx="2286000"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480"/>
                </a:buClr>
                <a:buSzPts val="850"/>
                <a:buFont typeface="Noto Sans"/>
                <a:buNone/>
              </a:pPr>
              <a:r>
                <a:rPr b="0" i="0" lang="en-US" sz="850" u="none" cap="none" strike="noStrike">
                  <a:solidFill>
                    <a:srgbClr val="5B6480"/>
                  </a:solidFill>
                  <a:latin typeface="Noto Sans"/>
                  <a:ea typeface="Noto Sans"/>
                  <a:cs typeface="Noto Sans"/>
                  <a:sym typeface="Noto Sans"/>
                </a:rPr>
                <a:t>▶ 카드·버튼 움직임 연출</a:t>
              </a:r>
              <a:endParaRPr b="0" i="0" sz="850" u="none" cap="none" strike="noStrike">
                <a:solidFill>
                  <a:schemeClr val="dk1"/>
                </a:solidFill>
                <a:latin typeface="Calibri"/>
                <a:ea typeface="Calibri"/>
                <a:cs typeface="Calibri"/>
                <a:sym typeface="Calibri"/>
              </a:endParaRPr>
            </a:p>
          </p:txBody>
        </p:sp>
      </p:grpSp>
      <p:sp>
        <p:nvSpPr>
          <p:cNvPr id="295" name="Google Shape;295;p12"/>
          <p:cNvSpPr/>
          <p:nvPr/>
        </p:nvSpPr>
        <p:spPr>
          <a:xfrm>
            <a:off x="640080" y="1600200"/>
            <a:ext cx="3977640" cy="4800600"/>
          </a:xfrm>
          <a:prstGeom prst="roundRect">
            <a:avLst>
              <a:gd fmla="val 1839" name="adj"/>
            </a:avLst>
          </a:prstGeom>
          <a:solidFill>
            <a:srgbClr val="0E1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2"/>
          <p:cNvSpPr/>
          <p:nvPr/>
        </p:nvSpPr>
        <p:spPr>
          <a:xfrm>
            <a:off x="640080" y="1600200"/>
            <a:ext cx="91440" cy="4800600"/>
          </a:xfrm>
          <a:prstGeom prst="roundRect">
            <a:avLst>
              <a:gd fmla="val 30000" name="adj"/>
            </a:avLst>
          </a:prstGeom>
          <a:solidFill>
            <a:srgbClr val="F270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932688" y="1911096"/>
            <a:ext cx="3429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7059"/>
              </a:buClr>
              <a:buSzPts val="1500"/>
              <a:buFont typeface="Noto Sans"/>
              <a:buNone/>
            </a:pPr>
            <a:r>
              <a:rPr b="1" i="0" lang="en-US" sz="1500" u="none" cap="none" strike="noStrike">
                <a:solidFill>
                  <a:srgbClr val="F27059"/>
                </a:solidFill>
                <a:latin typeface="Noto Sans"/>
                <a:ea typeface="Noto Sans"/>
                <a:cs typeface="Noto Sans"/>
                <a:sym typeface="Noto Sans"/>
              </a:rPr>
              <a:t>기획 의도</a:t>
            </a:r>
            <a:endParaRPr b="0" i="0" sz="1500" u="none" cap="none" strike="noStrike">
              <a:solidFill>
                <a:schemeClr val="dk1"/>
              </a:solidFill>
              <a:latin typeface="Calibri"/>
              <a:ea typeface="Calibri"/>
              <a:cs typeface="Calibri"/>
              <a:sym typeface="Calibri"/>
            </a:endParaRPr>
          </a:p>
        </p:txBody>
      </p:sp>
      <p:cxnSp>
        <p:nvCxnSpPr>
          <p:cNvPr id="298" name="Google Shape;298;p12"/>
          <p:cNvCxnSpPr/>
          <p:nvPr/>
        </p:nvCxnSpPr>
        <p:spPr>
          <a:xfrm>
            <a:off x="950976" y="2441448"/>
            <a:ext cx="3355848" cy="0"/>
          </a:xfrm>
          <a:prstGeom prst="straightConnector1">
            <a:avLst/>
          </a:prstGeom>
          <a:noFill/>
          <a:ln cap="flat" cmpd="sng" w="12700">
            <a:solidFill>
              <a:srgbClr val="33406B"/>
            </a:solidFill>
            <a:prstDash val="solid"/>
            <a:round/>
            <a:headEnd len="sm" w="sm" type="none"/>
            <a:tailEnd len="sm" w="sm" type="none"/>
          </a:ln>
        </p:spPr>
      </p:cxnSp>
      <p:sp>
        <p:nvSpPr>
          <p:cNvPr id="299" name="Google Shape;299;p12"/>
          <p:cNvSpPr/>
          <p:nvPr/>
        </p:nvSpPr>
        <p:spPr>
          <a:xfrm>
            <a:off x="932688" y="2624328"/>
            <a:ext cx="3392424" cy="3429000"/>
          </a:xfrm>
          <a:prstGeom prst="rect">
            <a:avLst/>
          </a:prstGeom>
          <a:noFill/>
          <a:ln>
            <a:noFill/>
          </a:ln>
        </p:spPr>
        <p:txBody>
          <a:bodyPr anchorCtr="0" anchor="t" bIns="45700" lIns="91425" spcFirstLastPara="1" rIns="91425" wrap="square" tIns="45700">
            <a:noAutofit/>
          </a:bodyPr>
          <a:lstStyle/>
          <a:p>
            <a:pPr indent="0" lvl="0" marL="0" marR="0" rtl="0" algn="l">
              <a:lnSpc>
                <a:spcPct val="142000"/>
              </a:lnSpc>
              <a:spcBef>
                <a:spcPts val="0"/>
              </a:spcBef>
              <a:spcAft>
                <a:spcPts val="0"/>
              </a:spcAft>
              <a:buClr>
                <a:srgbClr val="C7D2F0"/>
              </a:buClr>
              <a:buSzPts val="1250"/>
              <a:buFont typeface="Noto Sans"/>
              <a:buNone/>
            </a:pPr>
            <a:r>
              <a:rPr lang="en-US" sz="1300">
                <a:solidFill>
                  <a:srgbClr val="C7D2F0"/>
                </a:solidFill>
                <a:latin typeface="Noto Sans"/>
                <a:ea typeface="Noto Sans"/>
                <a:cs typeface="Noto Sans"/>
                <a:sym typeface="Noto Sans"/>
              </a:rPr>
              <a:t>카드와 버튼의 등장·퇴장 애니메이션을 적용하여 화면 전환이 자연스럽게 이어지도록 기획했습니다. 또한 버튼 입력에 즉각적인 시각 피드백을 제공하고, 게임이 일시 정지된 상황에서도 UI 연출이 계속 진행되도록 구성했습니다. </a:t>
            </a:r>
            <a:endParaRPr b="0" i="0" sz="1300" u="none" cap="none" strike="noStrike">
              <a:solidFill>
                <a:schemeClr val="dk1"/>
              </a:solidFill>
              <a:latin typeface="Calibri"/>
              <a:ea typeface="Calibri"/>
              <a:cs typeface="Calibri"/>
              <a:sym typeface="Calibri"/>
            </a:endParaRPr>
          </a:p>
        </p:txBody>
      </p:sp>
      <p:sp>
        <p:nvSpPr>
          <p:cNvPr id="300" name="Google Shape;300;p12"/>
          <p:cNvSpPr/>
          <p:nvPr/>
        </p:nvSpPr>
        <p:spPr>
          <a:xfrm>
            <a:off x="4846320" y="1600200"/>
            <a:ext cx="6675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구현 방법 </a:t>
            </a:r>
            <a:r>
              <a:rPr b="1" i="0" lang="en-US" sz="1350" u="none" cap="none" strike="noStrike">
                <a:solidFill>
                  <a:srgbClr val="1B2340"/>
                </a:solidFill>
                <a:latin typeface="Noto Sans"/>
                <a:ea typeface="Noto Sans"/>
                <a:cs typeface="Noto Sans"/>
                <a:sym typeface="Noto Sans"/>
              </a:rPr>
              <a:t> </a:t>
            </a:r>
            <a:r>
              <a:rPr b="1" i="0" lang="en-US" sz="1150" u="none" cap="none" strike="noStrike">
                <a:solidFill>
                  <a:srgbClr val="5B6480"/>
                </a:solidFill>
                <a:latin typeface="Noto Sans"/>
                <a:ea typeface="Noto Sans"/>
                <a:cs typeface="Noto Sans"/>
                <a:sym typeface="Noto Sans"/>
              </a:rPr>
              <a:t>· 사용한 기능·패턴</a:t>
            </a:r>
            <a:endParaRPr b="0" i="0" sz="1350" u="none" cap="none" strike="noStrike">
              <a:solidFill>
                <a:schemeClr val="dk1"/>
              </a:solidFill>
              <a:latin typeface="Calibri"/>
              <a:ea typeface="Calibri"/>
              <a:cs typeface="Calibri"/>
              <a:sym typeface="Calibri"/>
            </a:endParaRPr>
          </a:p>
        </p:txBody>
      </p:sp>
      <p:sp>
        <p:nvSpPr>
          <p:cNvPr id="301" name="Google Shape;301;p12"/>
          <p:cNvSpPr/>
          <p:nvPr/>
        </p:nvSpPr>
        <p:spPr>
          <a:xfrm>
            <a:off x="4846320" y="2057400"/>
            <a:ext cx="6675120" cy="1353312"/>
          </a:xfrm>
          <a:prstGeom prst="roundRect">
            <a:avLst>
              <a:gd fmla="val 4730"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2"/>
          <p:cNvSpPr/>
          <p:nvPr/>
        </p:nvSpPr>
        <p:spPr>
          <a:xfrm>
            <a:off x="5084064" y="2258568"/>
            <a:ext cx="420624" cy="420624"/>
          </a:xfrm>
          <a:prstGeom prst="ellipse">
            <a:avLst/>
          </a:prstGeom>
          <a:solidFill>
            <a:srgbClr val="F270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2"/>
          <p:cNvSpPr/>
          <p:nvPr/>
        </p:nvSpPr>
        <p:spPr>
          <a:xfrm>
            <a:off x="5084064" y="2258568"/>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1</a:t>
            </a:r>
            <a:endParaRPr b="0" i="0" sz="1500" u="none" cap="none" strike="noStrike">
              <a:solidFill>
                <a:schemeClr val="dk1"/>
              </a:solidFill>
              <a:latin typeface="Calibri"/>
              <a:ea typeface="Calibri"/>
              <a:cs typeface="Calibri"/>
              <a:sym typeface="Calibri"/>
            </a:endParaRPr>
          </a:p>
        </p:txBody>
      </p:sp>
      <p:sp>
        <p:nvSpPr>
          <p:cNvPr id="304" name="Google Shape;304;p12"/>
          <p:cNvSpPr/>
          <p:nvPr/>
        </p:nvSpPr>
        <p:spPr>
          <a:xfrm>
            <a:off x="5669280" y="2221992"/>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DOTween 기반 UI 애니메이션 </a:t>
            </a:r>
            <a:endParaRPr b="0" i="0" sz="1350" u="none" cap="none" strike="noStrike">
              <a:solidFill>
                <a:schemeClr val="dk1"/>
              </a:solidFill>
              <a:latin typeface="Calibri"/>
              <a:ea typeface="Calibri"/>
              <a:cs typeface="Calibri"/>
              <a:sym typeface="Calibri"/>
            </a:endParaRPr>
          </a:p>
        </p:txBody>
      </p:sp>
      <p:sp>
        <p:nvSpPr>
          <p:cNvPr id="305" name="Google Shape;305;p12"/>
          <p:cNvSpPr/>
          <p:nvPr/>
        </p:nvSpPr>
        <p:spPr>
          <a:xfrm>
            <a:off x="5669280" y="2569464"/>
            <a:ext cx="5623560" cy="73152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rgbClr val="46506B"/>
                </a:solidFill>
                <a:latin typeface="Noto Sans"/>
                <a:ea typeface="Noto Sans"/>
                <a:cs typeface="Noto Sans"/>
                <a:sym typeface="Noto Sans"/>
              </a:rPr>
              <a:t>DOTween 기반 UI 애니메이션 구현</a:t>
            </a:r>
            <a:endParaRPr sz="1200">
              <a:solidFill>
                <a:srgbClr val="46506B"/>
              </a:solidFill>
              <a:latin typeface="Noto Sans"/>
              <a:ea typeface="Noto Sans"/>
              <a:cs typeface="Noto Sans"/>
              <a:sym typeface="Noto Sans"/>
            </a:endParaRPr>
          </a:p>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rgbClr val="46506B"/>
                </a:solidFill>
                <a:latin typeface="Noto Sans"/>
                <a:ea typeface="Noto Sans"/>
                <a:cs typeface="Noto Sans"/>
                <a:sym typeface="Noto Sans"/>
              </a:rPr>
              <a:t>위치·크기·재생 시간 코드 제어</a:t>
            </a:r>
            <a:endParaRPr sz="1200">
              <a:solidFill>
                <a:srgbClr val="46506B"/>
              </a:solidFill>
              <a:latin typeface="Noto Sans"/>
              <a:ea typeface="Noto Sans"/>
              <a:cs typeface="Noto Sans"/>
              <a:sym typeface="Noto Sans"/>
            </a:endParaRPr>
          </a:p>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rgbClr val="46506B"/>
                </a:solidFill>
                <a:latin typeface="Noto Sans"/>
                <a:ea typeface="Noto Sans"/>
                <a:cs typeface="Noto Sans"/>
                <a:sym typeface="Noto Sans"/>
              </a:rPr>
              <a:t>카드·버튼 등장/퇴장 연출 적용</a:t>
            </a:r>
            <a:endParaRPr sz="1200">
              <a:solidFill>
                <a:srgbClr val="46506B"/>
              </a:solidFill>
              <a:latin typeface="Noto Sans"/>
              <a:ea typeface="Noto Sans"/>
              <a:cs typeface="Noto Sans"/>
              <a:sym typeface="Noto Sans"/>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rgbClr val="46506B"/>
              </a:solidFill>
              <a:latin typeface="Noto Sans"/>
              <a:ea typeface="Noto Sans"/>
              <a:cs typeface="Noto Sans"/>
              <a:sym typeface="Noto Sans"/>
            </a:endParaRPr>
          </a:p>
        </p:txBody>
      </p:sp>
      <p:sp>
        <p:nvSpPr>
          <p:cNvPr id="306" name="Google Shape;306;p12"/>
          <p:cNvSpPr/>
          <p:nvPr/>
        </p:nvSpPr>
        <p:spPr>
          <a:xfrm>
            <a:off x="4846320" y="3575304"/>
            <a:ext cx="6675120" cy="1353312"/>
          </a:xfrm>
          <a:prstGeom prst="roundRect">
            <a:avLst>
              <a:gd fmla="val 4730"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2"/>
          <p:cNvSpPr/>
          <p:nvPr/>
        </p:nvSpPr>
        <p:spPr>
          <a:xfrm>
            <a:off x="5084064" y="3776472"/>
            <a:ext cx="420624" cy="420624"/>
          </a:xfrm>
          <a:prstGeom prst="ellipse">
            <a:avLst/>
          </a:prstGeom>
          <a:solidFill>
            <a:srgbClr val="F270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2"/>
          <p:cNvSpPr/>
          <p:nvPr/>
        </p:nvSpPr>
        <p:spPr>
          <a:xfrm>
            <a:off x="5084064" y="3776472"/>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2</a:t>
            </a:r>
            <a:endParaRPr b="0" i="0" sz="1500" u="none" cap="none" strike="noStrike">
              <a:solidFill>
                <a:schemeClr val="dk1"/>
              </a:solidFill>
              <a:latin typeface="Calibri"/>
              <a:ea typeface="Calibri"/>
              <a:cs typeface="Calibri"/>
              <a:sym typeface="Calibri"/>
            </a:endParaRPr>
          </a:p>
        </p:txBody>
      </p:sp>
      <p:sp>
        <p:nvSpPr>
          <p:cNvPr id="309" name="Google Shape;309;p12"/>
          <p:cNvSpPr/>
          <p:nvPr/>
        </p:nvSpPr>
        <p:spPr>
          <a:xfrm>
            <a:off x="5669280" y="3739896"/>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일시 정지 중 UI 연출 유지 </a:t>
            </a:r>
            <a:endParaRPr b="0" i="0" sz="1350" u="none" cap="none" strike="noStrike">
              <a:solidFill>
                <a:schemeClr val="dk1"/>
              </a:solidFill>
              <a:latin typeface="Calibri"/>
              <a:ea typeface="Calibri"/>
              <a:cs typeface="Calibri"/>
              <a:sym typeface="Calibri"/>
            </a:endParaRPr>
          </a:p>
        </p:txBody>
      </p:sp>
      <p:sp>
        <p:nvSpPr>
          <p:cNvPr id="310" name="Google Shape;310;p12"/>
          <p:cNvSpPr/>
          <p:nvPr/>
        </p:nvSpPr>
        <p:spPr>
          <a:xfrm>
            <a:off x="5669280" y="4087368"/>
            <a:ext cx="5623560" cy="73152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rgbClr val="46506B"/>
                </a:solidFill>
                <a:latin typeface="Noto Sans"/>
                <a:ea typeface="Noto Sans"/>
                <a:cs typeface="Noto Sans"/>
                <a:sym typeface="Noto Sans"/>
              </a:rPr>
              <a:t>Unscaled Time 기반 UI 애니메이션</a:t>
            </a:r>
            <a:endParaRPr sz="1200">
              <a:solidFill>
                <a:srgbClr val="46506B"/>
              </a:solidFill>
              <a:latin typeface="Noto Sans"/>
              <a:ea typeface="Noto Sans"/>
              <a:cs typeface="Noto Sans"/>
              <a:sym typeface="Noto Sans"/>
            </a:endParaRPr>
          </a:p>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rgbClr val="46506B"/>
                </a:solidFill>
                <a:latin typeface="Noto Sans"/>
                <a:ea typeface="Noto Sans"/>
                <a:cs typeface="Noto Sans"/>
                <a:sym typeface="Noto Sans"/>
              </a:rPr>
              <a:t>게임 일시정지와 관계없이 연출 유지</a:t>
            </a:r>
            <a:endParaRPr sz="1200">
              <a:solidFill>
                <a:srgbClr val="46506B"/>
              </a:solidFill>
              <a:latin typeface="Noto Sans"/>
              <a:ea typeface="Noto Sans"/>
              <a:cs typeface="Noto Sans"/>
              <a:sym typeface="Noto Sans"/>
            </a:endParaRPr>
          </a:p>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rgbClr val="46506B"/>
                </a:solidFill>
                <a:latin typeface="Noto Sans"/>
                <a:ea typeface="Noto Sans"/>
                <a:cs typeface="Noto Sans"/>
                <a:sym typeface="Noto Sans"/>
              </a:rPr>
              <a:t>레벨업 화면에서도 자연스럽게 재생</a:t>
            </a:r>
            <a:endParaRPr sz="1200">
              <a:solidFill>
                <a:srgbClr val="46506B"/>
              </a:solidFill>
              <a:latin typeface="Noto Sans"/>
              <a:ea typeface="Noto Sans"/>
              <a:cs typeface="Noto Sans"/>
              <a:sym typeface="Noto Sans"/>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rgbClr val="46506B"/>
              </a:solidFill>
              <a:latin typeface="Noto Sans"/>
              <a:ea typeface="Noto Sans"/>
              <a:cs typeface="Noto Sans"/>
              <a:sym typeface="Noto Sans"/>
            </a:endParaRPr>
          </a:p>
        </p:txBody>
      </p:sp>
      <p:sp>
        <p:nvSpPr>
          <p:cNvPr id="311" name="Google Shape;311;p12"/>
          <p:cNvSpPr/>
          <p:nvPr/>
        </p:nvSpPr>
        <p:spPr>
          <a:xfrm>
            <a:off x="4846320" y="5093208"/>
            <a:ext cx="6675120" cy="1353312"/>
          </a:xfrm>
          <a:prstGeom prst="roundRect">
            <a:avLst>
              <a:gd fmla="val 4730"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2"/>
          <p:cNvSpPr/>
          <p:nvPr/>
        </p:nvSpPr>
        <p:spPr>
          <a:xfrm>
            <a:off x="5084064" y="5294376"/>
            <a:ext cx="420624" cy="420624"/>
          </a:xfrm>
          <a:prstGeom prst="ellipse">
            <a:avLst/>
          </a:prstGeom>
          <a:solidFill>
            <a:srgbClr val="F270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2"/>
          <p:cNvSpPr/>
          <p:nvPr/>
        </p:nvSpPr>
        <p:spPr>
          <a:xfrm>
            <a:off x="5084064" y="5294376"/>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3</a:t>
            </a:r>
            <a:endParaRPr b="0" i="0" sz="1500" u="none" cap="none" strike="noStrike">
              <a:solidFill>
                <a:schemeClr val="dk1"/>
              </a:solidFill>
              <a:latin typeface="Calibri"/>
              <a:ea typeface="Calibri"/>
              <a:cs typeface="Calibri"/>
              <a:sym typeface="Calibri"/>
            </a:endParaRPr>
          </a:p>
        </p:txBody>
      </p:sp>
      <p:sp>
        <p:nvSpPr>
          <p:cNvPr id="314" name="Google Shape;314;p12"/>
          <p:cNvSpPr/>
          <p:nvPr/>
        </p:nvSpPr>
        <p:spPr>
          <a:xfrm>
            <a:off x="5669280" y="5257800"/>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애니메이션 중복 실행 방지 </a:t>
            </a:r>
            <a:endParaRPr b="0" i="0" sz="1350" u="none" cap="none" strike="noStrike">
              <a:solidFill>
                <a:schemeClr val="dk1"/>
              </a:solidFill>
              <a:latin typeface="Calibri"/>
              <a:ea typeface="Calibri"/>
              <a:cs typeface="Calibri"/>
              <a:sym typeface="Calibri"/>
            </a:endParaRPr>
          </a:p>
        </p:txBody>
      </p:sp>
      <p:sp>
        <p:nvSpPr>
          <p:cNvPr id="315" name="Google Shape;315;p12"/>
          <p:cNvSpPr/>
          <p:nvPr/>
        </p:nvSpPr>
        <p:spPr>
          <a:xfrm>
            <a:off x="5669280" y="5605272"/>
            <a:ext cx="5623560" cy="73152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rgbClr val="46506B"/>
                </a:solidFill>
                <a:latin typeface="Noto Sans"/>
                <a:ea typeface="Noto Sans"/>
                <a:cs typeface="Noto Sans"/>
                <a:sym typeface="Noto Sans"/>
              </a:rPr>
              <a:t>새 연출 실행 전 기존 애니메이션 종료</a:t>
            </a:r>
            <a:endParaRPr sz="1200">
              <a:solidFill>
                <a:srgbClr val="46506B"/>
              </a:solidFill>
              <a:latin typeface="Noto Sans"/>
              <a:ea typeface="Noto Sans"/>
              <a:cs typeface="Noto Sans"/>
              <a:sym typeface="Noto Sans"/>
            </a:endParaRPr>
          </a:p>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rgbClr val="46506B"/>
                </a:solidFill>
                <a:latin typeface="Noto Sans"/>
                <a:ea typeface="Noto Sans"/>
                <a:cs typeface="Noto Sans"/>
                <a:sym typeface="Noto Sans"/>
              </a:rPr>
              <a:t>DOKill()로 중복 실행 방지</a:t>
            </a:r>
            <a:endParaRPr sz="1200">
              <a:solidFill>
                <a:srgbClr val="46506B"/>
              </a:solidFill>
              <a:latin typeface="Noto Sans"/>
              <a:ea typeface="Noto Sans"/>
              <a:cs typeface="Noto Sans"/>
              <a:sym typeface="Noto Sans"/>
            </a:endParaRPr>
          </a:p>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rgbClr val="46506B"/>
                </a:solidFill>
                <a:latin typeface="Noto Sans"/>
                <a:ea typeface="Noto Sans"/>
                <a:cs typeface="Noto Sans"/>
                <a:sym typeface="Noto Sans"/>
              </a:rPr>
              <a:t>화면 깜빡임 및 연출 충돌 최소화</a:t>
            </a:r>
            <a:endParaRPr sz="1200">
              <a:solidFill>
                <a:srgbClr val="46506B"/>
              </a:solidFill>
              <a:latin typeface="Noto Sans"/>
              <a:ea typeface="Noto Sans"/>
              <a:cs typeface="Noto Sans"/>
              <a:sym typeface="Noto Sans"/>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rgbClr val="46506B"/>
              </a:solidFill>
              <a:latin typeface="Noto Sans"/>
              <a:ea typeface="Noto Sans"/>
              <a:cs typeface="Noto Sans"/>
              <a:sym typeface="No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320" name="Shape 320"/>
        <p:cNvGrpSpPr/>
        <p:nvPr/>
      </p:nvGrpSpPr>
      <p:grpSpPr>
        <a:xfrm>
          <a:off x="0" y="0"/>
          <a:ext cx="0" cy="0"/>
          <a:chOff x="0" y="0"/>
          <a:chExt cx="0" cy="0"/>
        </a:xfrm>
      </p:grpSpPr>
      <p:sp>
        <p:nvSpPr>
          <p:cNvPr id="321" name="Google Shape;321;p13"/>
          <p:cNvSpPr/>
          <p:nvPr/>
        </p:nvSpPr>
        <p:spPr>
          <a:xfrm>
            <a:off x="640080" y="4114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D1C5"/>
              </a:buClr>
              <a:buSzPts val="2600"/>
              <a:buFont typeface="Noto Sans"/>
              <a:buNone/>
            </a:pPr>
            <a:r>
              <a:rPr b="1" i="0" lang="en-US" sz="2600" u="none" cap="none" strike="noStrike">
                <a:solidFill>
                  <a:srgbClr val="4FD1C5"/>
                </a:solidFill>
                <a:latin typeface="Noto Sans"/>
                <a:ea typeface="Noto Sans"/>
                <a:cs typeface="Noto Sans"/>
                <a:sym typeface="Noto Sans"/>
              </a:rPr>
              <a:t>기능 04  </a:t>
            </a:r>
            <a:r>
              <a:rPr b="1" lang="en-US" sz="2600">
                <a:solidFill>
                  <a:srgbClr val="1B2340"/>
                </a:solidFill>
                <a:latin typeface="Noto Sans"/>
                <a:ea typeface="Noto Sans"/>
                <a:cs typeface="Noto Sans"/>
                <a:sym typeface="Noto Sans"/>
              </a:rPr>
              <a:t>보스 체력 피드백 UI </a:t>
            </a:r>
            <a:endParaRPr b="0" i="0" sz="2600" u="none" cap="none" strike="noStrike">
              <a:solidFill>
                <a:schemeClr val="dk1"/>
              </a:solidFill>
              <a:latin typeface="Calibri"/>
              <a:ea typeface="Calibri"/>
              <a:cs typeface="Calibri"/>
              <a:sym typeface="Calibri"/>
            </a:endParaRPr>
          </a:p>
        </p:txBody>
      </p:sp>
      <p:sp>
        <p:nvSpPr>
          <p:cNvPr id="322" name="Google Shape;322;p13"/>
          <p:cNvSpPr/>
          <p:nvPr/>
        </p:nvSpPr>
        <p:spPr>
          <a:xfrm>
            <a:off x="658368" y="1024128"/>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80"/>
              </a:buClr>
              <a:buSzPts val="1350"/>
              <a:buFont typeface="Noto Sans"/>
              <a:buNone/>
            </a:pPr>
            <a:r>
              <a:rPr i="1" lang="en-US" sz="1350">
                <a:solidFill>
                  <a:srgbClr val="5B6480"/>
                </a:solidFill>
                <a:latin typeface="Noto Sans"/>
                <a:ea typeface="Noto Sans"/>
                <a:cs typeface="Noto Sans"/>
                <a:sym typeface="Noto Sans"/>
              </a:rPr>
              <a:t>보스 체력 진행도를 직관적으로 전달하는 UI </a:t>
            </a:r>
            <a:endParaRPr b="0" i="0" sz="1350" u="none" cap="none" strike="noStrike">
              <a:solidFill>
                <a:schemeClr val="dk1"/>
              </a:solidFill>
              <a:latin typeface="Calibri"/>
              <a:ea typeface="Calibri"/>
              <a:cs typeface="Calibri"/>
              <a:sym typeface="Calibri"/>
            </a:endParaRPr>
          </a:p>
        </p:txBody>
      </p:sp>
      <p:grpSp>
        <p:nvGrpSpPr>
          <p:cNvPr id="323" name="Google Shape;323;p13"/>
          <p:cNvGrpSpPr/>
          <p:nvPr/>
        </p:nvGrpSpPr>
        <p:grpSpPr>
          <a:xfrm>
            <a:off x="9235440" y="384048"/>
            <a:ext cx="2286000" cy="822960"/>
            <a:chOff x="9235440" y="384048"/>
            <a:chExt cx="2286000" cy="822960"/>
          </a:xfrm>
        </p:grpSpPr>
        <p:sp>
          <p:nvSpPr>
            <p:cNvPr id="324" name="Google Shape;324;p13"/>
            <p:cNvSpPr/>
            <p:nvPr/>
          </p:nvSpPr>
          <p:spPr>
            <a:xfrm>
              <a:off x="9235440" y="384048"/>
              <a:ext cx="2286000" cy="822960"/>
            </a:xfrm>
            <a:prstGeom prst="roundRect">
              <a:avLst>
                <a:gd fmla="val 8889"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assets/youtube.png" id="325" name="Google Shape;325;p13"/>
            <p:cNvPicPr preferRelativeResize="0"/>
            <p:nvPr/>
          </p:nvPicPr>
          <p:blipFill rotWithShape="1">
            <a:blip r:embed="rId3">
              <a:alphaModFix/>
            </a:blip>
            <a:srcRect b="0" l="0" r="0" t="0"/>
            <a:stretch/>
          </p:blipFill>
          <p:spPr>
            <a:xfrm>
              <a:off x="9528048" y="493776"/>
              <a:ext cx="1700784" cy="384048"/>
            </a:xfrm>
            <a:prstGeom prst="rect">
              <a:avLst/>
            </a:prstGeom>
            <a:noFill/>
            <a:ln>
              <a:noFill/>
            </a:ln>
          </p:spPr>
        </p:pic>
        <p:sp>
          <p:nvSpPr>
            <p:cNvPr id="326" name="Google Shape;326;p13"/>
            <p:cNvSpPr/>
            <p:nvPr/>
          </p:nvSpPr>
          <p:spPr>
            <a:xfrm>
              <a:off x="9235440" y="950976"/>
              <a:ext cx="2286000"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480"/>
                </a:buClr>
                <a:buSzPts val="850"/>
                <a:buFont typeface="Noto Sans"/>
                <a:buNone/>
              </a:pPr>
              <a:r>
                <a:rPr b="0" i="0" lang="en-US" sz="850" u="none" cap="none" strike="noStrike">
                  <a:solidFill>
                    <a:srgbClr val="5B6480"/>
                  </a:solidFill>
                  <a:latin typeface="Noto Sans"/>
                  <a:ea typeface="Noto Sans"/>
                  <a:cs typeface="Noto Sans"/>
                  <a:sym typeface="Noto Sans"/>
                </a:rPr>
                <a:t>▶ 보스 체력</a:t>
              </a:r>
              <a:r>
                <a:rPr lang="en-US" sz="850">
                  <a:solidFill>
                    <a:srgbClr val="5B6480"/>
                  </a:solidFill>
                  <a:latin typeface="Noto Sans"/>
                  <a:ea typeface="Noto Sans"/>
                  <a:cs typeface="Noto Sans"/>
                  <a:sym typeface="Noto Sans"/>
                </a:rPr>
                <a:t> UI 연출</a:t>
              </a:r>
              <a:endParaRPr b="0" i="0" sz="850" u="none" cap="none" strike="noStrike">
                <a:solidFill>
                  <a:schemeClr val="dk1"/>
                </a:solidFill>
                <a:latin typeface="Calibri"/>
                <a:ea typeface="Calibri"/>
                <a:cs typeface="Calibri"/>
                <a:sym typeface="Calibri"/>
              </a:endParaRPr>
            </a:p>
          </p:txBody>
        </p:sp>
      </p:grpSp>
      <p:sp>
        <p:nvSpPr>
          <p:cNvPr id="327" name="Google Shape;327;p13"/>
          <p:cNvSpPr/>
          <p:nvPr/>
        </p:nvSpPr>
        <p:spPr>
          <a:xfrm>
            <a:off x="640080" y="1600200"/>
            <a:ext cx="3977640" cy="4800600"/>
          </a:xfrm>
          <a:prstGeom prst="roundRect">
            <a:avLst>
              <a:gd fmla="val 1839" name="adj"/>
            </a:avLst>
          </a:prstGeom>
          <a:solidFill>
            <a:srgbClr val="0E1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3"/>
          <p:cNvSpPr/>
          <p:nvPr/>
        </p:nvSpPr>
        <p:spPr>
          <a:xfrm>
            <a:off x="640080" y="1600200"/>
            <a:ext cx="91440" cy="4800600"/>
          </a:xfrm>
          <a:prstGeom prst="roundRect">
            <a:avLst>
              <a:gd fmla="val 30000" name="adj"/>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3"/>
          <p:cNvSpPr/>
          <p:nvPr/>
        </p:nvSpPr>
        <p:spPr>
          <a:xfrm>
            <a:off x="932688" y="1911096"/>
            <a:ext cx="3429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D1C5"/>
              </a:buClr>
              <a:buSzPts val="1500"/>
              <a:buFont typeface="Noto Sans"/>
              <a:buNone/>
            </a:pPr>
            <a:r>
              <a:rPr b="1" i="0" lang="en-US" sz="1500" u="none" cap="none" strike="noStrike">
                <a:solidFill>
                  <a:srgbClr val="4FD1C5"/>
                </a:solidFill>
                <a:latin typeface="Noto Sans"/>
                <a:ea typeface="Noto Sans"/>
                <a:cs typeface="Noto Sans"/>
                <a:sym typeface="Noto Sans"/>
              </a:rPr>
              <a:t>기획 의도</a:t>
            </a:r>
            <a:endParaRPr b="0" i="0" sz="1500" u="none" cap="none" strike="noStrike">
              <a:solidFill>
                <a:schemeClr val="dk1"/>
              </a:solidFill>
              <a:latin typeface="Calibri"/>
              <a:ea typeface="Calibri"/>
              <a:cs typeface="Calibri"/>
              <a:sym typeface="Calibri"/>
            </a:endParaRPr>
          </a:p>
        </p:txBody>
      </p:sp>
      <p:cxnSp>
        <p:nvCxnSpPr>
          <p:cNvPr id="330" name="Google Shape;330;p13"/>
          <p:cNvCxnSpPr/>
          <p:nvPr/>
        </p:nvCxnSpPr>
        <p:spPr>
          <a:xfrm>
            <a:off x="950976" y="2441448"/>
            <a:ext cx="3355848" cy="0"/>
          </a:xfrm>
          <a:prstGeom prst="straightConnector1">
            <a:avLst/>
          </a:prstGeom>
          <a:noFill/>
          <a:ln cap="flat" cmpd="sng" w="12700">
            <a:solidFill>
              <a:srgbClr val="33406B"/>
            </a:solidFill>
            <a:prstDash val="solid"/>
            <a:round/>
            <a:headEnd len="sm" w="sm" type="none"/>
            <a:tailEnd len="sm" w="sm" type="none"/>
          </a:ln>
        </p:spPr>
      </p:cxnSp>
      <p:sp>
        <p:nvSpPr>
          <p:cNvPr id="331" name="Google Shape;331;p13"/>
          <p:cNvSpPr/>
          <p:nvPr/>
        </p:nvSpPr>
        <p:spPr>
          <a:xfrm>
            <a:off x="932688" y="2624328"/>
            <a:ext cx="3392424" cy="3429000"/>
          </a:xfrm>
          <a:prstGeom prst="rect">
            <a:avLst/>
          </a:prstGeom>
          <a:noFill/>
          <a:ln>
            <a:noFill/>
          </a:ln>
        </p:spPr>
        <p:txBody>
          <a:bodyPr anchorCtr="0" anchor="t" bIns="45700" lIns="91425" spcFirstLastPara="1" rIns="91425" wrap="square" tIns="45700">
            <a:noAutofit/>
          </a:bodyPr>
          <a:lstStyle/>
          <a:p>
            <a:pPr indent="0" lvl="0" marL="0" marR="0" rtl="0" algn="l">
              <a:lnSpc>
                <a:spcPct val="142000"/>
              </a:lnSpc>
              <a:spcBef>
                <a:spcPts val="0"/>
              </a:spcBef>
              <a:spcAft>
                <a:spcPts val="0"/>
              </a:spcAft>
              <a:buClr>
                <a:srgbClr val="C7D2F0"/>
              </a:buClr>
              <a:buSzPts val="1250"/>
              <a:buFont typeface="Noto Sans"/>
              <a:buNone/>
            </a:pPr>
            <a:r>
              <a:rPr lang="en-US" sz="1250">
                <a:solidFill>
                  <a:srgbClr val="C7D2F0"/>
                </a:solidFill>
                <a:latin typeface="Noto Sans"/>
                <a:ea typeface="Noto Sans"/>
                <a:cs typeface="Noto Sans"/>
                <a:sym typeface="Noto Sans"/>
              </a:rPr>
              <a:t>보스에게 가한 피해를 플레이어가 즉시 확인할 수 있도록 체력바와 피격 효과를 적용했습니다. 또한 현재 체력과 최근 피해량을 함께 표시하여, 공격 결과를 한눈에 파악할 수 있도록 기획했습니다. </a:t>
            </a:r>
            <a:endParaRPr b="0" i="0" sz="1300" u="none" cap="none" strike="noStrike">
              <a:solidFill>
                <a:schemeClr val="dk1"/>
              </a:solidFill>
              <a:latin typeface="Calibri"/>
              <a:ea typeface="Calibri"/>
              <a:cs typeface="Calibri"/>
              <a:sym typeface="Calibri"/>
            </a:endParaRPr>
          </a:p>
        </p:txBody>
      </p:sp>
      <p:sp>
        <p:nvSpPr>
          <p:cNvPr id="332" name="Google Shape;332;p13"/>
          <p:cNvSpPr/>
          <p:nvPr/>
        </p:nvSpPr>
        <p:spPr>
          <a:xfrm>
            <a:off x="4846320" y="1600200"/>
            <a:ext cx="6675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구현 방법 </a:t>
            </a:r>
            <a:r>
              <a:rPr b="1" i="0" lang="en-US" sz="1350" u="none" cap="none" strike="noStrike">
                <a:solidFill>
                  <a:srgbClr val="1B2340"/>
                </a:solidFill>
                <a:latin typeface="Noto Sans"/>
                <a:ea typeface="Noto Sans"/>
                <a:cs typeface="Noto Sans"/>
                <a:sym typeface="Noto Sans"/>
              </a:rPr>
              <a:t> </a:t>
            </a:r>
            <a:r>
              <a:rPr b="1" i="0" lang="en-US" sz="1150" u="none" cap="none" strike="noStrike">
                <a:solidFill>
                  <a:srgbClr val="5B6480"/>
                </a:solidFill>
                <a:latin typeface="Noto Sans"/>
                <a:ea typeface="Noto Sans"/>
                <a:cs typeface="Noto Sans"/>
                <a:sym typeface="Noto Sans"/>
              </a:rPr>
              <a:t>· 사용한 기능·패턴</a:t>
            </a:r>
            <a:endParaRPr b="0" i="0" sz="1350" u="none" cap="none" strike="noStrike">
              <a:solidFill>
                <a:schemeClr val="dk1"/>
              </a:solidFill>
              <a:latin typeface="Calibri"/>
              <a:ea typeface="Calibri"/>
              <a:cs typeface="Calibri"/>
              <a:sym typeface="Calibri"/>
            </a:endParaRPr>
          </a:p>
        </p:txBody>
      </p:sp>
      <p:sp>
        <p:nvSpPr>
          <p:cNvPr id="333" name="Google Shape;333;p13"/>
          <p:cNvSpPr/>
          <p:nvPr/>
        </p:nvSpPr>
        <p:spPr>
          <a:xfrm>
            <a:off x="4846320" y="2057400"/>
            <a:ext cx="6675120" cy="1353312"/>
          </a:xfrm>
          <a:prstGeom prst="roundRect">
            <a:avLst>
              <a:gd fmla="val 4730"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3"/>
          <p:cNvSpPr/>
          <p:nvPr/>
        </p:nvSpPr>
        <p:spPr>
          <a:xfrm>
            <a:off x="5084064" y="2258568"/>
            <a:ext cx="420624" cy="420624"/>
          </a:xfrm>
          <a:prstGeom prst="ellipse">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3"/>
          <p:cNvSpPr/>
          <p:nvPr/>
        </p:nvSpPr>
        <p:spPr>
          <a:xfrm>
            <a:off x="5084064" y="2258568"/>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1</a:t>
            </a:r>
            <a:endParaRPr b="0" i="0" sz="1500" u="none" cap="none" strike="noStrike">
              <a:solidFill>
                <a:schemeClr val="dk1"/>
              </a:solidFill>
              <a:latin typeface="Calibri"/>
              <a:ea typeface="Calibri"/>
              <a:cs typeface="Calibri"/>
              <a:sym typeface="Calibri"/>
            </a:endParaRPr>
          </a:p>
        </p:txBody>
      </p:sp>
      <p:sp>
        <p:nvSpPr>
          <p:cNvPr id="336" name="Google Shape;336;p13"/>
          <p:cNvSpPr/>
          <p:nvPr/>
        </p:nvSpPr>
        <p:spPr>
          <a:xfrm>
            <a:off x="5669280" y="2221992"/>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다중 체력바 구성 </a:t>
            </a:r>
            <a:endParaRPr b="0" i="0" sz="1350" u="none" cap="none" strike="noStrike">
              <a:solidFill>
                <a:schemeClr val="dk1"/>
              </a:solidFill>
              <a:latin typeface="Calibri"/>
              <a:ea typeface="Calibri"/>
              <a:cs typeface="Calibri"/>
              <a:sym typeface="Calibri"/>
            </a:endParaRPr>
          </a:p>
        </p:txBody>
      </p:sp>
      <p:sp>
        <p:nvSpPr>
          <p:cNvPr id="337" name="Google Shape;337;p13"/>
          <p:cNvSpPr/>
          <p:nvPr/>
        </p:nvSpPr>
        <p:spPr>
          <a:xfrm>
            <a:off x="5669280" y="2569464"/>
            <a:ext cx="5623560" cy="73152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chemeClr val="dk1"/>
                </a:solidFill>
                <a:latin typeface="Roboto Mono"/>
                <a:ea typeface="Roboto Mono"/>
                <a:cs typeface="Roboto Mono"/>
                <a:sym typeface="Roboto Mono"/>
              </a:rPr>
              <a:t>Image.fillAmount</a:t>
            </a:r>
            <a:r>
              <a:rPr lang="en-US" sz="1200">
                <a:solidFill>
                  <a:schemeClr val="dk1"/>
                </a:solidFill>
              </a:rPr>
              <a:t> 기반 체력바 구성</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chemeClr val="dk1"/>
                </a:solidFill>
              </a:rPr>
              <a:t>현재 체력 · 최근 피해량 분리 표시</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chemeClr val="dk1"/>
                </a:solidFill>
              </a:rPr>
              <a:t>감소한 피해량 시각적 표현</a:t>
            </a:r>
            <a:endParaRPr sz="1200">
              <a:solidFill>
                <a:schemeClr val="dk1"/>
              </a:solidFill>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chemeClr val="dk1"/>
              </a:solidFill>
              <a:latin typeface="Noto Sans"/>
              <a:ea typeface="Noto Sans"/>
              <a:cs typeface="Noto Sans"/>
              <a:sym typeface="Noto Sans"/>
            </a:endParaRPr>
          </a:p>
        </p:txBody>
      </p:sp>
      <p:sp>
        <p:nvSpPr>
          <p:cNvPr id="338" name="Google Shape;338;p13"/>
          <p:cNvSpPr/>
          <p:nvPr/>
        </p:nvSpPr>
        <p:spPr>
          <a:xfrm>
            <a:off x="4846320" y="3575304"/>
            <a:ext cx="6675120" cy="1353312"/>
          </a:xfrm>
          <a:prstGeom prst="roundRect">
            <a:avLst>
              <a:gd fmla="val 4730"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p:nvPr/>
        </p:nvSpPr>
        <p:spPr>
          <a:xfrm>
            <a:off x="5084064" y="3776472"/>
            <a:ext cx="420624" cy="420624"/>
          </a:xfrm>
          <a:prstGeom prst="ellipse">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3"/>
          <p:cNvSpPr/>
          <p:nvPr/>
        </p:nvSpPr>
        <p:spPr>
          <a:xfrm>
            <a:off x="5084064" y="3776472"/>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2</a:t>
            </a:r>
            <a:endParaRPr b="0" i="0" sz="1500" u="none" cap="none" strike="noStrike">
              <a:solidFill>
                <a:schemeClr val="dk1"/>
              </a:solidFill>
              <a:latin typeface="Calibri"/>
              <a:ea typeface="Calibri"/>
              <a:cs typeface="Calibri"/>
              <a:sym typeface="Calibri"/>
            </a:endParaRPr>
          </a:p>
        </p:txBody>
      </p:sp>
      <p:sp>
        <p:nvSpPr>
          <p:cNvPr id="341" name="Google Shape;341;p13"/>
          <p:cNvSpPr/>
          <p:nvPr/>
        </p:nvSpPr>
        <p:spPr>
          <a:xfrm>
            <a:off x="5669280" y="3739896"/>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피격 반응 연출 </a:t>
            </a:r>
            <a:endParaRPr b="0" i="0" sz="1350" u="none" cap="none" strike="noStrike">
              <a:solidFill>
                <a:schemeClr val="dk1"/>
              </a:solidFill>
              <a:latin typeface="Calibri"/>
              <a:ea typeface="Calibri"/>
              <a:cs typeface="Calibri"/>
              <a:sym typeface="Calibri"/>
            </a:endParaRPr>
          </a:p>
        </p:txBody>
      </p:sp>
      <p:sp>
        <p:nvSpPr>
          <p:cNvPr id="342" name="Google Shape;342;p13"/>
          <p:cNvSpPr/>
          <p:nvPr/>
        </p:nvSpPr>
        <p:spPr>
          <a:xfrm>
            <a:off x="5669280" y="4087368"/>
            <a:ext cx="5623560" cy="73152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rgbClr val="46506B"/>
                </a:solidFill>
                <a:latin typeface="Noto Sans"/>
                <a:ea typeface="Noto Sans"/>
                <a:cs typeface="Noto Sans"/>
                <a:sym typeface="Noto Sans"/>
              </a:rPr>
              <a:t>체력바 흔들림 · 잔상 효과 적용</a:t>
            </a:r>
            <a:endParaRPr sz="1200">
              <a:solidFill>
                <a:srgbClr val="46506B"/>
              </a:solidFill>
              <a:latin typeface="Noto Sans"/>
              <a:ea typeface="Noto Sans"/>
              <a:cs typeface="Noto Sans"/>
              <a:sym typeface="Noto Sans"/>
            </a:endParaRPr>
          </a:p>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rgbClr val="46506B"/>
                </a:solidFill>
                <a:latin typeface="Noto Sans"/>
                <a:ea typeface="Noto Sans"/>
                <a:cs typeface="Noto Sans"/>
                <a:sym typeface="Noto Sans"/>
              </a:rPr>
              <a:t>공격 적중 피드백 강화</a:t>
            </a:r>
            <a:endParaRPr sz="1200">
              <a:solidFill>
                <a:srgbClr val="46506B"/>
              </a:solidFill>
              <a:latin typeface="Noto Sans"/>
              <a:ea typeface="Noto Sans"/>
              <a:cs typeface="Noto Sans"/>
              <a:sym typeface="Noto Sans"/>
            </a:endParaRPr>
          </a:p>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rgbClr val="46506B"/>
                </a:solidFill>
                <a:latin typeface="Noto Sans"/>
                <a:ea typeface="Noto Sans"/>
                <a:cs typeface="Noto Sans"/>
                <a:sym typeface="Noto Sans"/>
              </a:rPr>
              <a:t>전투 타격감 향상</a:t>
            </a:r>
            <a:endParaRPr sz="1200">
              <a:solidFill>
                <a:srgbClr val="46506B"/>
              </a:solidFill>
              <a:latin typeface="Noto Sans"/>
              <a:ea typeface="Noto Sans"/>
              <a:cs typeface="Noto Sans"/>
              <a:sym typeface="Noto Sans"/>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rgbClr val="46506B"/>
              </a:solidFill>
              <a:latin typeface="Noto Sans"/>
              <a:ea typeface="Noto Sans"/>
              <a:cs typeface="Noto Sans"/>
              <a:sym typeface="Noto Sans"/>
            </a:endParaRPr>
          </a:p>
        </p:txBody>
      </p:sp>
      <p:sp>
        <p:nvSpPr>
          <p:cNvPr id="343" name="Google Shape;343;p13"/>
          <p:cNvSpPr/>
          <p:nvPr/>
        </p:nvSpPr>
        <p:spPr>
          <a:xfrm>
            <a:off x="4846320" y="5093208"/>
            <a:ext cx="6675120" cy="1353312"/>
          </a:xfrm>
          <a:prstGeom prst="roundRect">
            <a:avLst>
              <a:gd fmla="val 4730"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3"/>
          <p:cNvSpPr/>
          <p:nvPr/>
        </p:nvSpPr>
        <p:spPr>
          <a:xfrm>
            <a:off x="5084064" y="5294376"/>
            <a:ext cx="420624" cy="420624"/>
          </a:xfrm>
          <a:prstGeom prst="ellipse">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p:nvPr/>
        </p:nvSpPr>
        <p:spPr>
          <a:xfrm>
            <a:off x="5084064" y="5294376"/>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3</a:t>
            </a:r>
            <a:endParaRPr b="0" i="0" sz="1500" u="none" cap="none" strike="noStrike">
              <a:solidFill>
                <a:schemeClr val="dk1"/>
              </a:solidFill>
              <a:latin typeface="Calibri"/>
              <a:ea typeface="Calibri"/>
              <a:cs typeface="Calibri"/>
              <a:sym typeface="Calibri"/>
            </a:endParaRPr>
          </a:p>
        </p:txBody>
      </p:sp>
      <p:sp>
        <p:nvSpPr>
          <p:cNvPr id="346" name="Google Shape;346;p13"/>
          <p:cNvSpPr/>
          <p:nvPr/>
        </p:nvSpPr>
        <p:spPr>
          <a:xfrm>
            <a:off x="5669280" y="5257800"/>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보스 생성 완료 후 UI 연결 </a:t>
            </a:r>
            <a:endParaRPr b="0" i="0" sz="1350" u="none" cap="none" strike="noStrike">
              <a:solidFill>
                <a:schemeClr val="dk1"/>
              </a:solidFill>
              <a:latin typeface="Calibri"/>
              <a:ea typeface="Calibri"/>
              <a:cs typeface="Calibri"/>
              <a:sym typeface="Calibri"/>
            </a:endParaRPr>
          </a:p>
        </p:txBody>
      </p:sp>
      <p:sp>
        <p:nvSpPr>
          <p:cNvPr id="347" name="Google Shape;347;p13"/>
          <p:cNvSpPr/>
          <p:nvPr/>
        </p:nvSpPr>
        <p:spPr>
          <a:xfrm>
            <a:off x="5669280" y="5605272"/>
            <a:ext cx="5623560" cy="73152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chemeClr val="dk1"/>
                </a:solidFill>
                <a:latin typeface="Roboto Mono"/>
                <a:ea typeface="Roboto Mono"/>
                <a:cs typeface="Roboto Mono"/>
                <a:sym typeface="Roboto Mono"/>
              </a:rPr>
              <a:t>Coroutine</a:t>
            </a:r>
            <a:r>
              <a:rPr lang="en-US" sz="1200">
                <a:solidFill>
                  <a:schemeClr val="dk1"/>
                </a:solidFill>
              </a:rPr>
              <a:t>으로 생성 완료 대기</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chemeClr val="dk1"/>
                </a:solidFill>
              </a:rPr>
              <a:t>보스 생성 후 체력바 연결</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rgbClr val="46506B"/>
                </a:solidFill>
                <a:latin typeface="Noto Sans"/>
                <a:ea typeface="Noto Sans"/>
                <a:cs typeface="Noto Sans"/>
                <a:sym typeface="Noto Sans"/>
              </a:rPr>
              <a:t>   </a:t>
            </a:r>
            <a:r>
              <a:rPr lang="en-US" sz="1200">
                <a:solidFill>
                  <a:schemeClr val="dk1"/>
                </a:solidFill>
              </a:rPr>
              <a:t>●</a:t>
            </a:r>
            <a:r>
              <a:rPr lang="en-US" sz="1200">
                <a:solidFill>
                  <a:srgbClr val="46506B"/>
                </a:solidFill>
                <a:latin typeface="Noto Sans"/>
                <a:ea typeface="Noto Sans"/>
                <a:cs typeface="Noto Sans"/>
                <a:sym typeface="Noto Sans"/>
              </a:rPr>
              <a:t>   </a:t>
            </a:r>
            <a:r>
              <a:rPr lang="en-US" sz="1200">
                <a:solidFill>
                  <a:schemeClr val="dk1"/>
                </a:solidFill>
              </a:rPr>
              <a:t>Null Reference 오류 방지</a:t>
            </a:r>
            <a:endParaRPr sz="1200">
              <a:solidFill>
                <a:schemeClr val="dk1"/>
              </a:solidFill>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chemeClr val="dk1"/>
              </a:solidFill>
              <a:latin typeface="Noto Sans"/>
              <a:ea typeface="Noto Sans"/>
              <a:cs typeface="Noto Sans"/>
              <a:sym typeface="No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352" name="Shape 352"/>
        <p:cNvGrpSpPr/>
        <p:nvPr/>
      </p:nvGrpSpPr>
      <p:grpSpPr>
        <a:xfrm>
          <a:off x="0" y="0"/>
          <a:ext cx="0" cy="0"/>
          <a:chOff x="0" y="0"/>
          <a:chExt cx="0" cy="0"/>
        </a:xfrm>
      </p:grpSpPr>
      <p:sp>
        <p:nvSpPr>
          <p:cNvPr id="353" name="Google Shape;353;p14"/>
          <p:cNvSpPr/>
          <p:nvPr/>
        </p:nvSpPr>
        <p:spPr>
          <a:xfrm>
            <a:off x="640080" y="4114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B740"/>
              </a:buClr>
              <a:buSzPts val="2600"/>
              <a:buFont typeface="Noto Sans"/>
              <a:buNone/>
            </a:pPr>
            <a:r>
              <a:rPr b="1" i="0" lang="en-US" sz="2600" u="none" cap="none" strike="noStrike">
                <a:solidFill>
                  <a:srgbClr val="F4B740"/>
                </a:solidFill>
                <a:latin typeface="Noto Sans"/>
                <a:ea typeface="Noto Sans"/>
                <a:cs typeface="Noto Sans"/>
                <a:sym typeface="Noto Sans"/>
              </a:rPr>
              <a:t>기능 05  </a:t>
            </a:r>
            <a:r>
              <a:rPr b="1" lang="en-US" sz="2600">
                <a:solidFill>
                  <a:srgbClr val="1B2340"/>
                </a:solidFill>
                <a:latin typeface="Noto Sans"/>
                <a:ea typeface="Noto Sans"/>
                <a:cs typeface="Noto Sans"/>
                <a:sym typeface="Noto Sans"/>
              </a:rPr>
              <a:t>오디오 관리 시스템 </a:t>
            </a:r>
            <a:endParaRPr b="0" i="0" sz="2600" u="none" cap="none" strike="noStrike">
              <a:solidFill>
                <a:schemeClr val="dk1"/>
              </a:solidFill>
              <a:latin typeface="Calibri"/>
              <a:ea typeface="Calibri"/>
              <a:cs typeface="Calibri"/>
              <a:sym typeface="Calibri"/>
            </a:endParaRPr>
          </a:p>
        </p:txBody>
      </p:sp>
      <p:sp>
        <p:nvSpPr>
          <p:cNvPr id="354" name="Google Shape;354;p14"/>
          <p:cNvSpPr/>
          <p:nvPr/>
        </p:nvSpPr>
        <p:spPr>
          <a:xfrm>
            <a:off x="658368" y="1024128"/>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80"/>
              </a:buClr>
              <a:buSzPts val="1350"/>
              <a:buFont typeface="Noto Sans"/>
              <a:buNone/>
            </a:pPr>
            <a:r>
              <a:rPr i="1" lang="en-US" sz="1350">
                <a:solidFill>
                  <a:srgbClr val="5B6480"/>
                </a:solidFill>
                <a:latin typeface="Noto Sans"/>
                <a:ea typeface="Noto Sans"/>
                <a:cs typeface="Noto Sans"/>
                <a:sym typeface="Noto Sans"/>
              </a:rPr>
              <a:t>장면 전환에도 음악을 유지하고, 볼륨 설정을 저장하는 오디오 시스템 </a:t>
            </a:r>
            <a:endParaRPr b="0" i="0" sz="1350" u="none" cap="none" strike="noStrike">
              <a:solidFill>
                <a:schemeClr val="dk1"/>
              </a:solidFill>
              <a:latin typeface="Calibri"/>
              <a:ea typeface="Calibri"/>
              <a:cs typeface="Calibri"/>
              <a:sym typeface="Calibri"/>
            </a:endParaRPr>
          </a:p>
        </p:txBody>
      </p:sp>
      <p:grpSp>
        <p:nvGrpSpPr>
          <p:cNvPr id="355" name="Google Shape;355;p14"/>
          <p:cNvGrpSpPr/>
          <p:nvPr/>
        </p:nvGrpSpPr>
        <p:grpSpPr>
          <a:xfrm>
            <a:off x="9235440" y="384048"/>
            <a:ext cx="2286000" cy="822960"/>
            <a:chOff x="9235440" y="384048"/>
            <a:chExt cx="2286000" cy="822960"/>
          </a:xfrm>
        </p:grpSpPr>
        <p:sp>
          <p:nvSpPr>
            <p:cNvPr id="356" name="Google Shape;356;p14"/>
            <p:cNvSpPr/>
            <p:nvPr/>
          </p:nvSpPr>
          <p:spPr>
            <a:xfrm>
              <a:off x="9235440" y="384048"/>
              <a:ext cx="2286000" cy="822960"/>
            </a:xfrm>
            <a:prstGeom prst="roundRect">
              <a:avLst>
                <a:gd fmla="val 8889"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assets/youtube.png" id="357" name="Google Shape;357;p14"/>
            <p:cNvPicPr preferRelativeResize="0"/>
            <p:nvPr/>
          </p:nvPicPr>
          <p:blipFill rotWithShape="1">
            <a:blip r:embed="rId3">
              <a:alphaModFix/>
            </a:blip>
            <a:srcRect b="0" l="0" r="0" t="0"/>
            <a:stretch/>
          </p:blipFill>
          <p:spPr>
            <a:xfrm>
              <a:off x="9528048" y="493776"/>
              <a:ext cx="1700784" cy="384048"/>
            </a:xfrm>
            <a:prstGeom prst="rect">
              <a:avLst/>
            </a:prstGeom>
            <a:noFill/>
            <a:ln>
              <a:noFill/>
            </a:ln>
          </p:spPr>
        </p:pic>
        <p:sp>
          <p:nvSpPr>
            <p:cNvPr id="358" name="Google Shape;358;p14"/>
            <p:cNvSpPr/>
            <p:nvPr/>
          </p:nvSpPr>
          <p:spPr>
            <a:xfrm>
              <a:off x="9235440" y="950976"/>
              <a:ext cx="2286000"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480"/>
                </a:buClr>
                <a:buSzPts val="850"/>
                <a:buFont typeface="Noto Sans"/>
                <a:buNone/>
              </a:pPr>
              <a:r>
                <a:rPr b="0" i="0" lang="en-US" sz="850" u="none" cap="none" strike="noStrike">
                  <a:solidFill>
                    <a:srgbClr val="5B6480"/>
                  </a:solidFill>
                  <a:latin typeface="Noto Sans"/>
                  <a:ea typeface="Noto Sans"/>
                  <a:cs typeface="Noto Sans"/>
                  <a:sym typeface="Noto Sans"/>
                </a:rPr>
                <a:t>▶ 배경음악 전환·볼륨 설정</a:t>
              </a:r>
              <a:endParaRPr b="0" i="0" sz="850" u="none" cap="none" strike="noStrike">
                <a:solidFill>
                  <a:schemeClr val="dk1"/>
                </a:solidFill>
                <a:latin typeface="Calibri"/>
                <a:ea typeface="Calibri"/>
                <a:cs typeface="Calibri"/>
                <a:sym typeface="Calibri"/>
              </a:endParaRPr>
            </a:p>
          </p:txBody>
        </p:sp>
      </p:grpSp>
      <p:sp>
        <p:nvSpPr>
          <p:cNvPr id="359" name="Google Shape;359;p14"/>
          <p:cNvSpPr/>
          <p:nvPr/>
        </p:nvSpPr>
        <p:spPr>
          <a:xfrm>
            <a:off x="640080" y="1600200"/>
            <a:ext cx="3977640" cy="4800600"/>
          </a:xfrm>
          <a:prstGeom prst="roundRect">
            <a:avLst>
              <a:gd fmla="val 1839" name="adj"/>
            </a:avLst>
          </a:prstGeom>
          <a:solidFill>
            <a:srgbClr val="0E1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4"/>
          <p:cNvSpPr/>
          <p:nvPr/>
        </p:nvSpPr>
        <p:spPr>
          <a:xfrm>
            <a:off x="640080" y="1600200"/>
            <a:ext cx="91440" cy="4800600"/>
          </a:xfrm>
          <a:prstGeom prst="roundRect">
            <a:avLst>
              <a:gd fmla="val 30000" name="adj"/>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4"/>
          <p:cNvSpPr/>
          <p:nvPr/>
        </p:nvSpPr>
        <p:spPr>
          <a:xfrm>
            <a:off x="932688" y="1911096"/>
            <a:ext cx="3429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B740"/>
              </a:buClr>
              <a:buSzPts val="1500"/>
              <a:buFont typeface="Noto Sans"/>
              <a:buNone/>
            </a:pPr>
            <a:r>
              <a:rPr b="1" i="0" lang="en-US" sz="1500" u="none" cap="none" strike="noStrike">
                <a:solidFill>
                  <a:srgbClr val="F4B740"/>
                </a:solidFill>
                <a:latin typeface="Noto Sans"/>
                <a:ea typeface="Noto Sans"/>
                <a:cs typeface="Noto Sans"/>
                <a:sym typeface="Noto Sans"/>
              </a:rPr>
              <a:t>기획 의도</a:t>
            </a:r>
            <a:endParaRPr b="0" i="0" sz="1500" u="none" cap="none" strike="noStrike">
              <a:solidFill>
                <a:schemeClr val="dk1"/>
              </a:solidFill>
              <a:latin typeface="Calibri"/>
              <a:ea typeface="Calibri"/>
              <a:cs typeface="Calibri"/>
              <a:sym typeface="Calibri"/>
            </a:endParaRPr>
          </a:p>
        </p:txBody>
      </p:sp>
      <p:cxnSp>
        <p:nvCxnSpPr>
          <p:cNvPr id="362" name="Google Shape;362;p14"/>
          <p:cNvCxnSpPr/>
          <p:nvPr/>
        </p:nvCxnSpPr>
        <p:spPr>
          <a:xfrm>
            <a:off x="950976" y="2441448"/>
            <a:ext cx="3355848" cy="0"/>
          </a:xfrm>
          <a:prstGeom prst="straightConnector1">
            <a:avLst/>
          </a:prstGeom>
          <a:noFill/>
          <a:ln cap="flat" cmpd="sng" w="12700">
            <a:solidFill>
              <a:srgbClr val="33406B"/>
            </a:solidFill>
            <a:prstDash val="solid"/>
            <a:round/>
            <a:headEnd len="sm" w="sm" type="none"/>
            <a:tailEnd len="sm" w="sm" type="none"/>
          </a:ln>
        </p:spPr>
      </p:cxnSp>
      <p:sp>
        <p:nvSpPr>
          <p:cNvPr id="363" name="Google Shape;363;p14"/>
          <p:cNvSpPr/>
          <p:nvPr/>
        </p:nvSpPr>
        <p:spPr>
          <a:xfrm>
            <a:off x="932688" y="2624328"/>
            <a:ext cx="3392424" cy="3429000"/>
          </a:xfrm>
          <a:prstGeom prst="rect">
            <a:avLst/>
          </a:prstGeom>
          <a:noFill/>
          <a:ln>
            <a:noFill/>
          </a:ln>
        </p:spPr>
        <p:txBody>
          <a:bodyPr anchorCtr="0" anchor="t" bIns="45700" lIns="91425" spcFirstLastPara="1" rIns="91425" wrap="square" tIns="45700">
            <a:noAutofit/>
          </a:bodyPr>
          <a:lstStyle/>
          <a:p>
            <a:pPr indent="0" lvl="0" marL="0" marR="0" rtl="0" algn="l">
              <a:lnSpc>
                <a:spcPct val="142000"/>
              </a:lnSpc>
              <a:spcBef>
                <a:spcPts val="0"/>
              </a:spcBef>
              <a:spcAft>
                <a:spcPts val="0"/>
              </a:spcAft>
              <a:buClr>
                <a:srgbClr val="C7D2F0"/>
              </a:buClr>
              <a:buSzPts val="1250"/>
              <a:buFont typeface="Noto Sans"/>
              <a:buNone/>
            </a:pPr>
            <a:r>
              <a:rPr b="0" i="0" lang="en-US" sz="1250" u="none" cap="none" strike="noStrike">
                <a:solidFill>
                  <a:srgbClr val="C7D2F0"/>
                </a:solidFill>
                <a:latin typeface="Noto Sans"/>
                <a:ea typeface="Noto Sans"/>
                <a:cs typeface="Noto Sans"/>
                <a:sym typeface="Noto Sans"/>
              </a:rPr>
              <a:t>장면이 변경되어도 배경음악이 자연스럽게 이어지고, 플레이어가 설정한 볼륨이 유지되도록 설계했습니다. 또한 보스전과 같이 상황이 변경될 때는 분위기에 맞는 음악으로 자연스럽게 전환되도록 구현했습니다.</a:t>
            </a:r>
            <a:endParaRPr b="0" i="0" sz="1250" u="none" cap="none" strike="noStrike">
              <a:solidFill>
                <a:schemeClr val="dk1"/>
              </a:solidFill>
              <a:latin typeface="Calibri"/>
              <a:ea typeface="Calibri"/>
              <a:cs typeface="Calibri"/>
              <a:sym typeface="Calibri"/>
            </a:endParaRPr>
          </a:p>
        </p:txBody>
      </p:sp>
      <p:sp>
        <p:nvSpPr>
          <p:cNvPr id="364" name="Google Shape;364;p14"/>
          <p:cNvSpPr/>
          <p:nvPr/>
        </p:nvSpPr>
        <p:spPr>
          <a:xfrm>
            <a:off x="4846320" y="1600200"/>
            <a:ext cx="6675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구현 방법 </a:t>
            </a:r>
            <a:r>
              <a:rPr b="1" i="0" lang="en-US" sz="1350" u="none" cap="none" strike="noStrike">
                <a:solidFill>
                  <a:srgbClr val="1B2340"/>
                </a:solidFill>
                <a:latin typeface="Noto Sans"/>
                <a:ea typeface="Noto Sans"/>
                <a:cs typeface="Noto Sans"/>
                <a:sym typeface="Noto Sans"/>
              </a:rPr>
              <a:t> </a:t>
            </a:r>
            <a:r>
              <a:rPr b="1" i="0" lang="en-US" sz="1150" u="none" cap="none" strike="noStrike">
                <a:solidFill>
                  <a:srgbClr val="5B6480"/>
                </a:solidFill>
                <a:latin typeface="Noto Sans"/>
                <a:ea typeface="Noto Sans"/>
                <a:cs typeface="Noto Sans"/>
                <a:sym typeface="Noto Sans"/>
              </a:rPr>
              <a:t>· 사용한 기능·패턴</a:t>
            </a:r>
            <a:endParaRPr b="0" i="0" sz="1350" u="none" cap="none" strike="noStrike">
              <a:solidFill>
                <a:schemeClr val="dk1"/>
              </a:solidFill>
              <a:latin typeface="Calibri"/>
              <a:ea typeface="Calibri"/>
              <a:cs typeface="Calibri"/>
              <a:sym typeface="Calibri"/>
            </a:endParaRPr>
          </a:p>
        </p:txBody>
      </p:sp>
      <p:sp>
        <p:nvSpPr>
          <p:cNvPr id="365" name="Google Shape;365;p14"/>
          <p:cNvSpPr/>
          <p:nvPr/>
        </p:nvSpPr>
        <p:spPr>
          <a:xfrm>
            <a:off x="4846320" y="2057400"/>
            <a:ext cx="6675120" cy="1353312"/>
          </a:xfrm>
          <a:prstGeom prst="roundRect">
            <a:avLst>
              <a:gd fmla="val 4730"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4"/>
          <p:cNvSpPr/>
          <p:nvPr/>
        </p:nvSpPr>
        <p:spPr>
          <a:xfrm>
            <a:off x="5084064" y="2258568"/>
            <a:ext cx="420624" cy="420624"/>
          </a:xfrm>
          <a:prstGeom prst="ellipse">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4"/>
          <p:cNvSpPr/>
          <p:nvPr/>
        </p:nvSpPr>
        <p:spPr>
          <a:xfrm>
            <a:off x="5084064" y="2258568"/>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1</a:t>
            </a:r>
            <a:endParaRPr b="0" i="0" sz="1500" u="none" cap="none" strike="noStrike">
              <a:solidFill>
                <a:schemeClr val="dk1"/>
              </a:solidFill>
              <a:latin typeface="Calibri"/>
              <a:ea typeface="Calibri"/>
              <a:cs typeface="Calibri"/>
              <a:sym typeface="Calibri"/>
            </a:endParaRPr>
          </a:p>
        </p:txBody>
      </p:sp>
      <p:sp>
        <p:nvSpPr>
          <p:cNvPr id="368" name="Google Shape;368;p14"/>
          <p:cNvSpPr/>
          <p:nvPr/>
        </p:nvSpPr>
        <p:spPr>
          <a:xfrm>
            <a:off x="5669280" y="2221992"/>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음악 담당은 하나로 유지 </a:t>
            </a:r>
            <a:endParaRPr b="0" i="0" sz="1350" u="none" cap="none" strike="noStrike">
              <a:solidFill>
                <a:schemeClr val="dk1"/>
              </a:solidFill>
              <a:latin typeface="Calibri"/>
              <a:ea typeface="Calibri"/>
              <a:cs typeface="Calibri"/>
              <a:sym typeface="Calibri"/>
            </a:endParaRPr>
          </a:p>
        </p:txBody>
      </p:sp>
      <p:sp>
        <p:nvSpPr>
          <p:cNvPr id="369" name="Google Shape;369;p14"/>
          <p:cNvSpPr/>
          <p:nvPr/>
        </p:nvSpPr>
        <p:spPr>
          <a:xfrm>
            <a:off x="5669280" y="2569464"/>
            <a:ext cx="5623560" cy="73152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Singleton 기반 AudioManager 구성</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latin typeface="Roboto Mono"/>
                <a:ea typeface="Roboto Mono"/>
                <a:cs typeface="Roboto Mono"/>
                <a:sym typeface="Roboto Mono"/>
              </a:rPr>
              <a:t>DontDestroyOnLoad</a:t>
            </a:r>
            <a:r>
              <a:rPr lang="en-US" sz="1200">
                <a:solidFill>
                  <a:schemeClr val="dk1"/>
                </a:solidFill>
              </a:rPr>
              <a:t> 적용</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rPr>
              <a:t>장면 전환에도 BGM 유지</a:t>
            </a:r>
            <a:endParaRPr sz="1200">
              <a:solidFill>
                <a:schemeClr val="dk1"/>
              </a:solidFill>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chemeClr val="dk1"/>
              </a:solidFill>
              <a:latin typeface="Noto Sans"/>
              <a:ea typeface="Noto Sans"/>
              <a:cs typeface="Noto Sans"/>
              <a:sym typeface="Noto Sans"/>
            </a:endParaRPr>
          </a:p>
        </p:txBody>
      </p:sp>
      <p:sp>
        <p:nvSpPr>
          <p:cNvPr id="370" name="Google Shape;370;p14"/>
          <p:cNvSpPr/>
          <p:nvPr/>
        </p:nvSpPr>
        <p:spPr>
          <a:xfrm>
            <a:off x="4846320" y="3575304"/>
            <a:ext cx="6675120" cy="1353312"/>
          </a:xfrm>
          <a:prstGeom prst="roundRect">
            <a:avLst>
              <a:gd fmla="val 4730"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4"/>
          <p:cNvSpPr/>
          <p:nvPr/>
        </p:nvSpPr>
        <p:spPr>
          <a:xfrm>
            <a:off x="5084064" y="3776472"/>
            <a:ext cx="420624" cy="420624"/>
          </a:xfrm>
          <a:prstGeom prst="ellipse">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
          <p:cNvSpPr/>
          <p:nvPr/>
        </p:nvSpPr>
        <p:spPr>
          <a:xfrm>
            <a:off x="5084064" y="3776472"/>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2</a:t>
            </a:r>
            <a:endParaRPr b="0" i="0" sz="1500" u="none" cap="none" strike="noStrike">
              <a:solidFill>
                <a:schemeClr val="dk1"/>
              </a:solidFill>
              <a:latin typeface="Calibri"/>
              <a:ea typeface="Calibri"/>
              <a:cs typeface="Calibri"/>
              <a:sym typeface="Calibri"/>
            </a:endParaRPr>
          </a:p>
        </p:txBody>
      </p:sp>
      <p:sp>
        <p:nvSpPr>
          <p:cNvPr id="373" name="Google Shape;373;p14"/>
          <p:cNvSpPr/>
          <p:nvPr/>
        </p:nvSpPr>
        <p:spPr>
          <a:xfrm>
            <a:off x="5669280" y="3739896"/>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상황별 배경음악 관리 </a:t>
            </a:r>
            <a:endParaRPr b="0" i="0" sz="1350" u="none" cap="none" strike="noStrike">
              <a:solidFill>
                <a:schemeClr val="dk1"/>
              </a:solidFill>
              <a:latin typeface="Calibri"/>
              <a:ea typeface="Calibri"/>
              <a:cs typeface="Calibri"/>
              <a:sym typeface="Calibri"/>
            </a:endParaRPr>
          </a:p>
        </p:txBody>
      </p:sp>
      <p:sp>
        <p:nvSpPr>
          <p:cNvPr id="374" name="Google Shape;374;p14"/>
          <p:cNvSpPr/>
          <p:nvPr/>
        </p:nvSpPr>
        <p:spPr>
          <a:xfrm>
            <a:off x="5669280" y="4087368"/>
            <a:ext cx="5623560" cy="73152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rPr>
              <a:t>메인 · 보스 · 이벤트 BGM 분리 관리</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rPr>
              <a:t>메인 웨이브 리스트(11곡) 순차 재생</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latin typeface="Roboto Mono"/>
                <a:ea typeface="Roboto Mono"/>
                <a:cs typeface="Roboto Mono"/>
                <a:sym typeface="Roboto Mono"/>
              </a:rPr>
              <a:t>CrossFade</a:t>
            </a:r>
            <a:r>
              <a:rPr lang="en-US" sz="1200">
                <a:solidFill>
                  <a:schemeClr val="dk1"/>
                </a:solidFill>
              </a:rPr>
              <a:t> 기반 자연스러운 전환</a:t>
            </a:r>
            <a:endParaRPr sz="1200">
              <a:solidFill>
                <a:schemeClr val="dk1"/>
              </a:solidFill>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chemeClr val="dk1"/>
              </a:solidFill>
              <a:latin typeface="Noto Sans"/>
              <a:ea typeface="Noto Sans"/>
              <a:cs typeface="Noto Sans"/>
              <a:sym typeface="Noto Sans"/>
            </a:endParaRPr>
          </a:p>
        </p:txBody>
      </p:sp>
      <p:sp>
        <p:nvSpPr>
          <p:cNvPr id="375" name="Google Shape;375;p14"/>
          <p:cNvSpPr/>
          <p:nvPr/>
        </p:nvSpPr>
        <p:spPr>
          <a:xfrm>
            <a:off x="4846320" y="5093208"/>
            <a:ext cx="6675120" cy="1353312"/>
          </a:xfrm>
          <a:prstGeom prst="roundRect">
            <a:avLst>
              <a:gd fmla="val 4730"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4"/>
          <p:cNvSpPr/>
          <p:nvPr/>
        </p:nvSpPr>
        <p:spPr>
          <a:xfrm>
            <a:off x="5084064" y="5294376"/>
            <a:ext cx="420624" cy="420624"/>
          </a:xfrm>
          <a:prstGeom prst="ellipse">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4"/>
          <p:cNvSpPr/>
          <p:nvPr/>
        </p:nvSpPr>
        <p:spPr>
          <a:xfrm>
            <a:off x="5084064" y="5294376"/>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3</a:t>
            </a:r>
            <a:endParaRPr b="0" i="0" sz="1500" u="none" cap="none" strike="noStrike">
              <a:solidFill>
                <a:schemeClr val="dk1"/>
              </a:solidFill>
              <a:latin typeface="Calibri"/>
              <a:ea typeface="Calibri"/>
              <a:cs typeface="Calibri"/>
              <a:sym typeface="Calibri"/>
            </a:endParaRPr>
          </a:p>
        </p:txBody>
      </p:sp>
      <p:sp>
        <p:nvSpPr>
          <p:cNvPr id="378" name="Google Shape;378;p14"/>
          <p:cNvSpPr/>
          <p:nvPr/>
        </p:nvSpPr>
        <p:spPr>
          <a:xfrm>
            <a:off x="5669280" y="5257800"/>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볼륨 설정 저장 </a:t>
            </a:r>
            <a:endParaRPr b="0" i="0" sz="1350" u="none" cap="none" strike="noStrike">
              <a:solidFill>
                <a:schemeClr val="dk1"/>
              </a:solidFill>
              <a:latin typeface="Calibri"/>
              <a:ea typeface="Calibri"/>
              <a:cs typeface="Calibri"/>
              <a:sym typeface="Calibri"/>
            </a:endParaRPr>
          </a:p>
        </p:txBody>
      </p:sp>
      <p:sp>
        <p:nvSpPr>
          <p:cNvPr id="379" name="Google Shape;379;p14"/>
          <p:cNvSpPr/>
          <p:nvPr/>
        </p:nvSpPr>
        <p:spPr>
          <a:xfrm>
            <a:off x="5669280" y="5605272"/>
            <a:ext cx="5623560" cy="73152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rPr>
              <a:t>BGM · 효과음 개별 볼륨 조절</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latin typeface="Roboto Mono"/>
                <a:ea typeface="Roboto Mono"/>
                <a:cs typeface="Roboto Mono"/>
                <a:sym typeface="Roboto Mono"/>
              </a:rPr>
              <a:t>PlayerPrefs</a:t>
            </a:r>
            <a:r>
              <a:rPr lang="en-US" sz="1200">
                <a:solidFill>
                  <a:schemeClr val="dk1"/>
                </a:solidFill>
              </a:rPr>
              <a:t> 기반 설정 저장</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rPr>
              <a:t>재실행 후에도 설정 유지</a:t>
            </a:r>
            <a:endParaRPr sz="1200">
              <a:solidFill>
                <a:schemeClr val="dk1"/>
              </a:solidFill>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chemeClr val="dk1"/>
              </a:solidFill>
              <a:latin typeface="Noto Sans"/>
              <a:ea typeface="Noto Sans"/>
              <a:cs typeface="Noto Sans"/>
              <a:sym typeface="No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384" name="Shape 384"/>
        <p:cNvGrpSpPr/>
        <p:nvPr/>
      </p:nvGrpSpPr>
      <p:grpSpPr>
        <a:xfrm>
          <a:off x="0" y="0"/>
          <a:ext cx="0" cy="0"/>
          <a:chOff x="0" y="0"/>
          <a:chExt cx="0" cy="0"/>
        </a:xfrm>
      </p:grpSpPr>
      <p:sp>
        <p:nvSpPr>
          <p:cNvPr id="385" name="Google Shape;385;p15"/>
          <p:cNvSpPr/>
          <p:nvPr/>
        </p:nvSpPr>
        <p:spPr>
          <a:xfrm>
            <a:off x="640080" y="4114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7059"/>
              </a:buClr>
              <a:buSzPts val="2600"/>
              <a:buFont typeface="Noto Sans"/>
              <a:buNone/>
            </a:pPr>
            <a:r>
              <a:rPr b="1" i="0" lang="en-US" sz="2600" u="none" cap="none" strike="noStrike">
                <a:solidFill>
                  <a:srgbClr val="F27059"/>
                </a:solidFill>
                <a:latin typeface="Noto Sans"/>
                <a:ea typeface="Noto Sans"/>
                <a:cs typeface="Noto Sans"/>
                <a:sym typeface="Noto Sans"/>
              </a:rPr>
              <a:t>기능 06  </a:t>
            </a:r>
            <a:r>
              <a:rPr b="1" lang="en-US" sz="2600">
                <a:solidFill>
                  <a:srgbClr val="1B2340"/>
                </a:solidFill>
                <a:latin typeface="Noto Sans"/>
                <a:ea typeface="Noto Sans"/>
                <a:cs typeface="Noto Sans"/>
                <a:sym typeface="Noto Sans"/>
              </a:rPr>
              <a:t>게임 데이터 저장 시스템 </a:t>
            </a:r>
            <a:endParaRPr b="0" i="0" sz="2600" u="none" cap="none" strike="noStrike">
              <a:solidFill>
                <a:schemeClr val="dk1"/>
              </a:solidFill>
              <a:latin typeface="Calibri"/>
              <a:ea typeface="Calibri"/>
              <a:cs typeface="Calibri"/>
              <a:sym typeface="Calibri"/>
            </a:endParaRPr>
          </a:p>
        </p:txBody>
      </p:sp>
      <p:sp>
        <p:nvSpPr>
          <p:cNvPr id="386" name="Google Shape;386;p15"/>
          <p:cNvSpPr/>
          <p:nvPr/>
        </p:nvSpPr>
        <p:spPr>
          <a:xfrm>
            <a:off x="658368" y="1024128"/>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80"/>
              </a:buClr>
              <a:buSzPts val="1350"/>
              <a:buFont typeface="Noto Sans"/>
              <a:buNone/>
            </a:pPr>
            <a:r>
              <a:rPr i="1" lang="en-US" sz="1350">
                <a:solidFill>
                  <a:srgbClr val="5B6480"/>
                </a:solidFill>
                <a:latin typeface="Noto Sans"/>
                <a:ea typeface="Noto Sans"/>
                <a:cs typeface="Noto Sans"/>
                <a:sym typeface="Noto Sans"/>
              </a:rPr>
              <a:t>게임 종료 후에도 재화와 성장 정보를 유지하는 저장 시스템 </a:t>
            </a:r>
            <a:endParaRPr b="0" i="0" sz="1350" u="none" cap="none" strike="noStrike">
              <a:solidFill>
                <a:schemeClr val="dk1"/>
              </a:solidFill>
              <a:latin typeface="Calibri"/>
              <a:ea typeface="Calibri"/>
              <a:cs typeface="Calibri"/>
              <a:sym typeface="Calibri"/>
            </a:endParaRPr>
          </a:p>
        </p:txBody>
      </p:sp>
      <p:sp>
        <p:nvSpPr>
          <p:cNvPr id="387" name="Google Shape;387;p15"/>
          <p:cNvSpPr/>
          <p:nvPr/>
        </p:nvSpPr>
        <p:spPr>
          <a:xfrm>
            <a:off x="640080" y="1600200"/>
            <a:ext cx="3977640" cy="4800600"/>
          </a:xfrm>
          <a:prstGeom prst="roundRect">
            <a:avLst>
              <a:gd fmla="val 1839" name="adj"/>
            </a:avLst>
          </a:prstGeom>
          <a:solidFill>
            <a:srgbClr val="0E1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5"/>
          <p:cNvSpPr/>
          <p:nvPr/>
        </p:nvSpPr>
        <p:spPr>
          <a:xfrm>
            <a:off x="640080" y="1600200"/>
            <a:ext cx="91440" cy="4800600"/>
          </a:xfrm>
          <a:prstGeom prst="roundRect">
            <a:avLst>
              <a:gd fmla="val 30000" name="adj"/>
            </a:avLst>
          </a:prstGeom>
          <a:solidFill>
            <a:srgbClr val="F270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5"/>
          <p:cNvSpPr/>
          <p:nvPr/>
        </p:nvSpPr>
        <p:spPr>
          <a:xfrm>
            <a:off x="932688" y="1911096"/>
            <a:ext cx="3429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7059"/>
              </a:buClr>
              <a:buSzPts val="1500"/>
              <a:buFont typeface="Noto Sans"/>
              <a:buNone/>
            </a:pPr>
            <a:r>
              <a:rPr b="1" i="0" lang="en-US" sz="1500" u="none" cap="none" strike="noStrike">
                <a:solidFill>
                  <a:srgbClr val="F27059"/>
                </a:solidFill>
                <a:latin typeface="Noto Sans"/>
                <a:ea typeface="Noto Sans"/>
                <a:cs typeface="Noto Sans"/>
                <a:sym typeface="Noto Sans"/>
              </a:rPr>
              <a:t>기획 의도</a:t>
            </a:r>
            <a:endParaRPr b="0" i="0" sz="1500" u="none" cap="none" strike="noStrike">
              <a:solidFill>
                <a:schemeClr val="dk1"/>
              </a:solidFill>
              <a:latin typeface="Calibri"/>
              <a:ea typeface="Calibri"/>
              <a:cs typeface="Calibri"/>
              <a:sym typeface="Calibri"/>
            </a:endParaRPr>
          </a:p>
        </p:txBody>
      </p:sp>
      <p:cxnSp>
        <p:nvCxnSpPr>
          <p:cNvPr id="390" name="Google Shape;390;p15"/>
          <p:cNvCxnSpPr/>
          <p:nvPr/>
        </p:nvCxnSpPr>
        <p:spPr>
          <a:xfrm>
            <a:off x="950976" y="2441448"/>
            <a:ext cx="3355848" cy="0"/>
          </a:xfrm>
          <a:prstGeom prst="straightConnector1">
            <a:avLst/>
          </a:prstGeom>
          <a:noFill/>
          <a:ln cap="flat" cmpd="sng" w="12700">
            <a:solidFill>
              <a:srgbClr val="33406B"/>
            </a:solidFill>
            <a:prstDash val="solid"/>
            <a:round/>
            <a:headEnd len="sm" w="sm" type="none"/>
            <a:tailEnd len="sm" w="sm" type="none"/>
          </a:ln>
        </p:spPr>
      </p:cxnSp>
      <p:sp>
        <p:nvSpPr>
          <p:cNvPr id="391" name="Google Shape;391;p15"/>
          <p:cNvSpPr/>
          <p:nvPr/>
        </p:nvSpPr>
        <p:spPr>
          <a:xfrm>
            <a:off x="932688" y="2624328"/>
            <a:ext cx="3392424" cy="3429000"/>
          </a:xfrm>
          <a:prstGeom prst="rect">
            <a:avLst/>
          </a:prstGeom>
          <a:noFill/>
          <a:ln>
            <a:noFill/>
          </a:ln>
        </p:spPr>
        <p:txBody>
          <a:bodyPr anchorCtr="0" anchor="t" bIns="45700" lIns="91425" spcFirstLastPara="1" rIns="91425" wrap="square" tIns="45700">
            <a:noAutofit/>
          </a:bodyPr>
          <a:lstStyle/>
          <a:p>
            <a:pPr indent="0" lvl="0" marL="0" marR="0" rtl="0" algn="l">
              <a:lnSpc>
                <a:spcPct val="142000"/>
              </a:lnSpc>
              <a:spcBef>
                <a:spcPts val="0"/>
              </a:spcBef>
              <a:spcAft>
                <a:spcPts val="0"/>
              </a:spcAft>
              <a:buClr>
                <a:srgbClr val="C7D2F0"/>
              </a:buClr>
              <a:buSzPts val="1250"/>
              <a:buFont typeface="Noto Sans"/>
              <a:buNone/>
            </a:pPr>
            <a:r>
              <a:rPr lang="en-US" sz="1300">
                <a:solidFill>
                  <a:srgbClr val="C7D2F0"/>
                </a:solidFill>
                <a:latin typeface="Noto Sans"/>
                <a:ea typeface="Noto Sans"/>
                <a:cs typeface="Noto Sans"/>
                <a:sym typeface="Noto Sans"/>
              </a:rPr>
              <a:t>게임을 종료한 뒤에도 획득한 재화와 성장 정보가 유지되도록 기획했습니다. 이를 통해 플레이어가 반복 플레이를 하며 모은 재화로 캐릭터를 강화하거나 새로운 캐릭터를 해금하는 메타 성장을 경험할 수 있도록 설계했습니다. </a:t>
            </a:r>
            <a:endParaRPr b="0" i="0" sz="1300" u="none" cap="none" strike="noStrike">
              <a:solidFill>
                <a:schemeClr val="dk1"/>
              </a:solidFill>
              <a:latin typeface="Calibri"/>
              <a:ea typeface="Calibri"/>
              <a:cs typeface="Calibri"/>
              <a:sym typeface="Calibri"/>
            </a:endParaRPr>
          </a:p>
        </p:txBody>
      </p:sp>
      <p:sp>
        <p:nvSpPr>
          <p:cNvPr id="392" name="Google Shape;392;p15"/>
          <p:cNvSpPr/>
          <p:nvPr/>
        </p:nvSpPr>
        <p:spPr>
          <a:xfrm>
            <a:off x="4846320" y="1600200"/>
            <a:ext cx="6675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구현 방법 </a:t>
            </a:r>
            <a:r>
              <a:rPr b="1" i="0" lang="en-US" sz="1350" u="none" cap="none" strike="noStrike">
                <a:solidFill>
                  <a:srgbClr val="1B2340"/>
                </a:solidFill>
                <a:latin typeface="Noto Sans"/>
                <a:ea typeface="Noto Sans"/>
                <a:cs typeface="Noto Sans"/>
                <a:sym typeface="Noto Sans"/>
              </a:rPr>
              <a:t> </a:t>
            </a:r>
            <a:r>
              <a:rPr b="1" i="0" lang="en-US" sz="1150" u="none" cap="none" strike="noStrike">
                <a:solidFill>
                  <a:srgbClr val="5B6480"/>
                </a:solidFill>
                <a:latin typeface="Noto Sans"/>
                <a:ea typeface="Noto Sans"/>
                <a:cs typeface="Noto Sans"/>
                <a:sym typeface="Noto Sans"/>
              </a:rPr>
              <a:t>· 사용한 기능·패턴</a:t>
            </a:r>
            <a:endParaRPr b="0" i="0" sz="1350" u="none" cap="none" strike="noStrike">
              <a:solidFill>
                <a:schemeClr val="dk1"/>
              </a:solidFill>
              <a:latin typeface="Calibri"/>
              <a:ea typeface="Calibri"/>
              <a:cs typeface="Calibri"/>
              <a:sym typeface="Calibri"/>
            </a:endParaRPr>
          </a:p>
        </p:txBody>
      </p:sp>
      <p:sp>
        <p:nvSpPr>
          <p:cNvPr id="393" name="Google Shape;393;p15"/>
          <p:cNvSpPr/>
          <p:nvPr/>
        </p:nvSpPr>
        <p:spPr>
          <a:xfrm>
            <a:off x="4846320" y="2057400"/>
            <a:ext cx="6675120" cy="1554480"/>
          </a:xfrm>
          <a:prstGeom prst="roundRect">
            <a:avLst>
              <a:gd fmla="val 4118"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5"/>
          <p:cNvSpPr/>
          <p:nvPr/>
        </p:nvSpPr>
        <p:spPr>
          <a:xfrm>
            <a:off x="5084064" y="2258568"/>
            <a:ext cx="420624" cy="420624"/>
          </a:xfrm>
          <a:prstGeom prst="ellipse">
            <a:avLst/>
          </a:prstGeom>
          <a:solidFill>
            <a:srgbClr val="F270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5"/>
          <p:cNvSpPr/>
          <p:nvPr/>
        </p:nvSpPr>
        <p:spPr>
          <a:xfrm>
            <a:off x="5084064" y="2258568"/>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1</a:t>
            </a:r>
            <a:endParaRPr b="0" i="0" sz="1500" u="none" cap="none" strike="noStrike">
              <a:solidFill>
                <a:schemeClr val="dk1"/>
              </a:solidFill>
              <a:latin typeface="Calibri"/>
              <a:ea typeface="Calibri"/>
              <a:cs typeface="Calibri"/>
              <a:sym typeface="Calibri"/>
            </a:endParaRPr>
          </a:p>
        </p:txBody>
      </p:sp>
      <p:sp>
        <p:nvSpPr>
          <p:cNvPr id="396" name="Google Shape;396;p15"/>
          <p:cNvSpPr/>
          <p:nvPr/>
        </p:nvSpPr>
        <p:spPr>
          <a:xfrm>
            <a:off x="5669280" y="2221992"/>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저장 데이터 통합 관리 </a:t>
            </a:r>
            <a:endParaRPr b="0" i="0" sz="1350" u="none" cap="none" strike="noStrike">
              <a:solidFill>
                <a:schemeClr val="dk1"/>
              </a:solidFill>
              <a:latin typeface="Calibri"/>
              <a:ea typeface="Calibri"/>
              <a:cs typeface="Calibri"/>
              <a:sym typeface="Calibri"/>
            </a:endParaRPr>
          </a:p>
        </p:txBody>
      </p:sp>
      <p:sp>
        <p:nvSpPr>
          <p:cNvPr id="397" name="Google Shape;397;p15"/>
          <p:cNvSpPr/>
          <p:nvPr/>
        </p:nvSpPr>
        <p:spPr>
          <a:xfrm>
            <a:off x="5669280" y="2569464"/>
            <a:ext cx="5623560" cy="932688"/>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게임 진행 데이터를 하나의 저장 객체로 통합</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latin typeface="Roboto Mono"/>
                <a:ea typeface="Roboto Mono"/>
                <a:cs typeface="Roboto Mono"/>
                <a:sym typeface="Roboto Mono"/>
              </a:rPr>
              <a:t>Newtonsoft.Json</a:t>
            </a:r>
            <a:r>
              <a:rPr lang="en-US" sz="1200">
                <a:solidFill>
                  <a:schemeClr val="dk1"/>
                </a:solidFill>
              </a:rPr>
              <a:t> 기반 저장·복원</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rPr>
              <a:t>저장 항목 추가 및 관리 용이</a:t>
            </a:r>
            <a:endParaRPr sz="1200">
              <a:solidFill>
                <a:schemeClr val="dk1"/>
              </a:solidFill>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chemeClr val="dk1"/>
              </a:solidFill>
              <a:latin typeface="Noto Sans"/>
              <a:ea typeface="Noto Sans"/>
              <a:cs typeface="Noto Sans"/>
              <a:sym typeface="Noto Sans"/>
            </a:endParaRPr>
          </a:p>
        </p:txBody>
      </p:sp>
      <p:sp>
        <p:nvSpPr>
          <p:cNvPr id="398" name="Google Shape;398;p15"/>
          <p:cNvSpPr/>
          <p:nvPr/>
        </p:nvSpPr>
        <p:spPr>
          <a:xfrm>
            <a:off x="4846320" y="3776472"/>
            <a:ext cx="6675120" cy="1554480"/>
          </a:xfrm>
          <a:prstGeom prst="roundRect">
            <a:avLst>
              <a:gd fmla="val 4118"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5"/>
          <p:cNvSpPr/>
          <p:nvPr/>
        </p:nvSpPr>
        <p:spPr>
          <a:xfrm>
            <a:off x="5084064" y="3977640"/>
            <a:ext cx="420624" cy="420624"/>
          </a:xfrm>
          <a:prstGeom prst="ellipse">
            <a:avLst/>
          </a:prstGeom>
          <a:solidFill>
            <a:srgbClr val="F270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5"/>
          <p:cNvSpPr/>
          <p:nvPr/>
        </p:nvSpPr>
        <p:spPr>
          <a:xfrm>
            <a:off x="5084064" y="3977640"/>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2</a:t>
            </a:r>
            <a:endParaRPr b="0" i="0" sz="1500" u="none" cap="none" strike="noStrike">
              <a:solidFill>
                <a:schemeClr val="dk1"/>
              </a:solidFill>
              <a:latin typeface="Calibri"/>
              <a:ea typeface="Calibri"/>
              <a:cs typeface="Calibri"/>
              <a:sym typeface="Calibri"/>
            </a:endParaRPr>
          </a:p>
        </p:txBody>
      </p:sp>
      <p:sp>
        <p:nvSpPr>
          <p:cNvPr id="401" name="Google Shape;401;p15"/>
          <p:cNvSpPr/>
          <p:nvPr/>
        </p:nvSpPr>
        <p:spPr>
          <a:xfrm>
            <a:off x="5669280" y="3941064"/>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저장·불러오기 충돌 방지 </a:t>
            </a:r>
            <a:endParaRPr b="0" i="0" sz="1350" u="none" cap="none" strike="noStrike">
              <a:solidFill>
                <a:schemeClr val="dk1"/>
              </a:solidFill>
              <a:latin typeface="Calibri"/>
              <a:ea typeface="Calibri"/>
              <a:cs typeface="Calibri"/>
              <a:sym typeface="Calibri"/>
            </a:endParaRPr>
          </a:p>
        </p:txBody>
      </p:sp>
      <p:sp>
        <p:nvSpPr>
          <p:cNvPr id="402" name="Google Shape;402;p15"/>
          <p:cNvSpPr/>
          <p:nvPr/>
        </p:nvSpPr>
        <p:spPr>
          <a:xfrm>
            <a:off x="5669280" y="4288536"/>
            <a:ext cx="5623560" cy="932688"/>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rgbClr val="46506B"/>
                </a:solidFill>
                <a:latin typeface="Noto Sans"/>
                <a:ea typeface="Noto Sans"/>
                <a:cs typeface="Noto Sans"/>
                <a:sym typeface="Noto Sans"/>
              </a:rPr>
              <a:t>데이터 로드 중 자동 저장 일시 중단</a:t>
            </a:r>
            <a:endParaRPr sz="1200">
              <a:solidFill>
                <a:srgbClr val="46506B"/>
              </a:solidFill>
              <a:latin typeface="Noto Sans"/>
              <a:ea typeface="Noto Sans"/>
              <a:cs typeface="Noto Sans"/>
              <a:sym typeface="Noto Sans"/>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rgbClr val="46506B"/>
                </a:solidFill>
                <a:latin typeface="Noto Sans"/>
                <a:ea typeface="Noto Sans"/>
                <a:cs typeface="Noto Sans"/>
                <a:sym typeface="Noto Sans"/>
              </a:rPr>
              <a:t>로드 완료 후 자동 저장 재활성화</a:t>
            </a:r>
            <a:endParaRPr sz="1200">
              <a:solidFill>
                <a:srgbClr val="46506B"/>
              </a:solidFill>
              <a:latin typeface="Noto Sans"/>
              <a:ea typeface="Noto Sans"/>
              <a:cs typeface="Noto Sans"/>
              <a:sym typeface="Noto Sans"/>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rgbClr val="46506B"/>
                </a:solidFill>
                <a:latin typeface="Noto Sans"/>
                <a:ea typeface="Noto Sans"/>
                <a:cs typeface="Noto Sans"/>
                <a:sym typeface="Noto Sans"/>
              </a:rPr>
              <a:t>저장·불러오기 동시 실행 방지</a:t>
            </a:r>
            <a:endParaRPr sz="1200">
              <a:solidFill>
                <a:srgbClr val="46506B"/>
              </a:solidFill>
              <a:latin typeface="Noto Sans"/>
              <a:ea typeface="Noto Sans"/>
              <a:cs typeface="Noto Sans"/>
              <a:sym typeface="Noto Sans"/>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rgbClr val="46506B"/>
              </a:solidFill>
              <a:latin typeface="Noto Sans"/>
              <a:ea typeface="Noto Sans"/>
              <a:cs typeface="Noto Sans"/>
              <a:sym typeface="No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407" name="Shape 407"/>
        <p:cNvGrpSpPr/>
        <p:nvPr/>
      </p:nvGrpSpPr>
      <p:grpSpPr>
        <a:xfrm>
          <a:off x="0" y="0"/>
          <a:ext cx="0" cy="0"/>
          <a:chOff x="0" y="0"/>
          <a:chExt cx="0" cy="0"/>
        </a:xfrm>
      </p:grpSpPr>
      <p:sp>
        <p:nvSpPr>
          <p:cNvPr id="408" name="Google Shape;408;p16"/>
          <p:cNvSpPr/>
          <p:nvPr/>
        </p:nvSpPr>
        <p:spPr>
          <a:xfrm>
            <a:off x="640080" y="41148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D1C5"/>
              </a:buClr>
              <a:buSzPts val="2600"/>
              <a:buFont typeface="Noto Sans"/>
              <a:buNone/>
            </a:pPr>
            <a:r>
              <a:rPr b="1" i="0" lang="en-US" sz="2600" u="none" cap="none" strike="noStrike">
                <a:solidFill>
                  <a:srgbClr val="4FD1C5"/>
                </a:solidFill>
                <a:latin typeface="Noto Sans"/>
                <a:ea typeface="Noto Sans"/>
                <a:cs typeface="Noto Sans"/>
                <a:sym typeface="Noto Sans"/>
              </a:rPr>
              <a:t>기능 07  </a:t>
            </a:r>
            <a:r>
              <a:rPr b="1" lang="en-US" sz="2600">
                <a:solidFill>
                  <a:srgbClr val="1B2340"/>
                </a:solidFill>
                <a:latin typeface="Noto Sans"/>
                <a:ea typeface="Noto Sans"/>
                <a:cs typeface="Noto Sans"/>
                <a:sym typeface="Noto Sans"/>
              </a:rPr>
              <a:t>자동 플레이 시스템 </a:t>
            </a:r>
            <a:endParaRPr b="0" i="0" sz="2600" u="none" cap="none" strike="noStrike">
              <a:solidFill>
                <a:schemeClr val="dk1"/>
              </a:solidFill>
              <a:latin typeface="Calibri"/>
              <a:ea typeface="Calibri"/>
              <a:cs typeface="Calibri"/>
              <a:sym typeface="Calibri"/>
            </a:endParaRPr>
          </a:p>
        </p:txBody>
      </p:sp>
      <p:sp>
        <p:nvSpPr>
          <p:cNvPr id="409" name="Google Shape;409;p16"/>
          <p:cNvSpPr/>
          <p:nvPr/>
        </p:nvSpPr>
        <p:spPr>
          <a:xfrm>
            <a:off x="658368" y="1024128"/>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480"/>
              </a:buClr>
              <a:buSzPts val="1350"/>
              <a:buFont typeface="Noto Sans"/>
              <a:buNone/>
            </a:pPr>
            <a:r>
              <a:rPr i="1" lang="en-US" sz="1350">
                <a:solidFill>
                  <a:srgbClr val="5B6480"/>
                </a:solidFill>
                <a:latin typeface="Noto Sans"/>
                <a:ea typeface="Noto Sans"/>
                <a:cs typeface="Noto Sans"/>
                <a:sym typeface="Noto Sans"/>
              </a:rPr>
              <a:t>이동, 전투, 카드 선택까지 자동으로 수행하는 자동 플레이 시스템 </a:t>
            </a:r>
            <a:endParaRPr b="0" i="0" sz="1350" u="none" cap="none" strike="noStrike">
              <a:solidFill>
                <a:schemeClr val="dk1"/>
              </a:solidFill>
              <a:latin typeface="Calibri"/>
              <a:ea typeface="Calibri"/>
              <a:cs typeface="Calibri"/>
              <a:sym typeface="Calibri"/>
            </a:endParaRPr>
          </a:p>
        </p:txBody>
      </p:sp>
      <p:grpSp>
        <p:nvGrpSpPr>
          <p:cNvPr id="410" name="Google Shape;410;p16"/>
          <p:cNvGrpSpPr/>
          <p:nvPr/>
        </p:nvGrpSpPr>
        <p:grpSpPr>
          <a:xfrm>
            <a:off x="9235440" y="384048"/>
            <a:ext cx="2286000" cy="822960"/>
            <a:chOff x="9235440" y="384048"/>
            <a:chExt cx="2286000" cy="822960"/>
          </a:xfrm>
        </p:grpSpPr>
        <p:sp>
          <p:nvSpPr>
            <p:cNvPr id="411" name="Google Shape;411;p16"/>
            <p:cNvSpPr/>
            <p:nvPr/>
          </p:nvSpPr>
          <p:spPr>
            <a:xfrm>
              <a:off x="9235440" y="384048"/>
              <a:ext cx="2286000" cy="822960"/>
            </a:xfrm>
            <a:prstGeom prst="roundRect">
              <a:avLst>
                <a:gd fmla="val 8889"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assets/youtube.png" id="412" name="Google Shape;412;p16"/>
            <p:cNvPicPr preferRelativeResize="0"/>
            <p:nvPr/>
          </p:nvPicPr>
          <p:blipFill rotWithShape="1">
            <a:blip r:embed="rId3">
              <a:alphaModFix/>
            </a:blip>
            <a:srcRect b="0" l="0" r="0" t="0"/>
            <a:stretch/>
          </p:blipFill>
          <p:spPr>
            <a:xfrm>
              <a:off x="9528048" y="493776"/>
              <a:ext cx="1700784" cy="384048"/>
            </a:xfrm>
            <a:prstGeom prst="rect">
              <a:avLst/>
            </a:prstGeom>
            <a:noFill/>
            <a:ln>
              <a:noFill/>
            </a:ln>
          </p:spPr>
        </p:pic>
        <p:sp>
          <p:nvSpPr>
            <p:cNvPr id="413" name="Google Shape;413;p16"/>
            <p:cNvSpPr/>
            <p:nvPr/>
          </p:nvSpPr>
          <p:spPr>
            <a:xfrm>
              <a:off x="9235440" y="950976"/>
              <a:ext cx="2286000"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480"/>
                </a:buClr>
                <a:buSzPts val="850"/>
                <a:buFont typeface="Noto Sans"/>
                <a:buNone/>
              </a:pPr>
              <a:r>
                <a:rPr b="0" i="0" lang="en-US" sz="850" u="none" cap="none" strike="noStrike">
                  <a:solidFill>
                    <a:srgbClr val="5B6480"/>
                  </a:solidFill>
                  <a:latin typeface="Noto Sans"/>
                  <a:ea typeface="Noto Sans"/>
                  <a:cs typeface="Noto Sans"/>
                  <a:sym typeface="Noto Sans"/>
                </a:rPr>
                <a:t>▶ 자동 진행 모드 시연</a:t>
              </a:r>
              <a:endParaRPr b="0" i="0" sz="850" u="none" cap="none" strike="noStrike">
                <a:solidFill>
                  <a:schemeClr val="dk1"/>
                </a:solidFill>
                <a:latin typeface="Calibri"/>
                <a:ea typeface="Calibri"/>
                <a:cs typeface="Calibri"/>
                <a:sym typeface="Calibri"/>
              </a:endParaRPr>
            </a:p>
          </p:txBody>
        </p:sp>
      </p:grpSp>
      <p:sp>
        <p:nvSpPr>
          <p:cNvPr id="414" name="Google Shape;414;p16"/>
          <p:cNvSpPr/>
          <p:nvPr/>
        </p:nvSpPr>
        <p:spPr>
          <a:xfrm>
            <a:off x="640080" y="1600200"/>
            <a:ext cx="3977640" cy="4800600"/>
          </a:xfrm>
          <a:prstGeom prst="roundRect">
            <a:avLst>
              <a:gd fmla="val 1839" name="adj"/>
            </a:avLst>
          </a:prstGeom>
          <a:solidFill>
            <a:srgbClr val="0E16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6"/>
          <p:cNvSpPr/>
          <p:nvPr/>
        </p:nvSpPr>
        <p:spPr>
          <a:xfrm>
            <a:off x="640080" y="1600200"/>
            <a:ext cx="91440" cy="4800600"/>
          </a:xfrm>
          <a:prstGeom prst="roundRect">
            <a:avLst>
              <a:gd fmla="val 30000" name="adj"/>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6"/>
          <p:cNvSpPr/>
          <p:nvPr/>
        </p:nvSpPr>
        <p:spPr>
          <a:xfrm>
            <a:off x="932688" y="1911096"/>
            <a:ext cx="3429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D1C5"/>
              </a:buClr>
              <a:buSzPts val="1500"/>
              <a:buFont typeface="Noto Sans"/>
              <a:buNone/>
            </a:pPr>
            <a:r>
              <a:rPr b="1" i="0" lang="en-US" sz="1500" u="none" cap="none" strike="noStrike">
                <a:solidFill>
                  <a:srgbClr val="4FD1C5"/>
                </a:solidFill>
                <a:latin typeface="Noto Sans"/>
                <a:ea typeface="Noto Sans"/>
                <a:cs typeface="Noto Sans"/>
                <a:sym typeface="Noto Sans"/>
              </a:rPr>
              <a:t>기획 의도</a:t>
            </a:r>
            <a:endParaRPr b="0" i="0" sz="1500" u="none" cap="none" strike="noStrike">
              <a:solidFill>
                <a:schemeClr val="dk1"/>
              </a:solidFill>
              <a:latin typeface="Calibri"/>
              <a:ea typeface="Calibri"/>
              <a:cs typeface="Calibri"/>
              <a:sym typeface="Calibri"/>
            </a:endParaRPr>
          </a:p>
        </p:txBody>
      </p:sp>
      <p:cxnSp>
        <p:nvCxnSpPr>
          <p:cNvPr id="417" name="Google Shape;417;p16"/>
          <p:cNvCxnSpPr/>
          <p:nvPr/>
        </p:nvCxnSpPr>
        <p:spPr>
          <a:xfrm>
            <a:off x="950976" y="2441448"/>
            <a:ext cx="3355848" cy="0"/>
          </a:xfrm>
          <a:prstGeom prst="straightConnector1">
            <a:avLst/>
          </a:prstGeom>
          <a:noFill/>
          <a:ln cap="flat" cmpd="sng" w="12700">
            <a:solidFill>
              <a:srgbClr val="33406B"/>
            </a:solidFill>
            <a:prstDash val="solid"/>
            <a:round/>
            <a:headEnd len="sm" w="sm" type="none"/>
            <a:tailEnd len="sm" w="sm" type="none"/>
          </a:ln>
        </p:spPr>
      </p:cxnSp>
      <p:sp>
        <p:nvSpPr>
          <p:cNvPr id="418" name="Google Shape;418;p16"/>
          <p:cNvSpPr/>
          <p:nvPr/>
        </p:nvSpPr>
        <p:spPr>
          <a:xfrm>
            <a:off x="932688" y="2624328"/>
            <a:ext cx="3392424" cy="3429000"/>
          </a:xfrm>
          <a:prstGeom prst="rect">
            <a:avLst/>
          </a:prstGeom>
          <a:noFill/>
          <a:ln>
            <a:noFill/>
          </a:ln>
        </p:spPr>
        <p:txBody>
          <a:bodyPr anchorCtr="0" anchor="t" bIns="45700" lIns="91425" spcFirstLastPara="1" rIns="91425" wrap="square" tIns="45700">
            <a:noAutofit/>
          </a:bodyPr>
          <a:lstStyle/>
          <a:p>
            <a:pPr indent="0" lvl="0" marL="0" marR="0" rtl="0" algn="l">
              <a:lnSpc>
                <a:spcPct val="142000"/>
              </a:lnSpc>
              <a:spcBef>
                <a:spcPts val="0"/>
              </a:spcBef>
              <a:spcAft>
                <a:spcPts val="0"/>
              </a:spcAft>
              <a:buClr>
                <a:srgbClr val="C7D2F0"/>
              </a:buClr>
              <a:buSzPts val="1250"/>
              <a:buFont typeface="Noto Sans"/>
              <a:buNone/>
            </a:pPr>
            <a:r>
              <a:rPr lang="en-US" sz="1300">
                <a:solidFill>
                  <a:srgbClr val="C7D2F0"/>
                </a:solidFill>
                <a:latin typeface="Noto Sans"/>
                <a:ea typeface="Noto Sans"/>
                <a:cs typeface="Noto Sans"/>
                <a:sym typeface="Noto Sans"/>
              </a:rPr>
              <a:t>반복되는 전투 구간을 자동으로 진행하여 플레이 부담을 줄이도록 기획했습니다. 또한 필요할 때는 즉시 수동 조작으로 전환할 수 있도록 구성하여, 자동 플레이의 편의성과 직접 조작의 재미를 모두 고려했습니다. </a:t>
            </a:r>
            <a:endParaRPr b="0" i="0" sz="1300" u="none" cap="none" strike="noStrike">
              <a:solidFill>
                <a:schemeClr val="dk1"/>
              </a:solidFill>
              <a:latin typeface="Calibri"/>
              <a:ea typeface="Calibri"/>
              <a:cs typeface="Calibri"/>
              <a:sym typeface="Calibri"/>
            </a:endParaRPr>
          </a:p>
        </p:txBody>
      </p:sp>
      <p:sp>
        <p:nvSpPr>
          <p:cNvPr id="419" name="Google Shape;419;p16"/>
          <p:cNvSpPr/>
          <p:nvPr/>
        </p:nvSpPr>
        <p:spPr>
          <a:xfrm>
            <a:off x="4846320" y="1600200"/>
            <a:ext cx="6675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구현 방법 </a:t>
            </a:r>
            <a:r>
              <a:rPr b="1" i="0" lang="en-US" sz="1350" u="none" cap="none" strike="noStrike">
                <a:solidFill>
                  <a:srgbClr val="1B2340"/>
                </a:solidFill>
                <a:latin typeface="Noto Sans"/>
                <a:ea typeface="Noto Sans"/>
                <a:cs typeface="Noto Sans"/>
                <a:sym typeface="Noto Sans"/>
              </a:rPr>
              <a:t> </a:t>
            </a:r>
            <a:r>
              <a:rPr b="1" i="0" lang="en-US" sz="1150" u="none" cap="none" strike="noStrike">
                <a:solidFill>
                  <a:srgbClr val="5B6480"/>
                </a:solidFill>
                <a:latin typeface="Noto Sans"/>
                <a:ea typeface="Noto Sans"/>
                <a:cs typeface="Noto Sans"/>
                <a:sym typeface="Noto Sans"/>
              </a:rPr>
              <a:t>· 사용한 기능·패턴</a:t>
            </a:r>
            <a:endParaRPr b="0" i="0" sz="1350" u="none" cap="none" strike="noStrike">
              <a:solidFill>
                <a:schemeClr val="dk1"/>
              </a:solidFill>
              <a:latin typeface="Calibri"/>
              <a:ea typeface="Calibri"/>
              <a:cs typeface="Calibri"/>
              <a:sym typeface="Calibri"/>
            </a:endParaRPr>
          </a:p>
        </p:txBody>
      </p:sp>
      <p:sp>
        <p:nvSpPr>
          <p:cNvPr id="420" name="Google Shape;420;p16"/>
          <p:cNvSpPr/>
          <p:nvPr/>
        </p:nvSpPr>
        <p:spPr>
          <a:xfrm>
            <a:off x="4846320" y="2057400"/>
            <a:ext cx="6675120" cy="1353312"/>
          </a:xfrm>
          <a:prstGeom prst="roundRect">
            <a:avLst>
              <a:gd fmla="val 4730"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6"/>
          <p:cNvSpPr/>
          <p:nvPr/>
        </p:nvSpPr>
        <p:spPr>
          <a:xfrm>
            <a:off x="5084064" y="2258568"/>
            <a:ext cx="420624" cy="420624"/>
          </a:xfrm>
          <a:prstGeom prst="ellipse">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6"/>
          <p:cNvSpPr/>
          <p:nvPr/>
        </p:nvSpPr>
        <p:spPr>
          <a:xfrm>
            <a:off x="5084064" y="2258568"/>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1</a:t>
            </a:r>
            <a:endParaRPr b="0" i="0" sz="1500" u="none" cap="none" strike="noStrike">
              <a:solidFill>
                <a:schemeClr val="dk1"/>
              </a:solidFill>
              <a:latin typeface="Calibri"/>
              <a:ea typeface="Calibri"/>
              <a:cs typeface="Calibri"/>
              <a:sym typeface="Calibri"/>
            </a:endParaRPr>
          </a:p>
        </p:txBody>
      </p:sp>
      <p:sp>
        <p:nvSpPr>
          <p:cNvPr id="423" name="Google Shape;423;p16"/>
          <p:cNvSpPr/>
          <p:nvPr/>
        </p:nvSpPr>
        <p:spPr>
          <a:xfrm>
            <a:off x="5669280" y="2221992"/>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자동 플레이 통합 제어 </a:t>
            </a:r>
            <a:endParaRPr b="0" i="0" sz="1350" u="none" cap="none" strike="noStrike">
              <a:solidFill>
                <a:schemeClr val="dk1"/>
              </a:solidFill>
              <a:latin typeface="Calibri"/>
              <a:ea typeface="Calibri"/>
              <a:cs typeface="Calibri"/>
              <a:sym typeface="Calibri"/>
            </a:endParaRPr>
          </a:p>
        </p:txBody>
      </p:sp>
      <p:sp>
        <p:nvSpPr>
          <p:cNvPr id="424" name="Google Shape;424;p16"/>
          <p:cNvSpPr/>
          <p:nvPr/>
        </p:nvSpPr>
        <p:spPr>
          <a:xfrm>
            <a:off x="5669280" y="2569464"/>
            <a:ext cx="5623560" cy="73152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rgbClr val="46506B"/>
                </a:solidFill>
                <a:latin typeface="Noto Sans"/>
                <a:ea typeface="Noto Sans"/>
                <a:cs typeface="Noto Sans"/>
                <a:sym typeface="Noto Sans"/>
              </a:rPr>
              <a:t>자동 이동 · 자동 전투 · 자동 카드 선택 통합</a:t>
            </a:r>
            <a:endParaRPr sz="1200">
              <a:solidFill>
                <a:srgbClr val="46506B"/>
              </a:solidFill>
              <a:latin typeface="Noto Sans"/>
              <a:ea typeface="Noto Sans"/>
              <a:cs typeface="Noto Sans"/>
              <a:sym typeface="Noto Sans"/>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rgbClr val="46506B"/>
                </a:solidFill>
                <a:latin typeface="Noto Sans"/>
                <a:ea typeface="Noto Sans"/>
                <a:cs typeface="Noto Sans"/>
                <a:sym typeface="Noto Sans"/>
              </a:rPr>
              <a:t>하나의 스위치로 전체 기능 제어</a:t>
            </a:r>
            <a:endParaRPr sz="1200">
              <a:solidFill>
                <a:srgbClr val="46506B"/>
              </a:solidFill>
              <a:latin typeface="Noto Sans"/>
              <a:ea typeface="Noto Sans"/>
              <a:cs typeface="Noto Sans"/>
              <a:sym typeface="Noto Sans"/>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rgbClr val="46506B"/>
                </a:solidFill>
                <a:latin typeface="Noto Sans"/>
                <a:ea typeface="Noto Sans"/>
                <a:cs typeface="Noto Sans"/>
                <a:sym typeface="Noto Sans"/>
              </a:rPr>
              <a:t>한 번의 입력으로 활성화·비활성화</a:t>
            </a:r>
            <a:endParaRPr sz="1200">
              <a:solidFill>
                <a:srgbClr val="46506B"/>
              </a:solidFill>
              <a:latin typeface="Noto Sans"/>
              <a:ea typeface="Noto Sans"/>
              <a:cs typeface="Noto Sans"/>
              <a:sym typeface="Noto Sans"/>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rgbClr val="46506B"/>
              </a:solidFill>
              <a:latin typeface="Noto Sans"/>
              <a:ea typeface="Noto Sans"/>
              <a:cs typeface="Noto Sans"/>
              <a:sym typeface="Noto Sans"/>
            </a:endParaRPr>
          </a:p>
        </p:txBody>
      </p:sp>
      <p:sp>
        <p:nvSpPr>
          <p:cNvPr id="425" name="Google Shape;425;p16"/>
          <p:cNvSpPr/>
          <p:nvPr/>
        </p:nvSpPr>
        <p:spPr>
          <a:xfrm>
            <a:off x="4846320" y="3575304"/>
            <a:ext cx="6675120" cy="1353312"/>
          </a:xfrm>
          <a:prstGeom prst="roundRect">
            <a:avLst>
              <a:gd fmla="val 4730"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6"/>
          <p:cNvSpPr/>
          <p:nvPr/>
        </p:nvSpPr>
        <p:spPr>
          <a:xfrm>
            <a:off x="5084064" y="3776472"/>
            <a:ext cx="420624" cy="420624"/>
          </a:xfrm>
          <a:prstGeom prst="ellipse">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6"/>
          <p:cNvSpPr/>
          <p:nvPr/>
        </p:nvSpPr>
        <p:spPr>
          <a:xfrm>
            <a:off x="5084064" y="3776472"/>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2</a:t>
            </a:r>
            <a:endParaRPr b="0" i="0" sz="1500" u="none" cap="none" strike="noStrike">
              <a:solidFill>
                <a:schemeClr val="dk1"/>
              </a:solidFill>
              <a:latin typeface="Calibri"/>
              <a:ea typeface="Calibri"/>
              <a:cs typeface="Calibri"/>
              <a:sym typeface="Calibri"/>
            </a:endParaRPr>
          </a:p>
        </p:txBody>
      </p:sp>
      <p:sp>
        <p:nvSpPr>
          <p:cNvPr id="428" name="Google Shape;428;p16"/>
          <p:cNvSpPr/>
          <p:nvPr/>
        </p:nvSpPr>
        <p:spPr>
          <a:xfrm>
            <a:off x="5669280" y="3739896"/>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자동 플레이 환경 지원 </a:t>
            </a:r>
            <a:endParaRPr b="0" i="0" sz="1350" u="none" cap="none" strike="noStrike">
              <a:solidFill>
                <a:schemeClr val="dk1"/>
              </a:solidFill>
              <a:latin typeface="Calibri"/>
              <a:ea typeface="Calibri"/>
              <a:cs typeface="Calibri"/>
              <a:sym typeface="Calibri"/>
            </a:endParaRPr>
          </a:p>
        </p:txBody>
      </p:sp>
      <p:sp>
        <p:nvSpPr>
          <p:cNvPr id="429" name="Google Shape;429;p16"/>
          <p:cNvSpPr/>
          <p:nvPr/>
        </p:nvSpPr>
        <p:spPr>
          <a:xfrm>
            <a:off x="5669280" y="4087368"/>
            <a:ext cx="5623560" cy="73152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latin typeface="Roboto Mono"/>
                <a:ea typeface="Roboto Mono"/>
                <a:cs typeface="Roboto Mono"/>
                <a:sym typeface="Roboto Mono"/>
              </a:rPr>
              <a:t>Time.timeScale</a:t>
            </a:r>
            <a:r>
              <a:rPr lang="en-US" sz="1200">
                <a:solidFill>
                  <a:schemeClr val="dk1"/>
                </a:solidFill>
              </a:rPr>
              <a:t> 기반 2배속 지원</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latin typeface="Roboto Mono"/>
                <a:ea typeface="Roboto Mono"/>
                <a:cs typeface="Roboto Mono"/>
                <a:sym typeface="Roboto Mono"/>
              </a:rPr>
              <a:t>Application.runInBackground</a:t>
            </a:r>
            <a:r>
              <a:rPr lang="en-US" sz="1200">
                <a:solidFill>
                  <a:schemeClr val="dk1"/>
                </a:solidFill>
              </a:rPr>
              <a:t> 적용</a:t>
            </a:r>
            <a:endParaRPr sz="1200">
              <a:solidFill>
                <a:schemeClr val="dk1"/>
              </a:solidFill>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chemeClr val="dk1"/>
                </a:solidFill>
              </a:rPr>
              <a:t>창 비활성화 상태에서도 계속 진행</a:t>
            </a:r>
            <a:endParaRPr sz="1200">
              <a:solidFill>
                <a:schemeClr val="dk1"/>
              </a:solidFill>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chemeClr val="dk1"/>
              </a:solidFill>
              <a:latin typeface="Noto Sans"/>
              <a:ea typeface="Noto Sans"/>
              <a:cs typeface="Noto Sans"/>
              <a:sym typeface="Noto Sans"/>
            </a:endParaRPr>
          </a:p>
        </p:txBody>
      </p:sp>
      <p:sp>
        <p:nvSpPr>
          <p:cNvPr id="430" name="Google Shape;430;p16"/>
          <p:cNvSpPr/>
          <p:nvPr/>
        </p:nvSpPr>
        <p:spPr>
          <a:xfrm>
            <a:off x="4846320" y="5093208"/>
            <a:ext cx="6675120" cy="1353312"/>
          </a:xfrm>
          <a:prstGeom prst="roundRect">
            <a:avLst>
              <a:gd fmla="val 4730" name="adj"/>
            </a:avLst>
          </a:prstGeom>
          <a:solidFill>
            <a:srgbClr val="FFFFFF"/>
          </a:solidFill>
          <a:ln cap="flat" cmpd="sng" w="12700">
            <a:solidFill>
              <a:srgbClr val="D5D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6"/>
          <p:cNvSpPr/>
          <p:nvPr/>
        </p:nvSpPr>
        <p:spPr>
          <a:xfrm>
            <a:off x="5084064" y="5294376"/>
            <a:ext cx="420624" cy="420624"/>
          </a:xfrm>
          <a:prstGeom prst="ellipse">
            <a:avLst/>
          </a:prstGeom>
          <a:solidFill>
            <a:srgbClr val="4FD1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6"/>
          <p:cNvSpPr/>
          <p:nvPr/>
        </p:nvSpPr>
        <p:spPr>
          <a:xfrm>
            <a:off x="5084064" y="5294376"/>
            <a:ext cx="420624"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3</a:t>
            </a:r>
            <a:endParaRPr b="0" i="0" sz="1500" u="none" cap="none" strike="noStrike">
              <a:solidFill>
                <a:schemeClr val="dk1"/>
              </a:solidFill>
              <a:latin typeface="Calibri"/>
              <a:ea typeface="Calibri"/>
              <a:cs typeface="Calibri"/>
              <a:sym typeface="Calibri"/>
            </a:endParaRPr>
          </a:p>
        </p:txBody>
      </p:sp>
      <p:sp>
        <p:nvSpPr>
          <p:cNvPr id="433" name="Google Shape;433;p16"/>
          <p:cNvSpPr/>
          <p:nvPr/>
        </p:nvSpPr>
        <p:spPr>
          <a:xfrm>
            <a:off x="5669280" y="5257800"/>
            <a:ext cx="56692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340"/>
              </a:buClr>
              <a:buSzPts val="1350"/>
              <a:buFont typeface="Noto Sans"/>
              <a:buNone/>
            </a:pPr>
            <a:r>
              <a:rPr b="1" lang="en-US" sz="1350">
                <a:solidFill>
                  <a:srgbClr val="1B2340"/>
                </a:solidFill>
                <a:latin typeface="Noto Sans"/>
                <a:ea typeface="Noto Sans"/>
                <a:cs typeface="Noto Sans"/>
                <a:sym typeface="Noto Sans"/>
              </a:rPr>
              <a:t>자동·수동 즉시 전환 </a:t>
            </a:r>
            <a:endParaRPr b="0" i="0" sz="1350" u="none" cap="none" strike="noStrike">
              <a:solidFill>
                <a:schemeClr val="dk1"/>
              </a:solidFill>
              <a:latin typeface="Calibri"/>
              <a:ea typeface="Calibri"/>
              <a:cs typeface="Calibri"/>
              <a:sym typeface="Calibri"/>
            </a:endParaRPr>
          </a:p>
        </p:txBody>
      </p:sp>
      <p:sp>
        <p:nvSpPr>
          <p:cNvPr id="434" name="Google Shape;434;p16"/>
          <p:cNvSpPr/>
          <p:nvPr/>
        </p:nvSpPr>
        <p:spPr>
          <a:xfrm>
            <a:off x="5669280" y="5605272"/>
            <a:ext cx="5623560" cy="731520"/>
          </a:xfrm>
          <a:prstGeom prst="rect">
            <a:avLst/>
          </a:prstGeom>
          <a:noFill/>
          <a:ln>
            <a:noFill/>
          </a:ln>
        </p:spPr>
        <p:txBody>
          <a:bodyPr anchorCtr="0" anchor="t" bIns="45700" lIns="91425" spcFirstLastPara="1" rIns="91425" wrap="square" tIns="45700">
            <a:noAutofit/>
          </a:bodyPr>
          <a:lstStyle/>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rgbClr val="46506B"/>
                </a:solidFill>
                <a:latin typeface="Noto Sans"/>
                <a:ea typeface="Noto Sans"/>
                <a:cs typeface="Noto Sans"/>
                <a:sym typeface="Noto Sans"/>
              </a:rPr>
              <a:t>이동 입력 감지 시 자동 플레이 종료</a:t>
            </a:r>
            <a:endParaRPr sz="1200">
              <a:solidFill>
                <a:srgbClr val="46506B"/>
              </a:solidFill>
              <a:latin typeface="Noto Sans"/>
              <a:ea typeface="Noto Sans"/>
              <a:cs typeface="Noto Sans"/>
              <a:sym typeface="Noto Sans"/>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rgbClr val="46506B"/>
                </a:solidFill>
                <a:latin typeface="Noto Sans"/>
                <a:ea typeface="Noto Sans"/>
                <a:cs typeface="Noto Sans"/>
                <a:sym typeface="Noto Sans"/>
              </a:rPr>
              <a:t>즉시 수동 조작으로 전환</a:t>
            </a:r>
            <a:endParaRPr sz="1200">
              <a:solidFill>
                <a:srgbClr val="46506B"/>
              </a:solidFill>
              <a:latin typeface="Noto Sans"/>
              <a:ea typeface="Noto Sans"/>
              <a:cs typeface="Noto Sans"/>
              <a:sym typeface="Noto Sans"/>
            </a:endParaRPr>
          </a:p>
          <a:p>
            <a:pPr indent="0" lvl="0" marL="0" rtl="0" algn="l">
              <a:lnSpc>
                <a:spcPct val="128000"/>
              </a:lnSpc>
              <a:spcBef>
                <a:spcPts val="0"/>
              </a:spcBef>
              <a:spcAft>
                <a:spcPts val="0"/>
              </a:spcAft>
              <a:buClr>
                <a:schemeClr val="dk1"/>
              </a:buClr>
              <a:buSzPts val="1100"/>
              <a:buFont typeface="Arial"/>
              <a:buNone/>
            </a:pPr>
            <a:r>
              <a:rPr lang="en-US" sz="1200">
                <a:solidFill>
                  <a:schemeClr val="dk1"/>
                </a:solidFill>
              </a:rPr>
              <a:t>   ●   </a:t>
            </a:r>
            <a:r>
              <a:rPr lang="en-US" sz="1200">
                <a:solidFill>
                  <a:srgbClr val="46506B"/>
                </a:solidFill>
                <a:latin typeface="Noto Sans"/>
                <a:ea typeface="Noto Sans"/>
                <a:cs typeface="Noto Sans"/>
                <a:sym typeface="Noto Sans"/>
              </a:rPr>
              <a:t>자동·수동 플레이의 자연스러운 연결</a:t>
            </a:r>
            <a:endParaRPr sz="1200">
              <a:solidFill>
                <a:srgbClr val="46506B"/>
              </a:solidFill>
              <a:latin typeface="Noto Sans"/>
              <a:ea typeface="Noto Sans"/>
              <a:cs typeface="Noto Sans"/>
              <a:sym typeface="Noto Sans"/>
            </a:endParaRPr>
          </a:p>
          <a:p>
            <a:pPr indent="0" lvl="0" marL="0" marR="0" rtl="0" algn="l">
              <a:lnSpc>
                <a:spcPct val="128000"/>
              </a:lnSpc>
              <a:spcBef>
                <a:spcPts val="0"/>
              </a:spcBef>
              <a:spcAft>
                <a:spcPts val="0"/>
              </a:spcAft>
              <a:buClr>
                <a:srgbClr val="46506B"/>
              </a:buClr>
              <a:buSzPts val="1100"/>
              <a:buFont typeface="Noto Sans"/>
              <a:buNone/>
            </a:pPr>
            <a:r>
              <a:t/>
            </a:r>
            <a:endParaRPr sz="1200">
              <a:solidFill>
                <a:srgbClr val="46506B"/>
              </a:solidFill>
              <a:latin typeface="Noto Sans"/>
              <a:ea typeface="Noto Sans"/>
              <a:cs typeface="Noto Sans"/>
              <a:sym typeface="Noto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633"/>
        </a:solidFill>
      </p:bgPr>
    </p:bg>
    <p:spTree>
      <p:nvGrpSpPr>
        <p:cNvPr id="439" name="Shape 439"/>
        <p:cNvGrpSpPr/>
        <p:nvPr/>
      </p:nvGrpSpPr>
      <p:grpSpPr>
        <a:xfrm>
          <a:off x="0" y="0"/>
          <a:ext cx="0" cy="0"/>
          <a:chOff x="0" y="0"/>
          <a:chExt cx="0" cy="0"/>
        </a:xfrm>
      </p:grpSpPr>
      <p:sp>
        <p:nvSpPr>
          <p:cNvPr id="440" name="Google Shape;440;p17"/>
          <p:cNvSpPr/>
          <p:nvPr/>
        </p:nvSpPr>
        <p:spPr>
          <a:xfrm>
            <a:off x="-1371600" y="3931920"/>
            <a:ext cx="4572000" cy="4572000"/>
          </a:xfrm>
          <a:prstGeom prst="ellipse">
            <a:avLst/>
          </a:prstGeom>
          <a:noFill/>
          <a:ln cap="flat" cmpd="sng" w="19050">
            <a:solidFill>
              <a:srgbClr val="22306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7"/>
          <p:cNvSpPr/>
          <p:nvPr/>
        </p:nvSpPr>
        <p:spPr>
          <a:xfrm>
            <a:off x="822960" y="137160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B740"/>
              </a:buClr>
              <a:buSzPts val="1200"/>
              <a:buFont typeface="Noto Sans"/>
              <a:buNone/>
            </a:pPr>
            <a:r>
              <a:rPr b="1" i="0" lang="en-US" sz="1200" u="none" cap="none" strike="noStrike">
                <a:solidFill>
                  <a:srgbClr val="F4B740"/>
                </a:solidFill>
                <a:latin typeface="Noto Sans"/>
                <a:ea typeface="Noto Sans"/>
                <a:cs typeface="Noto Sans"/>
                <a:sym typeface="Noto Sans"/>
              </a:rPr>
              <a:t>CLOSING</a:t>
            </a:r>
            <a:endParaRPr b="0" i="0" sz="1200" u="none" cap="none" strike="noStrike">
              <a:solidFill>
                <a:schemeClr val="dk1"/>
              </a:solidFill>
              <a:latin typeface="Calibri"/>
              <a:ea typeface="Calibri"/>
              <a:cs typeface="Calibri"/>
              <a:sym typeface="Calibri"/>
            </a:endParaRPr>
          </a:p>
        </p:txBody>
      </p:sp>
      <p:sp>
        <p:nvSpPr>
          <p:cNvPr id="442" name="Google Shape;442;p17"/>
          <p:cNvSpPr/>
          <p:nvPr/>
        </p:nvSpPr>
        <p:spPr>
          <a:xfrm>
            <a:off x="777240" y="1783080"/>
            <a:ext cx="73152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400"/>
              <a:buFont typeface="Noto Sans"/>
              <a:buNone/>
            </a:pPr>
            <a:r>
              <a:rPr b="1" i="0" lang="en-US" sz="4400" u="none" cap="none" strike="noStrike">
                <a:solidFill>
                  <a:srgbClr val="FFFFFF"/>
                </a:solidFill>
                <a:latin typeface="Noto Sans"/>
                <a:ea typeface="Noto Sans"/>
                <a:cs typeface="Noto Sans"/>
                <a:sym typeface="Noto Sans"/>
              </a:rPr>
              <a:t>마무리</a:t>
            </a:r>
            <a:endParaRPr b="0" i="0" sz="4400" u="none" cap="none" strike="noStrike">
              <a:solidFill>
                <a:schemeClr val="dk1"/>
              </a:solidFill>
              <a:latin typeface="Calibri"/>
              <a:ea typeface="Calibri"/>
              <a:cs typeface="Calibri"/>
              <a:sym typeface="Calibri"/>
            </a:endParaRPr>
          </a:p>
        </p:txBody>
      </p:sp>
      <p:sp>
        <p:nvSpPr>
          <p:cNvPr id="443" name="Google Shape;443;p17"/>
          <p:cNvSpPr/>
          <p:nvPr/>
        </p:nvSpPr>
        <p:spPr>
          <a:xfrm>
            <a:off x="822960" y="2971800"/>
            <a:ext cx="10515600" cy="2286000"/>
          </a:xfrm>
          <a:prstGeom prst="roundRect">
            <a:avLst>
              <a:gd fmla="val 4000" name="adj"/>
            </a:avLst>
          </a:prstGeom>
          <a:solidFill>
            <a:srgbClr val="182347"/>
          </a:solidFill>
          <a:ln cap="flat" cmpd="sng" w="12700">
            <a:solidFill>
              <a:srgbClr val="F4B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7"/>
          <p:cNvSpPr/>
          <p:nvPr/>
        </p:nvSpPr>
        <p:spPr>
          <a:xfrm>
            <a:off x="822960" y="2971800"/>
            <a:ext cx="109728" cy="2286000"/>
          </a:xfrm>
          <a:prstGeom prst="roundRect">
            <a:avLst>
              <a:gd fmla="val 33333" name="adj"/>
            </a:avLst>
          </a:prstGeom>
          <a:solidFill>
            <a:srgbClr val="F4B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7"/>
          <p:cNvSpPr/>
          <p:nvPr/>
        </p:nvSpPr>
        <p:spPr>
          <a:xfrm>
            <a:off x="1234440" y="3291840"/>
            <a:ext cx="9738360" cy="169164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C7D2F0"/>
              </a:buClr>
              <a:buSzPts val="1650"/>
              <a:buFont typeface="Noto Sans"/>
              <a:buNone/>
            </a:pPr>
            <a:r>
              <a:rPr lang="en-US" sz="1650">
                <a:solidFill>
                  <a:srgbClr val="C7D2F0"/>
                </a:solidFill>
                <a:latin typeface="Noto Sans"/>
                <a:ea typeface="Noto Sans"/>
                <a:cs typeface="Noto Sans"/>
                <a:sym typeface="Noto Sans"/>
              </a:rPr>
              <a:t>이번 프로젝트에서는 기능 구현뿐만 아니라 유지보수성과 확장성, 안정성을 함께 고려하며 개발했습니다. 기존 코드를 수정하지 않고 기능을 확장하는 구조를 적용하고, 실제 플레이에서 발생할 수 있는 예외 상황도 미리 방어하여 안정적인 시스템을 구성했습니다. </a:t>
            </a:r>
            <a:endParaRPr b="0" i="0" sz="1650" u="none" cap="none" strike="noStrike">
              <a:solidFill>
                <a:schemeClr val="dk1"/>
              </a:solidFill>
              <a:latin typeface="Calibri"/>
              <a:ea typeface="Calibri"/>
              <a:cs typeface="Calibri"/>
              <a:sym typeface="Calibri"/>
            </a:endParaRPr>
          </a:p>
        </p:txBody>
      </p:sp>
      <p:sp>
        <p:nvSpPr>
          <p:cNvPr id="446" name="Google Shape;446;p17"/>
          <p:cNvSpPr/>
          <p:nvPr/>
        </p:nvSpPr>
        <p:spPr>
          <a:xfrm>
            <a:off x="822960" y="576072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안건준</a:t>
            </a:r>
            <a:r>
              <a:rPr b="0" i="0" lang="en-US" sz="1300" u="none" cap="none" strike="noStrike">
                <a:solidFill>
                  <a:srgbClr val="C7D2F0"/>
                </a:solidFill>
                <a:latin typeface="Noto Sans"/>
                <a:ea typeface="Noto Sans"/>
                <a:cs typeface="Noto Sans"/>
                <a:sym typeface="Noto Sans"/>
              </a:rPr>
              <a:t>  ·  웜나이트(WormNight) 팀 프로젝트</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